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8"/>
  </p:notesMasterIdLst>
  <p:sldIdLst>
    <p:sldId id="258" r:id="rId2"/>
    <p:sldId id="271" r:id="rId3"/>
    <p:sldId id="297" r:id="rId4"/>
    <p:sldId id="299" r:id="rId5"/>
    <p:sldId id="331" r:id="rId6"/>
    <p:sldId id="332" r:id="rId7"/>
    <p:sldId id="298" r:id="rId8"/>
    <p:sldId id="300" r:id="rId9"/>
    <p:sldId id="301" r:id="rId10"/>
    <p:sldId id="302" r:id="rId11"/>
    <p:sldId id="303" r:id="rId12"/>
    <p:sldId id="304" r:id="rId13"/>
    <p:sldId id="305" r:id="rId14"/>
    <p:sldId id="329" r:id="rId15"/>
    <p:sldId id="307" r:id="rId16"/>
    <p:sldId id="310" r:id="rId17"/>
    <p:sldId id="311" r:id="rId18"/>
    <p:sldId id="309" r:id="rId19"/>
    <p:sldId id="312" r:id="rId20"/>
    <p:sldId id="313" r:id="rId21"/>
    <p:sldId id="314" r:id="rId22"/>
    <p:sldId id="315" r:id="rId23"/>
    <p:sldId id="318" r:id="rId24"/>
    <p:sldId id="330" r:id="rId25"/>
    <p:sldId id="317" r:id="rId26"/>
    <p:sldId id="319" r:id="rId27"/>
    <p:sldId id="326" r:id="rId28"/>
    <p:sldId id="327" r:id="rId29"/>
    <p:sldId id="325" r:id="rId30"/>
    <p:sldId id="328" r:id="rId31"/>
    <p:sldId id="333" r:id="rId32"/>
    <p:sldId id="320" r:id="rId33"/>
    <p:sldId id="322" r:id="rId34"/>
    <p:sldId id="321" r:id="rId35"/>
    <p:sldId id="323" r:id="rId36"/>
    <p:sldId id="324" r:id="rId37"/>
  </p:sldIdLst>
  <p:sldSz cx="12192000" cy="6858000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FFCC"/>
    <a:srgbClr val="EAEBEC"/>
    <a:srgbClr val="E0F8E0"/>
    <a:srgbClr val="CCFF99"/>
    <a:srgbClr val="92278F"/>
    <a:srgbClr val="E3DFF7"/>
    <a:srgbClr val="EAE5EB"/>
    <a:srgbClr val="DEE6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6047" autoAdjust="0"/>
    <p:restoredTop sz="94660"/>
  </p:normalViewPr>
  <p:slideViewPr>
    <p:cSldViewPr snapToGrid="0">
      <p:cViewPr varScale="1">
        <p:scale>
          <a:sx n="53" d="100"/>
          <a:sy n="53" d="100"/>
        </p:scale>
        <p:origin x="22" y="51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7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B7D6DDD3-D7E9-488B-B626-1E8285E424D8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77875" y="1200150"/>
            <a:ext cx="5759450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61" tIns="48331" rIns="96661" bIns="48331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0" y="4620577"/>
            <a:ext cx="5852160" cy="3780473"/>
          </a:xfrm>
          <a:prstGeom prst="rect">
            <a:avLst/>
          </a:prstGeom>
        </p:spPr>
        <p:txBody>
          <a:bodyPr vert="horz" lIns="96661" tIns="48331" rIns="96661" bIns="48331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7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65CF6084-2C3C-4FE7-B181-D16A342905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4252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 userDrawn="1"/>
        </p:nvSpPr>
        <p:spPr>
          <a:xfrm>
            <a:off x="0" y="6171231"/>
            <a:ext cx="12192000" cy="697337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/>
          </a:p>
        </p:txBody>
      </p:sp>
      <p:sp>
        <p:nvSpPr>
          <p:cNvPr id="17" name="Rectangle 16"/>
          <p:cNvSpPr/>
          <p:nvPr userDrawn="1"/>
        </p:nvSpPr>
        <p:spPr>
          <a:xfrm>
            <a:off x="15" y="6094179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164" y="6292310"/>
            <a:ext cx="2113225" cy="334949"/>
          </a:xfrm>
          <a:prstGeom prst="rect">
            <a:avLst/>
          </a:prstGeom>
        </p:spPr>
      </p:pic>
      <p:pic>
        <p:nvPicPr>
          <p:cNvPr id="15" name="Picture 14" descr="final-logo-3.eps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270691"/>
            <a:ext cx="1117381" cy="817404"/>
          </a:xfrm>
          <a:prstGeom prst="rect">
            <a:avLst/>
          </a:prstGeom>
        </p:spPr>
      </p:pic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 marL="91440" indent="-91440">
              <a:buSzPct val="100000"/>
              <a:buFont typeface="Wingdings" panose="05000000000000000000" pitchFamily="2" charset="2"/>
              <a:buChar char="q"/>
              <a:defRPr/>
            </a:lvl1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 userDrawn="1"/>
        </p:nvSpPr>
        <p:spPr>
          <a:xfrm>
            <a:off x="0" y="6339080"/>
            <a:ext cx="12192000" cy="5189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 dirty="0"/>
          </a:p>
        </p:txBody>
      </p:sp>
      <p:sp>
        <p:nvSpPr>
          <p:cNvPr id="11" name="Rectangle 10"/>
          <p:cNvSpPr/>
          <p:nvPr userDrawn="1"/>
        </p:nvSpPr>
        <p:spPr>
          <a:xfrm>
            <a:off x="15" y="627259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7" name="Picture 16" descr="final-logo-3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379551"/>
            <a:ext cx="1117381" cy="817404"/>
          </a:xfrm>
          <a:prstGeom prst="rect">
            <a:avLst/>
          </a:prstGeom>
        </p:spPr>
      </p:pic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045" y="6405564"/>
            <a:ext cx="2113225" cy="334949"/>
          </a:xfrm>
          <a:prstGeom prst="rect">
            <a:avLst/>
          </a:prstGeom>
        </p:spPr>
      </p:pic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0545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060198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477911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214193"/>
            <a:ext cx="4937760" cy="3378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477911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214193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0" y="6339080"/>
            <a:ext cx="12192000" cy="5189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/>
          </a:p>
        </p:txBody>
      </p:sp>
      <p:sp>
        <p:nvSpPr>
          <p:cNvPr id="11" name="Rectangle 10"/>
          <p:cNvSpPr/>
          <p:nvPr userDrawn="1"/>
        </p:nvSpPr>
        <p:spPr>
          <a:xfrm>
            <a:off x="15" y="627259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832682" y="6508672"/>
            <a:ext cx="984019" cy="273844"/>
          </a:xfrm>
          <a:prstGeom prst="rect">
            <a:avLst/>
          </a:prstGeom>
        </p:spPr>
        <p:txBody>
          <a:bodyPr vert="horz" lIns="68567" tIns="34289" rIns="68567" bIns="34289" rtlCol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507" y="6405564"/>
            <a:ext cx="2113225" cy="334949"/>
          </a:xfrm>
          <a:prstGeom prst="rect">
            <a:avLst/>
          </a:prstGeom>
        </p:spPr>
      </p:pic>
      <p:pic>
        <p:nvPicPr>
          <p:cNvPr id="16" name="Picture 15" descr="final-logo-3.eps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42543" y="6446621"/>
            <a:ext cx="923615" cy="67565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  <a:prstGeom prst="rect">
            <a:avLst/>
          </a:prstGeo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6160663"/>
            <a:ext cx="12192000" cy="697337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 dirty="0"/>
          </a:p>
        </p:txBody>
      </p:sp>
      <p:sp>
        <p:nvSpPr>
          <p:cNvPr id="9" name="Rectangle 8"/>
          <p:cNvSpPr/>
          <p:nvPr/>
        </p:nvSpPr>
        <p:spPr>
          <a:xfrm>
            <a:off x="15" y="6094179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04021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539277"/>
            <a:ext cx="10058400" cy="432981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1097280" y="14330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307" y="6307398"/>
            <a:ext cx="2113225" cy="334949"/>
          </a:xfrm>
          <a:prstGeom prst="rect">
            <a:avLst/>
          </a:prstGeom>
        </p:spPr>
      </p:pic>
      <p:pic>
        <p:nvPicPr>
          <p:cNvPr id="15" name="Picture 14" descr="final-logo-3.eps"/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270691"/>
            <a:ext cx="1117381" cy="817404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medium.com/data-science/a-complete-beginners-guide-to-matrix-multiplication-for-data-science-with-python-numpy-9274ecfc1dc6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7.png"/><Relationship Id="rId7" Type="http://schemas.openxmlformats.org/officeDocument/2006/relationships/image" Target="../media/image20.png"/><Relationship Id="rId12" Type="http://schemas.openxmlformats.org/officeDocument/2006/relationships/image" Target="../media/image25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70.png"/><Relationship Id="rId9" Type="http://schemas.openxmlformats.org/officeDocument/2006/relationships/image" Target="../media/image2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0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0.png"/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0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6600" dirty="0"/>
              <a:t>Unit 10 </a:t>
            </a:r>
            <a:br>
              <a:rPr lang="en-US" sz="6600" dirty="0"/>
            </a:br>
            <a:r>
              <a:rPr lang="en-US" sz="6600" dirty="0"/>
              <a:t>Arrays and Matrix Multiplications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EL-GY 9463:  Introduction to Hardware Design</a:t>
            </a:r>
          </a:p>
          <a:p>
            <a:r>
              <a:rPr lang="en-US"/>
              <a:t>ProfS. Sundeep Rangan, Siddharth Garg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42935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Estimate compute and memory operations for basic matrix operations</a:t>
            </a:r>
          </a:p>
          <a:p>
            <a:pPr lvl="1"/>
            <a:r>
              <a:rPr lang="en-US" dirty="0"/>
              <a:t>Determine which operations are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compute</a:t>
            </a:r>
            <a:r>
              <a:rPr lang="en-US" dirty="0"/>
              <a:t> or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data-limited</a:t>
            </a:r>
          </a:p>
          <a:p>
            <a:r>
              <a:rPr lang="en-US" dirty="0"/>
              <a:t>Describe how to store and address matrices in sequential memory</a:t>
            </a:r>
          </a:p>
          <a:p>
            <a:pPr lvl="1"/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Row-major</a:t>
            </a:r>
            <a:r>
              <a:rPr lang="en-US" dirty="0"/>
              <a:t> and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column-major</a:t>
            </a:r>
          </a:p>
          <a:p>
            <a:r>
              <a:rPr lang="en-US" dirty="0"/>
              <a:t>Implement simple baseline multiplication with loop unrolling</a:t>
            </a:r>
          </a:p>
          <a:p>
            <a:pPr lvl="1"/>
            <a:r>
              <a:rPr lang="en-US" dirty="0"/>
              <a:t>Implement using Vitis pragmas</a:t>
            </a:r>
          </a:p>
          <a:p>
            <a:pPr lvl="1"/>
            <a:r>
              <a:rPr lang="en-US" dirty="0"/>
              <a:t>Estimate cost</a:t>
            </a:r>
          </a:p>
          <a:p>
            <a:r>
              <a:rPr lang="en-US" dirty="0"/>
              <a:t>Recognize high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fanout</a:t>
            </a:r>
            <a:r>
              <a:rPr lang="en-US" dirty="0"/>
              <a:t> computations</a:t>
            </a:r>
          </a:p>
          <a:p>
            <a:r>
              <a:rPr lang="en-US" dirty="0"/>
              <a:t>Implement and describe cycle-to-cycle behavior of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systolic arrays</a:t>
            </a:r>
          </a:p>
          <a:p>
            <a:r>
              <a:rPr lang="en-US" dirty="0"/>
              <a:t>Implement and estimate timing for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tiled</a:t>
            </a:r>
            <a:r>
              <a:rPr lang="en-US" dirty="0"/>
              <a:t> matrix multiplication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85531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EFFF6B-8453-395D-C9DF-D39D49D3F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A98C3-C147-9B33-689D-5A5D264C65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28E2E2-EBC5-C8DE-A7D7-0B0A405420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Matrix Multiplications</a:t>
            </a:r>
          </a:p>
          <a:p>
            <a:r>
              <a:rPr lang="en-US" sz="2400" dirty="0"/>
              <a:t>Hardware Implementation via Broadcast</a:t>
            </a:r>
          </a:p>
          <a:p>
            <a:r>
              <a:rPr lang="en-US" sz="2400" dirty="0"/>
              <a:t>Systolic Arrays</a:t>
            </a:r>
          </a:p>
          <a:p>
            <a:r>
              <a:rPr lang="en-US" sz="2400" dirty="0"/>
              <a:t>Tiling for Large Matrices</a:t>
            </a:r>
          </a:p>
          <a:p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D21FED-E321-4749-8167-3B80892DB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E9FC670A-2850-C4F8-F818-E68FBC3C0972}"/>
              </a:ext>
            </a:extLst>
          </p:cNvPr>
          <p:cNvSpPr/>
          <p:nvPr/>
        </p:nvSpPr>
        <p:spPr>
          <a:xfrm>
            <a:off x="411472" y="1475738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8098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F3AEB8-3822-0452-9257-EFD3D2BE0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Matrix?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0C4416-3A7A-6156-107B-D391D29663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array of numbers</a:t>
            </a:r>
          </a:p>
          <a:p>
            <a:r>
              <a:rPr lang="en-US" dirty="0"/>
              <a:t>Rows x columns</a:t>
            </a:r>
          </a:p>
          <a:p>
            <a:r>
              <a:rPr lang="en-US" dirty="0"/>
              <a:t>Many applications</a:t>
            </a:r>
          </a:p>
          <a:p>
            <a:r>
              <a:rPr lang="en-US" dirty="0"/>
              <a:t>Data matrix</a:t>
            </a:r>
          </a:p>
          <a:p>
            <a:pPr lvl="1"/>
            <a:r>
              <a:rPr lang="en-US" dirty="0"/>
              <a:t>Ex:  Each row is a set of values of a sample</a:t>
            </a:r>
          </a:p>
          <a:p>
            <a:r>
              <a:rPr lang="en-US" dirty="0"/>
              <a:t>Image</a:t>
            </a:r>
          </a:p>
          <a:p>
            <a:pPr lvl="1"/>
            <a:r>
              <a:rPr lang="en-US" dirty="0"/>
              <a:t>Each entry is a pixel</a:t>
            </a:r>
          </a:p>
          <a:p>
            <a:r>
              <a:rPr lang="en-US" dirty="0"/>
              <a:t>Time series</a:t>
            </a:r>
          </a:p>
          <a:p>
            <a:pPr lvl="1"/>
            <a:r>
              <a:rPr lang="en-US" dirty="0"/>
              <a:t>Each row is a time step</a:t>
            </a:r>
          </a:p>
          <a:p>
            <a:pPr lvl="1"/>
            <a:r>
              <a:rPr lang="en-US" dirty="0"/>
              <a:t>Each column is some attribute that changes over time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F20A16-8A38-0343-F5B6-D0CF6F43BE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</a:t>
            </a:fld>
            <a:endParaRPr lang="en-US" dirty="0"/>
          </a:p>
        </p:txBody>
      </p:sp>
      <p:pic>
        <p:nvPicPr>
          <p:cNvPr id="2050" name="Picture 2" descr="order of matrix">
            <a:extLst>
              <a:ext uri="{FF2B5EF4-FFF2-40B4-BE49-F238E27FC236}">
                <a16:creationId xmlns:a16="http://schemas.microsoft.com/office/drawing/2014/main" id="{1D35B91E-0900-D9C7-8C79-2248FB70B8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32293" y="2038351"/>
            <a:ext cx="5130933" cy="30921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765800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6C156C-63C2-A3F4-4D27-5D4D93915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Matrix Addition and Subtraction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17CF4E3-69F6-66AB-E2BF-BAB81F5FC0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5212080" cy="4329817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must be the same size</a:t>
                </a:r>
              </a:p>
              <a:p>
                <a:pPr lvl="1"/>
                <a:r>
                  <a:rPr lang="en-US" dirty="0"/>
                  <a:t>Can be rectangular</a:t>
                </a:r>
              </a:p>
              <a:p>
                <a:r>
                  <a:rPr lang="en-US" dirty="0"/>
                  <a:t>Simply add elements: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17CF4E3-69F6-66AB-E2BF-BAB81F5FC0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5212080" cy="4329817"/>
              </a:xfrm>
              <a:blipFill>
                <a:blip r:embed="rId2"/>
                <a:stretch>
                  <a:fillRect l="-2807" t="-12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F9A16E-01DF-C6EA-4067-DF2DDBBFC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5</a:t>
            </a:fld>
            <a:endParaRPr lang="en-US" dirty="0"/>
          </a:p>
        </p:txBody>
      </p:sp>
      <p:pic>
        <p:nvPicPr>
          <p:cNvPr id="1026" name="Picture 2" descr="Matrix addition &amp; subtraction (article) | Khan Academy">
            <a:extLst>
              <a:ext uri="{FF2B5EF4-FFF2-40B4-BE49-F238E27FC236}">
                <a16:creationId xmlns:a16="http://schemas.microsoft.com/office/drawing/2014/main" id="{84E2FB9D-BA55-5599-6C0B-8EF1E99D69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7920" y="1077341"/>
            <a:ext cx="4876800" cy="274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235B497-82A3-751C-EDEB-B639A675F6C8}"/>
              </a:ext>
            </a:extLst>
          </p:cNvPr>
          <p:cNvSpPr txBox="1"/>
          <p:nvPr/>
        </p:nvSpPr>
        <p:spPr>
          <a:xfrm>
            <a:off x="6226515" y="3002280"/>
            <a:ext cx="44323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From Khan Academy.</a:t>
            </a:r>
            <a:br>
              <a:rPr lang="en-US" dirty="0"/>
            </a:br>
            <a:r>
              <a:rPr lang="en-US" dirty="0"/>
              <a:t>Excellent review of matrix math if you need it</a:t>
            </a:r>
          </a:p>
        </p:txBody>
      </p:sp>
    </p:spTree>
    <p:extLst>
      <p:ext uri="{BB962C8B-B14F-4D97-AF65-F5344CB8AC3E}">
        <p14:creationId xmlns:p14="http://schemas.microsoft.com/office/powerpoint/2010/main" val="29459241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B2750D-3AE1-410E-D8C1-88F7AA5D4D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Matrix Addition Complexity	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EB369B5-8D49-CA8A-2567-3B45C0140B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6098102" cy="4329817"/>
              </a:xfrm>
            </p:spPr>
            <p:txBody>
              <a:bodyPr/>
              <a:lstStyle/>
              <a:p>
                <a:r>
                  <a:rPr lang="en-US" dirty="0"/>
                  <a:t>Suppose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/>
                  <a:t>Reading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: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𝑀𝑁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den>
                    </m:f>
                  </m:oMath>
                </a14:m>
                <a:r>
                  <a:rPr lang="en-US" dirty="0"/>
                  <a:t> each matrix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elements per interface word</a:t>
                </a:r>
              </a:p>
              <a:p>
                <a:r>
                  <a:rPr lang="en-US" dirty="0"/>
                  <a:t>Computation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𝑀𝑁</m:t>
                    </m:r>
                  </m:oMath>
                </a14:m>
                <a:r>
                  <a:rPr lang="en-US" dirty="0"/>
                  <a:t> multiplications</a:t>
                </a:r>
              </a:p>
              <a:p>
                <a:r>
                  <a:rPr lang="en-US" dirty="0"/>
                  <a:t>Writing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𝑀𝑁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Complexity dominated by reading and writing</a:t>
                </a:r>
              </a:p>
              <a:p>
                <a:pPr lvl="1"/>
                <a:r>
                  <a:rPr lang="en-US" dirty="0"/>
                  <a:t>Called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data-limited</a:t>
                </a:r>
              </a:p>
              <a:p>
                <a:pPr lvl="1"/>
                <a:r>
                  <a:rPr lang="en-US" dirty="0"/>
                  <a:t>Not compute limited</a:t>
                </a:r>
              </a:p>
              <a:p>
                <a:r>
                  <a:rPr lang="en-US" dirty="0"/>
                  <a:t>Parallelizing additions does not help significantly</a:t>
                </a:r>
              </a:p>
              <a:p>
                <a:pPr lvl="1"/>
                <a:r>
                  <a:rPr lang="en-US" dirty="0"/>
                  <a:t>Unless matrices are already loaded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EB369B5-8D49-CA8A-2567-3B45C0140B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6098102" cy="4329817"/>
              </a:xfrm>
              <a:blipFill>
                <a:blip r:embed="rId2"/>
                <a:stretch>
                  <a:fillRect l="-2400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C62403-7A2D-BB89-FD4D-2BF500910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6</a:t>
            </a:fld>
            <a:endParaRPr lang="en-US" dirty="0"/>
          </a:p>
        </p:txBody>
      </p:sp>
      <p:pic>
        <p:nvPicPr>
          <p:cNvPr id="2050" name="Picture 2" descr="Matrix addition: how to add two matrices - Andrea Minini">
            <a:extLst>
              <a:ext uri="{FF2B5EF4-FFF2-40B4-BE49-F238E27FC236}">
                <a16:creationId xmlns:a16="http://schemas.microsoft.com/office/drawing/2014/main" id="{23B26851-61A0-E746-2B28-4916BC5529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2445" y="1899285"/>
            <a:ext cx="3333750" cy="2190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811121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DEA5D7-6DF9-747A-8EF3-C2959B987E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Matrix Multiplication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039EE7-8783-DCA8-ED6F-C1419B0912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Basic operation in range of fields</a:t>
            </a:r>
          </a:p>
          <a:p>
            <a:r>
              <a:rPr lang="en-US" sz="2400" dirty="0"/>
              <a:t>Machine learning</a:t>
            </a:r>
          </a:p>
          <a:p>
            <a:r>
              <a:rPr lang="en-US" sz="2400" dirty="0"/>
              <a:t>Communications</a:t>
            </a:r>
          </a:p>
          <a:p>
            <a:r>
              <a:rPr lang="en-US" sz="2400" dirty="0"/>
              <a:t>Robotics</a:t>
            </a:r>
          </a:p>
          <a:p>
            <a:r>
              <a:rPr lang="en-US" sz="2400" dirty="0"/>
              <a:t>…</a:t>
            </a:r>
          </a:p>
          <a:p>
            <a:r>
              <a:rPr lang="en-US" sz="2400" dirty="0"/>
              <a:t>Virtually every mathematical field</a:t>
            </a:r>
            <a:endParaRPr lang="en-US" sz="2200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627767-D92D-A4CB-1D79-F6ADFDCA2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7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6C350B-1458-635E-E7B4-39775B29D3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7335" y="2012728"/>
            <a:ext cx="5021995" cy="2595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7881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F8B905-058F-590D-9377-1F7E0E8399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Multiplying Two Matrices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8DA93C-AFB3-498D-3550-3603C9E481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3736658" cy="4329817"/>
          </a:xfrm>
        </p:spPr>
        <p:txBody>
          <a:bodyPr/>
          <a:lstStyle/>
          <a:p>
            <a:r>
              <a:rPr lang="en-US" dirty="0"/>
              <a:t>From </a:t>
            </a:r>
            <a:r>
              <a:rPr lang="en-US" dirty="0">
                <a:hlinkClick r:id="rId2"/>
              </a:rPr>
              <a:t>excellent Medium post </a:t>
            </a:r>
            <a:endParaRPr lang="en-US" dirty="0"/>
          </a:p>
          <a:p>
            <a:pPr marL="0" indent="0">
              <a:buNone/>
            </a:pPr>
            <a:r>
              <a:rPr lang="en-US" b="1" dirty="0"/>
              <a:t>A Complete Beginners Guide to Matrix Multiplication for Data Science with Python </a:t>
            </a:r>
            <a:r>
              <a:rPr lang="en-US" b="1" dirty="0" err="1"/>
              <a:t>Numpy</a:t>
            </a:r>
            <a:endParaRPr lang="en-US" b="1" dirty="0"/>
          </a:p>
          <a:p>
            <a:pPr marL="0" indent="0">
              <a:buNone/>
            </a:pPr>
            <a:endParaRPr lang="en-US" b="1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D61F8A-D565-6449-2541-7E2AFED82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8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40BAE1-56DD-A2A5-C519-222D0C6279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4690" y="1363954"/>
            <a:ext cx="6624760" cy="4446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032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D50EC5-EADE-B5EF-06F7-6E6E7D6C19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Storing Matrices in Hardware Memory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C65964-9206-378F-7F52-6D2578DC4A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Typically stored in RAM </a:t>
                </a:r>
              </a:p>
              <a:p>
                <a:r>
                  <a:rPr lang="en-US" dirty="0"/>
                  <a:t>SRAM / BRAM for internal memory</a:t>
                </a:r>
              </a:p>
              <a:p>
                <a:pPr lvl="1"/>
                <a:r>
                  <a:rPr lang="en-US" dirty="0"/>
                  <a:t>Smaller matrices or portions of matrices</a:t>
                </a:r>
              </a:p>
              <a:p>
                <a:r>
                  <a:rPr lang="en-US" dirty="0"/>
                  <a:t>DRAM for external memory</a:t>
                </a:r>
              </a:p>
              <a:p>
                <a:pPr lvl="1"/>
                <a:r>
                  <a:rPr lang="en-US" dirty="0"/>
                  <a:t>Larger / complete memory</a:t>
                </a:r>
              </a:p>
              <a:p>
                <a:r>
                  <a:rPr lang="en-US" dirty="0"/>
                  <a:t>Often stored in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row-major order</a:t>
                </a:r>
              </a:p>
              <a:p>
                <a:pPr lvl="1"/>
                <a:r>
                  <a:rPr lang="en-US" dirty="0"/>
                  <a:t>Store first row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…,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[0,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−1]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Store second row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1,0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…,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…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C65964-9206-378F-7F52-6D2578DC4A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5CD4CB-A32C-3BAD-2B2C-0F691BA86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9</a:t>
            </a:fld>
            <a:endParaRPr lang="en-US" dirty="0"/>
          </a:p>
        </p:txBody>
      </p:sp>
      <p:pic>
        <p:nvPicPr>
          <p:cNvPr id="3074" name="Picture 2" descr="Column-major vs row-major arrays: Does ...">
            <a:extLst>
              <a:ext uri="{FF2B5EF4-FFF2-40B4-BE49-F238E27FC236}">
                <a16:creationId xmlns:a16="http://schemas.microsoft.com/office/drawing/2014/main" id="{D0302F5D-7AED-79EA-D9B3-61508B581D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26480" y="2085753"/>
            <a:ext cx="5317250" cy="30435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85312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DF154-45F1-E5F3-AAE6-8D955448E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B68D7-D903-8567-8995-8A19DDE5F4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Row-Major Order in Memory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DEF819-59FF-26D6-61E5-A00EAEDAD57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Suppose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b="0" dirty="0"/>
                  <a:t> is stored in row-major order</a:t>
                </a:r>
              </a:p>
              <a:p>
                <a:r>
                  <a:rPr lang="en-US" dirty="0"/>
                  <a:t>Consider neighboring elements in the same row</a:t>
                </a:r>
              </a:p>
              <a:p>
                <a:pPr lvl="1"/>
                <a:r>
                  <a:rPr lang="en-US" b="0" dirty="0"/>
                  <a:t>Eg.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,…,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−1]</m:t>
                    </m:r>
                  </m:oMath>
                </a14:m>
                <a:r>
                  <a:rPr lang="en-US" b="0" dirty="0"/>
                  <a:t> </a:t>
                </a:r>
              </a:p>
              <a:p>
                <a:r>
                  <a:rPr lang="en-US" b="0" dirty="0"/>
                  <a:t>These elements are </a:t>
                </a:r>
                <a:r>
                  <a:rPr lang="en-US" b="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contiguous</a:t>
                </a:r>
              </a:p>
              <a:p>
                <a:r>
                  <a:rPr lang="en-US" b="0" dirty="0"/>
                  <a:t>If you have a wide memory bit width</a:t>
                </a:r>
              </a:p>
              <a:p>
                <a:pPr lvl="1"/>
                <a:r>
                  <a:rPr lang="en-US" dirty="0"/>
                  <a:t>Can access neighboring elements in the same column</a:t>
                </a:r>
              </a:p>
              <a:p>
                <a:pPr lvl="1"/>
                <a:r>
                  <a:rPr lang="en-US" b="0" dirty="0"/>
                  <a:t>But cannot access elements in neighboring rows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DEF819-59FF-26D6-61E5-A00EAEDAD5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1F1DF5-21CD-87F4-7E9B-9F384775D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10</a:t>
            </a:fld>
            <a:endParaRPr lang="en-US" dirty="0"/>
          </a:p>
        </p:txBody>
      </p:sp>
      <p:pic>
        <p:nvPicPr>
          <p:cNvPr id="3074" name="Picture 2" descr="Column-major vs row-major arrays: Does ...">
            <a:extLst>
              <a:ext uri="{FF2B5EF4-FFF2-40B4-BE49-F238E27FC236}">
                <a16:creationId xmlns:a16="http://schemas.microsoft.com/office/drawing/2014/main" id="{9970F11E-7C5D-502B-A17F-D5520593B3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88169" y="2275179"/>
            <a:ext cx="5317250" cy="30435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72491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856342-E760-5E04-E3E7-1ABBB171E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Matrix Multiplication Complexity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5F6F0F6-3DC7-DE79-4053-AAE318B589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5532120" cy="4329817"/>
              </a:xfrm>
            </p:spPr>
            <p:txBody>
              <a:bodyPr/>
              <a:lstStyle/>
              <a:p>
                <a:r>
                  <a:rPr lang="en-US" sz="2400" dirty="0"/>
                  <a:t>Matrix multiplication formula:</a:t>
                </a:r>
                <a:br>
                  <a:rPr lang="en-US" sz="2400" dirty="0"/>
                </a:br>
                <a:br>
                  <a:rPr lang="en-US" sz="2400" dirty="0"/>
                </a:b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begChr m:val="["/>
                        <m:endChr m:val="]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e>
                    </m:nary>
                  </m:oMath>
                </a14:m>
                <a:endParaRPr lang="en-US" sz="2400" dirty="0"/>
              </a:p>
              <a:p>
                <a:endParaRPr lang="en-US" sz="2400" dirty="0"/>
              </a:p>
              <a:p>
                <a:r>
                  <a:rPr lang="en-US" sz="2400" dirty="0"/>
                  <a:t>Need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𝑀𝑁𝐾</m:t>
                    </m:r>
                  </m:oMath>
                </a14:m>
                <a:r>
                  <a:rPr lang="en-US" sz="2400" dirty="0"/>
                  <a:t> MAC operations</a:t>
                </a:r>
              </a:p>
              <a:p>
                <a:pPr lvl="1"/>
                <a:r>
                  <a:rPr lang="en-US" sz="2200" dirty="0"/>
                  <a:t>MAC = multiply and accumulate</a:t>
                </a:r>
              </a:p>
              <a:p>
                <a:r>
                  <a:rPr lang="en-US" sz="2400" dirty="0"/>
                  <a:t>Complexity grows quickly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5F6F0F6-3DC7-DE79-4053-AAE318B589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5532120" cy="4329817"/>
              </a:xfrm>
              <a:blipFill>
                <a:blip r:embed="rId2"/>
                <a:stretch>
                  <a:fillRect l="-3084" t="-19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95C1E4-A6C6-2E7E-86F0-DC3F97A2A5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11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9F87B2D-FDA4-2E3C-164F-637E2B1587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5010" y="2270501"/>
            <a:ext cx="4537343" cy="23454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88197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CD5E9-62E7-0864-6C0C-D668F7B570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Multiplication Memory Accesses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BE4917-1E00-A384-EB45-704B7DC4E76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Read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𝐾𝑀</m:t>
                    </m:r>
                  </m:oMath>
                </a14:m>
                <a:r>
                  <a:rPr lang="en-US" dirty="0"/>
                  <a:t> reads</a:t>
                </a:r>
              </a:p>
              <a:p>
                <a:r>
                  <a:rPr lang="en-US" dirty="0"/>
                  <a:t>Write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𝑁𝑀</m:t>
                    </m:r>
                  </m:oMath>
                </a14:m>
                <a:r>
                  <a:rPr lang="en-US" dirty="0"/>
                  <a:t> writes</a:t>
                </a:r>
              </a:p>
              <a:p>
                <a:r>
                  <a:rPr lang="en-US" dirty="0"/>
                  <a:t>Can read / write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dirty="0"/>
                  <a:t> words per cycle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memory bit width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word bit width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Typically compute dominates</a:t>
                </a:r>
              </a:p>
              <a:p>
                <a:r>
                  <a:rPr lang="en-US" dirty="0"/>
                  <a:t>Thus matrix multiplication needs efficient compute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BE4917-1E00-A384-EB45-704B7DC4E76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5A22C4-FB9A-A389-3A57-416328DF0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12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BF3AB5D-539B-FE38-ED82-BC8C312104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5010" y="2270501"/>
            <a:ext cx="4537343" cy="23454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30704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9D194-BF0E-A38E-7C94-C8D768A279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Problem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933411-3799-76E6-C73F-50A28EBE1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13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C44AFC3-D4D6-B28F-ED74-D14B5C2813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408" y="1444106"/>
            <a:ext cx="10550543" cy="4426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57312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FDB46F-AFAC-16E4-ABFD-86DD5C098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84F6B2-EA34-9248-5009-16B7D3D119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B7A83D-D0E7-7E22-E1C1-22CEAFFE99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Matrix Multiplications</a:t>
            </a:r>
          </a:p>
          <a:p>
            <a:r>
              <a:rPr lang="en-US" sz="2400" dirty="0"/>
              <a:t>Hardware Implementation via Broadcast</a:t>
            </a:r>
          </a:p>
          <a:p>
            <a:r>
              <a:rPr lang="en-US" sz="2400" dirty="0"/>
              <a:t>Systolic Arrays</a:t>
            </a:r>
          </a:p>
          <a:p>
            <a:r>
              <a:rPr lang="en-US" sz="2400" dirty="0"/>
              <a:t>Tiling for Large Matrices</a:t>
            </a:r>
          </a:p>
          <a:p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C94F7C-C551-3F20-96BC-1A1E3070A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14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99681822-EF51-E62B-28F3-708B24FD16D3}"/>
              </a:ext>
            </a:extLst>
          </p:cNvPr>
          <p:cNvSpPr/>
          <p:nvPr/>
        </p:nvSpPr>
        <p:spPr>
          <a:xfrm>
            <a:off x="372726" y="1979433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12087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28E53-D67F-D919-8673-675B29B0E0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Naïve Implementation in Vitis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7E1439-AED0-9022-C9D1-89B4DDE3552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567487" y="1539277"/>
                <a:ext cx="5033963" cy="4329817"/>
              </a:xfrm>
            </p:spPr>
            <p:txBody>
              <a:bodyPr/>
              <a:lstStyle/>
              <a:p>
                <a:r>
                  <a:rPr lang="en-US" sz="2400" dirty="0"/>
                  <a:t>Classic triple nested loop</a:t>
                </a:r>
              </a:p>
              <a:p>
                <a:r>
                  <a:rPr lang="en-US" sz="2400" dirty="0"/>
                  <a:t>Takes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𝑁𝑀𝐾</m:t>
                    </m:r>
                  </m:oMath>
                </a14:m>
                <a:r>
                  <a:rPr lang="en-US" sz="2400" dirty="0"/>
                  <a:t> iterations</a:t>
                </a:r>
              </a:p>
              <a:p>
                <a:r>
                  <a:rPr lang="en-US" sz="2400" dirty="0"/>
                  <a:t>Simple, but slow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How can we speed this up?</a:t>
                </a:r>
              </a:p>
              <a:p>
                <a:endParaRPr lang="en-US" sz="2400" dirty="0"/>
              </a:p>
              <a:p>
                <a:endParaRPr lang="en-US" sz="2400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7E1439-AED0-9022-C9D1-89B4DDE3552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67487" y="1539277"/>
                <a:ext cx="5033963" cy="4329817"/>
              </a:xfrm>
              <a:blipFill>
                <a:blip r:embed="rId2"/>
                <a:stretch>
                  <a:fillRect l="-3390" t="-19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536CF5-1576-4292-5959-65C4A3DF9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15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C85457D-E5BE-6B25-4BC3-2C251AFED0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444" y="1679353"/>
            <a:ext cx="5275556" cy="3995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00579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C62AB-5E18-E5D8-EEE1-80D139BCC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34331-BC5D-EED8-0844-E3E12FD87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1:  No Parallelism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803F10-66FE-8898-E2A9-A753D667B73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567487" y="1539277"/>
                <a:ext cx="4871717" cy="4329817"/>
              </a:xfrm>
            </p:spPr>
            <p:txBody>
              <a:bodyPr/>
              <a:lstStyle/>
              <a:p>
                <a:r>
                  <a:rPr lang="en-US" sz="2400" dirty="0"/>
                  <a:t>Triple loop requires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𝑁𝑀𝐾</m:t>
                    </m:r>
                  </m:oMath>
                </a14:m>
                <a:r>
                  <a:rPr lang="en-US" sz="2400" dirty="0"/>
                  <a:t> cycles</a:t>
                </a:r>
              </a:p>
              <a:p>
                <a:r>
                  <a:rPr lang="en-US" sz="2400" dirty="0"/>
                  <a:t>Only one multiply per cycle</a:t>
                </a:r>
              </a:p>
              <a:p>
                <a:r>
                  <a:rPr lang="en-US" sz="2400" dirty="0"/>
                  <a:t>Resource efficient</a:t>
                </a:r>
              </a:p>
              <a:p>
                <a:r>
                  <a:rPr lang="en-US" sz="2400" dirty="0"/>
                  <a:t>But slow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We could try to unroll</a:t>
                </a:r>
              </a:p>
              <a:p>
                <a:r>
                  <a:rPr lang="en-US" sz="2400" dirty="0"/>
                  <a:t>That is, do multiplications in parallel</a:t>
                </a:r>
              </a:p>
              <a:p>
                <a:r>
                  <a:rPr lang="en-US" sz="2400" dirty="0"/>
                  <a:t>But…</a:t>
                </a:r>
              </a:p>
              <a:p>
                <a:endParaRPr lang="en-US" sz="2400" dirty="0"/>
              </a:p>
              <a:p>
                <a:endParaRPr lang="en-US" sz="2400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803F10-66FE-8898-E2A9-A753D667B73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67487" y="1539277"/>
                <a:ext cx="4871717" cy="4329817"/>
              </a:xfrm>
              <a:blipFill>
                <a:blip r:embed="rId2"/>
                <a:stretch>
                  <a:fillRect l="-3500" t="-1972" r="-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9D4186-E31C-9D84-38E1-9F91991CE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16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CBFDDD1-A29C-A108-033E-D919727456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444" y="1679353"/>
            <a:ext cx="5275556" cy="3995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91891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60D76-517C-464D-DC45-2545367CF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1C5E78-1AC9-899E-A9EA-659C13177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2:  Array Accesses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28755B-2750-A24F-B13A-61AEE4B370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567487" y="1539277"/>
                <a:ext cx="4871717" cy="4329817"/>
              </a:xfrm>
            </p:spPr>
            <p:txBody>
              <a:bodyPr/>
              <a:lstStyle/>
              <a:p>
                <a:r>
                  <a:rPr lang="en-US" sz="2400" dirty="0"/>
                  <a:t>Each inner iteration requires</a:t>
                </a:r>
              </a:p>
              <a:p>
                <a:pPr lvl="1"/>
                <a:r>
                  <a:rPr lang="en-US" sz="2200" dirty="0"/>
                  <a:t>Read from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200" dirty="0"/>
                  <a:t> and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endParaRPr lang="en-US" sz="2200" dirty="0"/>
              </a:p>
              <a:p>
                <a:pPr lvl="1"/>
                <a:r>
                  <a:rPr lang="en-US" sz="2200" dirty="0"/>
                  <a:t>Write to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endParaRPr lang="en-US" sz="2200" dirty="0"/>
              </a:p>
              <a:p>
                <a:r>
                  <a:rPr lang="en-US" sz="2400" dirty="0"/>
                  <a:t>Access are from random locations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Unroll requires parallel accesses</a:t>
                </a:r>
              </a:p>
              <a:p>
                <a:endParaRPr lang="en-US" sz="2400" dirty="0"/>
              </a:p>
              <a:p>
                <a:endParaRPr lang="en-US" sz="2400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28755B-2750-A24F-B13A-61AEE4B370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67487" y="1539277"/>
                <a:ext cx="4871717" cy="4329817"/>
              </a:xfrm>
              <a:blipFill>
                <a:blip r:embed="rId2"/>
                <a:stretch>
                  <a:fillRect l="-3500" t="-19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E74DE7-DD23-F407-55C6-5AF3542697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17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F44C1AE-2755-596C-79E0-CC842008D5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444" y="1679353"/>
            <a:ext cx="5275556" cy="3995546"/>
          </a:xfrm>
          <a:prstGeom prst="rect">
            <a:avLst/>
          </a:prstGeom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E9BBEE80-D0E2-498E-F921-DFEEC6CA4348}"/>
              </a:ext>
            </a:extLst>
          </p:cNvPr>
          <p:cNvSpPr/>
          <p:nvPr/>
        </p:nvSpPr>
        <p:spPr>
          <a:xfrm>
            <a:off x="2152650" y="4121150"/>
            <a:ext cx="4044950" cy="9144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22533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09F094-8276-DB05-03E9-F5B0982A4E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 Assumptions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0CE31B-C0C6-967F-BC66-6676483E1CB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We can obtain a better multiplication under two key assumptions</a:t>
                </a:r>
              </a:p>
              <a:p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Assumption 1</a:t>
                </a:r>
                <a:r>
                  <a:rPr lang="en-US" dirty="0"/>
                  <a:t>: 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dirty="0"/>
                  <a:t> can be stored in register</a:t>
                </a:r>
              </a:p>
              <a:p>
                <a:pPr lvl="1"/>
                <a:r>
                  <a:rPr lang="en-US" dirty="0"/>
                  <a:t>That is, fully partitioned memory</a:t>
                </a:r>
              </a:p>
              <a:p>
                <a:pPr lvl="1"/>
                <a:r>
                  <a:rPr lang="en-US" dirty="0"/>
                  <a:t>Typically,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dirty="0"/>
                  <a:t> must be small</a:t>
                </a:r>
              </a:p>
              <a:p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Assumption 2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𝒀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 admit row-wise access</a:t>
                </a:r>
              </a:p>
              <a:p>
                <a:pPr lvl="1"/>
                <a:r>
                  <a:rPr lang="en-US" dirty="0"/>
                  <a:t>That is, can access all elements of a row in parallel</a:t>
                </a:r>
              </a:p>
              <a:p>
                <a:pPr lvl="1"/>
                <a:r>
                  <a:rPr lang="en-US" dirty="0"/>
                  <a:t>Matrices must be in internal memory</a:t>
                </a:r>
              </a:p>
              <a:p>
                <a:pPr lvl="1"/>
                <a:r>
                  <a:rPr lang="en-US" dirty="0"/>
                  <a:t>Different columns are in different memory banks</a:t>
                </a:r>
              </a:p>
              <a:p>
                <a:pPr lvl="1"/>
                <a:r>
                  <a:rPr lang="en-US" dirty="0"/>
                  <a:t>Or external memory but very wide data width</a:t>
                </a:r>
              </a:p>
              <a:p>
                <a:r>
                  <a:rPr lang="en-US" dirty="0"/>
                  <a:t>We will relax both assumptions later with tiling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0CE31B-C0C6-967F-BC66-6676483E1CB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9AD6A8-40C1-2CF3-FC8F-1FDCAF0BBA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18</a:t>
            </a:fld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9BEF21F-5330-5C99-2B84-1A18B3F89788}"/>
              </a:ext>
            </a:extLst>
          </p:cNvPr>
          <p:cNvGrpSpPr/>
          <p:nvPr/>
        </p:nvGrpSpPr>
        <p:grpSpPr>
          <a:xfrm>
            <a:off x="6599910" y="2262864"/>
            <a:ext cx="5224354" cy="2698180"/>
            <a:chOff x="6244310" y="1736148"/>
            <a:chExt cx="5224354" cy="2698180"/>
          </a:xfrm>
        </p:grpSpPr>
        <p:pic>
          <p:nvPicPr>
            <p:cNvPr id="5" name="Picture 2" descr="undefined">
              <a:extLst>
                <a:ext uri="{FF2B5EF4-FFF2-40B4-BE49-F238E27FC236}">
                  <a16:creationId xmlns:a16="http://schemas.microsoft.com/office/drawing/2014/main" id="{0AE25FED-1E29-3099-1184-A076FF29EA7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22485"/>
            <a:stretch>
              <a:fillRect/>
            </a:stretch>
          </p:blipFill>
          <p:spPr bwMode="auto">
            <a:xfrm>
              <a:off x="6327551" y="1771988"/>
              <a:ext cx="5141113" cy="224982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F27D74E-25E0-3A7C-6F0B-A6F7D305A315}"/>
                    </a:ext>
                  </a:extLst>
                </p:cNvPr>
                <p:cNvSpPr txBox="1"/>
                <p:nvPr/>
              </p:nvSpPr>
              <p:spPr>
                <a:xfrm>
                  <a:off x="7057110" y="4034218"/>
                  <a:ext cx="420307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𝑿</m:t>
                        </m:r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F27D74E-25E0-3A7C-6F0B-A6F7D305A3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57110" y="4034218"/>
                  <a:ext cx="420307" cy="4001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9627DB7-7561-1A83-C0C1-A30ADE0C67BE}"/>
                    </a:ext>
                  </a:extLst>
                </p:cNvPr>
                <p:cNvSpPr txBox="1"/>
                <p:nvPr/>
              </p:nvSpPr>
              <p:spPr>
                <a:xfrm>
                  <a:off x="8692628" y="4021810"/>
                  <a:ext cx="496033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𝑾</m:t>
                        </m:r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9627DB7-7561-1A83-C0C1-A30ADE0C67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92628" y="4021810"/>
                  <a:ext cx="496033" cy="40011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054AA7E-DF29-75D1-6450-8A2552ED75F1}"/>
                    </a:ext>
                  </a:extLst>
                </p:cNvPr>
                <p:cNvSpPr txBox="1"/>
                <p:nvPr/>
              </p:nvSpPr>
              <p:spPr>
                <a:xfrm>
                  <a:off x="10659647" y="4021810"/>
                  <a:ext cx="402546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𝒀</m:t>
                        </m:r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054AA7E-DF29-75D1-6450-8A2552ED75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59647" y="4021810"/>
                  <a:ext cx="402546" cy="40011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01DEF362-E48F-22F0-DC07-16435918802B}"/>
                    </a:ext>
                  </a:extLst>
                </p:cNvPr>
                <p:cNvSpPr txBox="1"/>
                <p:nvPr/>
              </p:nvSpPr>
              <p:spPr>
                <a:xfrm>
                  <a:off x="6244310" y="3504130"/>
                  <a:ext cx="436209" cy="40011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01DEF362-E48F-22F0-DC07-16435918802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44310" y="3504130"/>
                  <a:ext cx="436209" cy="40011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8AD32A9-F5FC-BA0A-A2D7-695C20EA0BBF}"/>
                    </a:ext>
                  </a:extLst>
                </p:cNvPr>
                <p:cNvSpPr txBox="1"/>
                <p:nvPr/>
              </p:nvSpPr>
              <p:spPr>
                <a:xfrm>
                  <a:off x="7368260" y="1736148"/>
                  <a:ext cx="436209" cy="40011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8AD32A9-F5FC-BA0A-A2D7-695C20EA0B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68260" y="1736148"/>
                  <a:ext cx="436209" cy="40011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7C4FD1F-A365-C8A2-23FA-426FCBEA4143}"/>
                    </a:ext>
                  </a:extLst>
                </p:cNvPr>
                <p:cNvSpPr txBox="1"/>
                <p:nvPr/>
              </p:nvSpPr>
              <p:spPr>
                <a:xfrm>
                  <a:off x="7717510" y="3228945"/>
                  <a:ext cx="436209" cy="40011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7C4FD1F-A365-C8A2-23FA-426FCBEA41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7510" y="3228945"/>
                  <a:ext cx="436209" cy="40011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C2856CC-A20A-4EF1-684E-76DBA5A7A6CE}"/>
                    </a:ext>
                  </a:extLst>
                </p:cNvPr>
                <p:cNvSpPr txBox="1"/>
                <p:nvPr/>
              </p:nvSpPr>
              <p:spPr>
                <a:xfrm>
                  <a:off x="9188661" y="2050401"/>
                  <a:ext cx="466666" cy="40011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C2856CC-A20A-4EF1-684E-76DBA5A7A6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88661" y="2050401"/>
                  <a:ext cx="466666" cy="400110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499C3ED-6D8D-A046-171F-78FBF1C37118}"/>
                    </a:ext>
                  </a:extLst>
                </p:cNvPr>
                <p:cNvSpPr txBox="1"/>
                <p:nvPr/>
              </p:nvSpPr>
              <p:spPr>
                <a:xfrm>
                  <a:off x="10922347" y="1759580"/>
                  <a:ext cx="466666" cy="40011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499C3ED-6D8D-A046-171F-78FBF1C371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22347" y="1759580"/>
                  <a:ext cx="466666" cy="400110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05572BB-E892-F8AF-366A-602D01AEFE7F}"/>
                    </a:ext>
                  </a:extLst>
                </p:cNvPr>
                <p:cNvSpPr txBox="1"/>
                <p:nvPr/>
              </p:nvSpPr>
              <p:spPr>
                <a:xfrm>
                  <a:off x="9566597" y="3598268"/>
                  <a:ext cx="436209" cy="40011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05572BB-E892-F8AF-366A-602D01AEFE7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6597" y="3598268"/>
                  <a:ext cx="436209" cy="40011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6474312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516C38-AAD7-0DCA-C62B-EC1E2F39FF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Partitioning in Vitis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103F778-82E6-274C-E777-E605EFF45F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537450" y="1539277"/>
                <a:ext cx="3618230" cy="4329817"/>
              </a:xfrm>
            </p:spPr>
            <p:txBody>
              <a:bodyPr/>
              <a:lstStyle/>
              <a:p>
                <a:r>
                  <a:rPr lang="en-US" dirty="0"/>
                  <a:t>Partition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 row-wise</a:t>
                </a:r>
              </a:p>
              <a:p>
                <a:pPr lvl="1"/>
                <a:r>
                  <a:rPr lang="en-US" dirty="0"/>
                  <a:t>All elements of each row can be accessed in parallel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r>
                  <a:rPr lang="en-US" dirty="0"/>
                  <a:t>Fully partition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All elements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dirty="0"/>
                  <a:t> can be accessed in parallel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103F778-82E6-274C-E777-E605EFF45F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537450" y="1539277"/>
                <a:ext cx="3618230" cy="4329817"/>
              </a:xfrm>
              <a:blipFill>
                <a:blip r:embed="rId2"/>
                <a:stretch>
                  <a:fillRect l="-4040" t="-1549" r="-50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B38364-38A5-0056-6D63-A7B1DCB2A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19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6D2452-FF56-2A12-F6B5-3C09E1CCD1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320" y="1601298"/>
            <a:ext cx="6211167" cy="4267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84576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8C433-CADC-C4AD-4F45-FF5D275AB6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Local Row Buffers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17488B8-CD45-015E-C38E-0AE412402FD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392692" y="1539277"/>
                <a:ext cx="3762988" cy="4329817"/>
              </a:xfrm>
            </p:spPr>
            <p:txBody>
              <a:bodyPr/>
              <a:lstStyle/>
              <a:p>
                <a:r>
                  <a:rPr lang="en-US" dirty="0"/>
                  <a:t>Create row buffers</a:t>
                </a:r>
              </a:p>
              <a:p>
                <a:pPr lvl="1"/>
                <a:r>
                  <a:rPr lang="en-US" dirty="0"/>
                  <a:t>Store each row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Fully partition row buffers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17488B8-CD45-015E-C38E-0AE412402FD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392692" y="1539277"/>
                <a:ext cx="3762988" cy="4329817"/>
              </a:xfrm>
              <a:blipFill>
                <a:blip r:embed="rId2"/>
                <a:stretch>
                  <a:fillRect l="-3890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6AD58F-438A-E355-76BC-A08307B3D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20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475DB8A-5382-E457-9D83-97BB20B395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320" y="1726757"/>
            <a:ext cx="5858693" cy="1343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92775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7DEED-54E1-B48F-CC46-167FF6B76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 Loop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62DB2D-5F93-1D0A-45F8-1EA56CB9AE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5164035" cy="4329817"/>
              </a:xfrm>
            </p:spPr>
            <p:txBody>
              <a:bodyPr/>
              <a:lstStyle/>
              <a:p>
                <a:r>
                  <a:rPr lang="en-US" dirty="0"/>
                  <a:t>Three stages</a:t>
                </a:r>
              </a:p>
              <a:p>
                <a:r>
                  <a:rPr lang="en-US" dirty="0"/>
                  <a:t>Load row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,: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b="0" dirty="0"/>
                  <a:t> loads are in parallel</a:t>
                </a:r>
              </a:p>
              <a:p>
                <a:endParaRPr lang="en-US" dirty="0"/>
              </a:p>
              <a:p>
                <a:r>
                  <a:rPr lang="en-US" dirty="0"/>
                  <a:t>Compute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,: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𝐾𝑀</m:t>
                    </m:r>
                  </m:oMath>
                </a14:m>
                <a:r>
                  <a:rPr lang="en-US" dirty="0"/>
                  <a:t> MACs are in parallel</a:t>
                </a:r>
              </a:p>
              <a:p>
                <a:pPr lvl="1"/>
                <a:r>
                  <a:rPr lang="en-US" dirty="0"/>
                  <a:t>Note double UNROLL pragma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Store row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,:]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are in parallel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62DB2D-5F93-1D0A-45F8-1EA56CB9AE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5164035" cy="4329817"/>
              </a:xfrm>
              <a:blipFill>
                <a:blip r:embed="rId2"/>
                <a:stretch>
                  <a:fillRect l="-2834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3C6205-B3CB-E4B4-A4B7-C1E453407B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21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EAA8B8-BD75-6B13-18D0-1C1D501EB7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465" y="286603"/>
            <a:ext cx="5402936" cy="5965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99284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08DEEA-800F-CC23-A240-C2B91C6C8B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Best Case Complexity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1B8EA9-9328-D0C6-3913-07E98E6CC9B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4218639" cy="4329817"/>
              </a:xfrm>
            </p:spPr>
            <p:txBody>
              <a:bodyPr/>
              <a:lstStyle/>
              <a:p>
                <a:r>
                  <a:rPr lang="en-US" dirty="0"/>
                  <a:t>Each pipeline has three stages</a:t>
                </a:r>
              </a:p>
              <a:p>
                <a:pPr lvl="1"/>
                <a:r>
                  <a:rPr lang="en-US" dirty="0"/>
                  <a:t>Latency = 3</a:t>
                </a:r>
              </a:p>
              <a:p>
                <a:pPr lvl="1"/>
                <a:r>
                  <a:rPr lang="en-US" dirty="0"/>
                  <a:t>II = 1</a:t>
                </a:r>
              </a:p>
              <a:p>
                <a:r>
                  <a:rPr lang="en-US" dirty="0"/>
                  <a:t>Complexity: Cycles =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+2</m:t>
                    </m:r>
                  </m:oMath>
                </a14:m>
                <a:endParaRPr lang="en-US" dirty="0"/>
              </a:p>
              <a:p>
                <a:r>
                  <a:rPr lang="en-US" dirty="0"/>
                  <a:t>Storage: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stored 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banks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each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stored 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/>
                  <a:t> banks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each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dirty="0"/>
                  <a:t> stored 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𝐾𝑀</m:t>
                    </m:r>
                  </m:oMath>
                </a14:m>
                <a:r>
                  <a:rPr lang="en-US" dirty="0"/>
                  <a:t> registers</a:t>
                </a:r>
              </a:p>
              <a:p>
                <a:r>
                  <a:rPr lang="en-US" dirty="0"/>
                  <a:t>MAC units: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𝐾𝑀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1B8EA9-9328-D0C6-3913-07E98E6CC9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4218639" cy="4329817"/>
              </a:xfrm>
              <a:blipFill>
                <a:blip r:embed="rId2"/>
                <a:stretch>
                  <a:fillRect l="-3468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CA67D3-5327-BCDA-F399-665732D72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36444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4CEA0-7B2B-7A88-B361-A1F286F3D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Baseline Implementation Summary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113502-4243-DC87-09E7-1BAF96A28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23</a:t>
            </a:fld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0F2B276-A93F-CE28-8EEF-823D2AC259D7}"/>
              </a:ext>
            </a:extLst>
          </p:cNvPr>
          <p:cNvSpPr txBox="1">
            <a:spLocks/>
          </p:cNvSpPr>
          <p:nvPr/>
        </p:nvSpPr>
        <p:spPr>
          <a:xfrm>
            <a:off x="1217930" y="1736126"/>
            <a:ext cx="5751938" cy="432981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Wingdings" panose="05000000000000000000" pitchFamily="2" charset="2"/>
              <a:buChar char="q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Conclusion:  Baseline implementation achieves</a:t>
            </a:r>
          </a:p>
          <a:p>
            <a:pPr lvl="1"/>
            <a:r>
              <a:rPr lang="en-US" dirty="0"/>
              <a:t>Dramatic speed up</a:t>
            </a:r>
          </a:p>
          <a:p>
            <a:pPr lvl="1"/>
            <a:r>
              <a:rPr lang="en-US" dirty="0"/>
              <a:t>Enables highly parallel MACs</a:t>
            </a:r>
          </a:p>
          <a:p>
            <a:r>
              <a:rPr lang="en-US" dirty="0"/>
              <a:t>But there are two problems:</a:t>
            </a:r>
          </a:p>
          <a:p>
            <a:r>
              <a:rPr lang="en-US" dirty="0"/>
              <a:t>Problem 1:  Local storage:</a:t>
            </a:r>
          </a:p>
          <a:p>
            <a:pPr lvl="1"/>
            <a:r>
              <a:rPr lang="en-US" dirty="0"/>
              <a:t>Requires local storage and partitioned arrays</a:t>
            </a:r>
          </a:p>
          <a:p>
            <a:pPr lvl="1"/>
            <a:r>
              <a:rPr lang="en-US" dirty="0"/>
              <a:t>We will address this with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tiling</a:t>
            </a:r>
          </a:p>
          <a:p>
            <a:r>
              <a:rPr lang="en-US" dirty="0"/>
              <a:t>Problem 2:  Complex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routing</a:t>
            </a:r>
          </a:p>
          <a:p>
            <a:pPr lvl="1"/>
            <a:r>
              <a:rPr lang="en-US" dirty="0"/>
              <a:t>We will discuss and address this next</a:t>
            </a:r>
          </a:p>
        </p:txBody>
      </p:sp>
    </p:spTree>
    <p:extLst>
      <p:ext uri="{BB962C8B-B14F-4D97-AF65-F5344CB8AC3E}">
        <p14:creationId xmlns:p14="http://schemas.microsoft.com/office/powerpoint/2010/main" val="857807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A820EA-9818-DB9D-4177-DCC470394C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BF952-AEBC-5EEC-3ADD-82ACA5938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3F8F56-6015-FEFC-9AB5-5662061BD6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Matrix Multiplications</a:t>
            </a:r>
          </a:p>
          <a:p>
            <a:r>
              <a:rPr lang="en-US" sz="2400" dirty="0"/>
              <a:t>Hardware Implementation via Broadcast</a:t>
            </a:r>
          </a:p>
          <a:p>
            <a:r>
              <a:rPr lang="en-US" sz="2400" dirty="0"/>
              <a:t>Systolic Arrays</a:t>
            </a:r>
          </a:p>
          <a:p>
            <a:r>
              <a:rPr lang="en-US" sz="2400" dirty="0"/>
              <a:t>Tiling for Large Matrices</a:t>
            </a:r>
          </a:p>
          <a:p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977FD8-6107-3E03-0E41-5A9AC2FC3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24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535A70B1-416D-88D8-5C91-7022DEC790BE}"/>
              </a:ext>
            </a:extLst>
          </p:cNvPr>
          <p:cNvSpPr/>
          <p:nvPr/>
        </p:nvSpPr>
        <p:spPr>
          <a:xfrm>
            <a:off x="426970" y="2498626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75510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35A786-4C71-CB45-D4DB-FAD84D07FE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Baseline Implementation Layout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EECF6CA-0A8B-8299-3A20-23A9A9196A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610026" y="1539277"/>
                <a:ext cx="4545653" cy="4329817"/>
              </a:xfrm>
            </p:spPr>
            <p:txBody>
              <a:bodyPr/>
              <a:lstStyle/>
              <a:p>
                <a:r>
                  <a:rPr lang="en-US" dirty="0"/>
                  <a:t>Consider the layout of baseline multiplier</a:t>
                </a:r>
              </a:p>
              <a:p>
                <a:r>
                  <a:rPr lang="en-US" dirty="0"/>
                  <a:t>Row buffer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endParaRPr lang="en-US" b="0" dirty="0"/>
              </a:p>
              <a:p>
                <a:r>
                  <a:rPr lang="en-US" dirty="0"/>
                  <a:t>Row buffer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endParaRPr lang="en-US" dirty="0"/>
              </a:p>
              <a:p>
                <a:r>
                  <a:rPr lang="en-US" dirty="0"/>
                  <a:t>Matrix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EECF6CA-0A8B-8299-3A20-23A9A9196A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610026" y="1539277"/>
                <a:ext cx="4545653" cy="4329817"/>
              </a:xfrm>
              <a:blipFill>
                <a:blip r:embed="rId2"/>
                <a:stretch>
                  <a:fillRect l="-3217" t="-1549" r="-25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7A8AE6-2B3E-DE0E-F370-EC0E95C90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25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8ED7479-EF65-69A7-BE85-73B97EF5E4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634" y="2394691"/>
            <a:ext cx="5444663" cy="3212689"/>
          </a:xfrm>
          <a:prstGeom prst="rect">
            <a:avLst/>
          </a:prstGeom>
        </p:spPr>
      </p:pic>
      <p:sp>
        <p:nvSpPr>
          <p:cNvPr id="8" name="Left Brace 7">
            <a:extLst>
              <a:ext uri="{FF2B5EF4-FFF2-40B4-BE49-F238E27FC236}">
                <a16:creationId xmlns:a16="http://schemas.microsoft.com/office/drawing/2014/main" id="{00E0B9EA-DD0D-0F77-354E-F4E965C9DAEA}"/>
              </a:ext>
            </a:extLst>
          </p:cNvPr>
          <p:cNvSpPr/>
          <p:nvPr/>
        </p:nvSpPr>
        <p:spPr>
          <a:xfrm rot="16200000">
            <a:off x="4018848" y="3588375"/>
            <a:ext cx="336550" cy="3703453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1092819A-E63B-AC69-A8F6-378DEEF2164C}"/>
              </a:ext>
            </a:extLst>
          </p:cNvPr>
          <p:cNvSpPr/>
          <p:nvPr/>
        </p:nvSpPr>
        <p:spPr>
          <a:xfrm>
            <a:off x="699771" y="2771924"/>
            <a:ext cx="336550" cy="1590526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929A8D1-6524-FB5E-7514-9A5B94ECF7B0}"/>
                  </a:ext>
                </a:extLst>
              </p:cNvPr>
              <p:cNvSpPr txBox="1"/>
              <p:nvPr/>
            </p:nvSpPr>
            <p:spPr>
              <a:xfrm>
                <a:off x="2793663" y="5684428"/>
                <a:ext cx="235385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Row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 (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/>
                  <a:t> elements)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929A8D1-6524-FB5E-7514-9A5B94ECF7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93663" y="5684428"/>
                <a:ext cx="2353850" cy="369332"/>
              </a:xfrm>
              <a:prstGeom prst="rect">
                <a:avLst/>
              </a:prstGeom>
              <a:blipFill>
                <a:blip r:embed="rId4"/>
                <a:stretch>
                  <a:fillRect l="-2073" t="-8197" r="-2332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F00D688-70AF-447E-583E-90623ED189C3}"/>
                  </a:ext>
                </a:extLst>
              </p:cNvPr>
              <p:cNvSpPr txBox="1"/>
              <p:nvPr/>
            </p:nvSpPr>
            <p:spPr>
              <a:xfrm rot="16200000">
                <a:off x="-680354" y="3459590"/>
                <a:ext cx="23634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Row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(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elements)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F00D688-70AF-447E-583E-90623ED189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-680354" y="3459590"/>
                <a:ext cx="2363468" cy="369332"/>
              </a:xfrm>
              <a:prstGeom prst="rect">
                <a:avLst/>
              </a:prstGeom>
              <a:blipFill>
                <a:blip r:embed="rId5"/>
                <a:stretch>
                  <a:fillRect l="-9836" t="-515" r="-24590" b="-20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863323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952CF-7383-DEF4-7172-1D795E181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Routing Challenges:  Fanout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2263EC-C84C-23FE-CECE-5BB24DD1970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975062" y="1539277"/>
                <a:ext cx="4180618" cy="4329817"/>
              </a:xfrm>
            </p:spPr>
            <p:txBody>
              <a:bodyPr/>
              <a:lstStyle/>
              <a:p>
                <a:r>
                  <a:rPr lang="en-US" dirty="0"/>
                  <a:t>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𝑛𝑖</m:t>
                        </m:r>
                      </m:sub>
                    </m:sSub>
                  </m:oMath>
                </a14:m>
                <a:r>
                  <a:rPr lang="en-US" dirty="0"/>
                  <a:t> must be </a:t>
                </a:r>
                <a:r>
                  <a:rPr lang="en-US" dirty="0">
                    <a:solidFill>
                      <a:srgbClr val="00B050"/>
                    </a:solidFill>
                  </a:rPr>
                  <a:t>broadcast</a:t>
                </a:r>
              </a:p>
              <a:p>
                <a:pPr lvl="1"/>
                <a:r>
                  <a:rPr lang="en-US" dirty="0"/>
                  <a:t>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/>
                  <a:t> locations</a:t>
                </a:r>
              </a:p>
              <a:p>
                <a:r>
                  <a:rPr lang="en-US" dirty="0"/>
                  <a:t>We say the </a:t>
                </a:r>
                <a:r>
                  <a:rPr lang="en-US" dirty="0">
                    <a:solidFill>
                      <a:srgbClr val="00B050"/>
                    </a:solidFill>
                  </a:rPr>
                  <a:t>fanout</a:t>
                </a:r>
                <a:r>
                  <a:rPr lang="en-US" dirty="0"/>
                  <a:t>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𝑛𝑗</m:t>
                        </m:r>
                      </m:sub>
                    </m:sSub>
                  </m:oMath>
                </a14:m>
                <a:r>
                  <a:rPr lang="en-US" dirty="0"/>
                  <a:t>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endParaRPr lang="en-US" dirty="0"/>
              </a:p>
              <a:p>
                <a:r>
                  <a:rPr lang="en-US" dirty="0"/>
                  <a:t>High fanout is hard to route</a:t>
                </a:r>
              </a:p>
              <a:p>
                <a:r>
                  <a:rPr lang="en-US" dirty="0"/>
                  <a:t>Creates large number of wires</a:t>
                </a:r>
              </a:p>
              <a:p>
                <a:r>
                  <a:rPr lang="en-US" dirty="0"/>
                  <a:t>Many wires can be long</a:t>
                </a:r>
              </a:p>
              <a:p>
                <a:r>
                  <a:rPr lang="en-US" dirty="0"/>
                  <a:t>Difficult to meet timing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2263EC-C84C-23FE-CECE-5BB24DD1970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975062" y="1539277"/>
                <a:ext cx="4180618" cy="4329817"/>
              </a:xfrm>
              <a:blipFill>
                <a:blip r:embed="rId2"/>
                <a:stretch>
                  <a:fillRect l="-3499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517E64-B516-6795-BA30-B6B2033F1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26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F9814DE-31B7-6967-4C75-CD46B211E0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294" y="1991532"/>
            <a:ext cx="5584942" cy="3179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792483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523D1-0FFF-8A72-D8F8-54F1F4BA20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96CB5DC-D8E0-850D-2E1F-EC7AF2B10C9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85182" y="1539277"/>
                <a:ext cx="5470497" cy="4329817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Consider simple example to left</a:t>
                </a:r>
              </a:p>
              <a:p>
                <a:r>
                  <a:rPr lang="en-US" sz="2400" dirty="0"/>
                  <a:t>Parameter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2400" dirty="0"/>
                  <a:t> is broadcast </a:t>
                </a:r>
              </a:p>
              <a:p>
                <a:pPr lvl="1"/>
                <a:r>
                  <a:rPr lang="en-US" sz="2200" dirty="0"/>
                  <a:t>To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2200" dirty="0"/>
                  <a:t> instances of function 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200" dirty="0"/>
              </a:p>
              <a:p>
                <a:r>
                  <a:rPr lang="en-US" sz="2400" dirty="0"/>
                  <a:t>Fanout is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96CB5DC-D8E0-850D-2E1F-EC7AF2B10C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85182" y="1539277"/>
                <a:ext cx="5470497" cy="4329817"/>
              </a:xfrm>
              <a:blipFill>
                <a:blip r:embed="rId2"/>
                <a:stretch>
                  <a:fillRect l="-3233" t="-19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45B16F-76E6-9743-A963-2CDE61502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27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ECC1993-BF5E-CC23-ABDB-7721152272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989" y="2457486"/>
            <a:ext cx="5253170" cy="242279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F6F2CCD-A063-BDAD-BB93-9E269A50D2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5182" y="3851530"/>
            <a:ext cx="4515082" cy="2057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90963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EB82D-D1A0-576A-026B-2BC9BFF9B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5B9C32-3203-B5A7-BE89-AC2BDFD03D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Fanout Visualized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8265D77-471A-6109-D882-5254CBD83C3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85182" y="1539277"/>
                <a:ext cx="5470497" cy="432981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Fanout is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8265D77-471A-6109-D882-5254CBD83C3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85182" y="1539277"/>
                <a:ext cx="5470497" cy="4329817"/>
              </a:xfrm>
              <a:blipFill>
                <a:blip r:embed="rId2"/>
                <a:stretch>
                  <a:fillRect l="-3456" t="-19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8A9AEC-E335-D4E5-9746-7529F5384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28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CB3A45F-3D7F-5F5F-2F28-C669A1E587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759" y="2696025"/>
            <a:ext cx="5253170" cy="242279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BBEC92F-DF65-0180-6533-6B4DEFD44C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6676" y="2492415"/>
            <a:ext cx="5484026" cy="2499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293534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709EDE-9291-7481-59BA-9D9D9F96F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Reduced Fan-Out Design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6A355C-5FBD-E232-1952-6D4F7252A9A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192144" y="1539277"/>
                <a:ext cx="4963535" cy="4329817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Improved design with lower fanout</a:t>
                </a:r>
              </a:p>
              <a:p>
                <a:r>
                  <a:rPr lang="en-US" sz="24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Copy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2400" dirty="0"/>
                  <a:t> in a shift register</a:t>
                </a:r>
              </a:p>
              <a:p>
                <a:pPr lvl="1"/>
                <a:r>
                  <a:rPr lang="en-US" sz="2200" dirty="0"/>
                  <a:t>Takes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2200" dirty="0"/>
                  <a:t> cycles</a:t>
                </a:r>
                <a:endParaRPr lang="en-US" sz="2400" dirty="0"/>
              </a:p>
              <a:p>
                <a:pPr lvl="1"/>
                <a:r>
                  <a:rPr lang="en-US" sz="2400" dirty="0"/>
                  <a:t>And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2200" dirty="0"/>
                  <a:t> additional registers</a:t>
                </a:r>
              </a:p>
              <a:p>
                <a:r>
                  <a:rPr lang="en-US" sz="2400" dirty="0"/>
                  <a:t>Use a </a:t>
                </a:r>
                <a:r>
                  <a:rPr lang="en-US" sz="24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delay line</a:t>
                </a:r>
              </a:p>
              <a:p>
                <a:pPr lvl="1"/>
                <a:r>
                  <a:rPr lang="en-US" sz="2200" dirty="0">
                    <a:solidFill>
                      <a:schemeClr val="tx1"/>
                    </a:solidFill>
                  </a:rPr>
                  <a:t>Shift in one element of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𝑏𝑐𝑜𝑝𝑦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</a:rPr>
                  <a:t> at a time</a:t>
                </a:r>
              </a:p>
              <a:p>
                <a:r>
                  <a:rPr lang="en-US" sz="2400" dirty="0"/>
                  <a:t>Use copy of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2400" dirty="0"/>
                  <a:t> in each function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6A355C-5FBD-E232-1952-6D4F7252A9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192144" y="1539277"/>
                <a:ext cx="4963535" cy="4329817"/>
              </a:xfrm>
              <a:blipFill>
                <a:blip r:embed="rId2"/>
                <a:stretch>
                  <a:fillRect l="-3563" t="-1972" r="-12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F86883-936B-557A-86AB-EC2151798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29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3822BC6-1E1D-97F0-01D4-E2B60DBAE6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319" y="2224557"/>
            <a:ext cx="4758353" cy="2961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294095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2DAC90-AA58-6E4E-0DAF-194C3F945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589354-A76B-228D-04F6-AA4FE5BFC3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Reduced Fan-Out Visualized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496859-9669-0E29-7DCA-80326B081B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30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9E705DB-B258-D110-941B-F7C31F5275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8873" y="3825876"/>
            <a:ext cx="5486559" cy="200671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91E5F70-7081-3C10-1561-ACB99E0DD3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319" y="2224557"/>
            <a:ext cx="4758353" cy="296113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984977CA-A10C-A162-3170-B1ABC31001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95234" y="1539277"/>
                <a:ext cx="5660445" cy="4329817"/>
              </a:xfrm>
            </p:spPr>
            <p:txBody>
              <a:bodyPr/>
              <a:lstStyle/>
              <a:p>
                <a:r>
                  <a:rPr lang="en-US" dirty="0"/>
                  <a:t>Fan-out is reduced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/>
                  <a:t> to 2</a:t>
                </a:r>
              </a:p>
              <a:p>
                <a:r>
                  <a:rPr lang="en-US" dirty="0"/>
                  <a:t>Computations can be local</a:t>
                </a:r>
              </a:p>
              <a:p>
                <a:r>
                  <a:rPr lang="en-US" dirty="0"/>
                  <a:t>Key lesson:  Add additional delay and register</a:t>
                </a:r>
              </a:p>
              <a:p>
                <a:r>
                  <a:rPr lang="en-US" dirty="0"/>
                  <a:t>But greatly improve routing</a:t>
                </a:r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984977CA-A10C-A162-3170-B1ABC31001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95234" y="1539277"/>
                <a:ext cx="5660445" cy="4329817"/>
              </a:xfrm>
              <a:blipFill>
                <a:blip r:embed="rId4"/>
                <a:stretch>
                  <a:fillRect l="-2583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1497511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1F738-C2A8-4E63-A5F4-C5CAC8C78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Systolic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871FFA-95C5-82F1-281A-1F19AC76B6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slides from Prof Sai Zhang</a:t>
            </a:r>
          </a:p>
          <a:p>
            <a:r>
              <a:rPr lang="en-US" dirty="0"/>
              <a:t>Provided to NYU students on Brightspace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A52ABC-21EE-1BBB-B686-E17AB32A28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31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39E9567-0812-52BC-6A2B-F65D80928D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2520" y="2293620"/>
            <a:ext cx="6844910" cy="3430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32662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88A17-D391-0597-4F0F-EE5C1E5CB2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823410-66D3-BB35-285A-18DB09EE1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0511F0-3D34-B280-F1E2-D2A54DB138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Matrix Multiplications</a:t>
            </a:r>
          </a:p>
          <a:p>
            <a:r>
              <a:rPr lang="en-US" sz="2400" dirty="0"/>
              <a:t>Hardware Implementation via Broadcast</a:t>
            </a:r>
          </a:p>
          <a:p>
            <a:r>
              <a:rPr lang="en-US" sz="2400" dirty="0"/>
              <a:t>Systolic Arrays</a:t>
            </a:r>
          </a:p>
          <a:p>
            <a:r>
              <a:rPr lang="en-US" sz="2400" dirty="0"/>
              <a:t>Tiling</a:t>
            </a:r>
          </a:p>
          <a:p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FDA986-B370-2D79-2B24-6A36BB50A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32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3A41FB57-D151-B91C-C2C2-84EB56E64978}"/>
              </a:ext>
            </a:extLst>
          </p:cNvPr>
          <p:cNvSpPr/>
          <p:nvPr/>
        </p:nvSpPr>
        <p:spPr>
          <a:xfrm>
            <a:off x="390835" y="3009263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27214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047DFC-7DBC-B19D-1CEF-D165104FDE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Bottleneck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77C8852-2A0A-3F34-3C8F-AA9D4787929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Suppose matrices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 can only be read one word per cycle</a:t>
                </a:r>
              </a:p>
              <a:p>
                <a:r>
                  <a:rPr lang="en-US" dirty="0"/>
                  <a:t>Reading and writing take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𝑁𝑀</m:t>
                    </m:r>
                  </m:oMath>
                </a14:m>
                <a:r>
                  <a:rPr lang="en-US" dirty="0"/>
                  <a:t> cycles</a:t>
                </a:r>
              </a:p>
              <a:p>
                <a:r>
                  <a:rPr lang="en-US" dirty="0"/>
                  <a:t>If we have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/>
                  <a:t> systolic array:</a:t>
                </a:r>
              </a:p>
              <a:p>
                <a:pPr lvl="1"/>
                <a:r>
                  <a:rPr lang="en-US" dirty="0"/>
                  <a:t>Computation take 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cycles</a:t>
                </a:r>
              </a:p>
              <a:p>
                <a:r>
                  <a:rPr lang="en-US" dirty="0"/>
                  <a:t>So, memory, not computation is the bottleneck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77C8852-2A0A-3F34-3C8F-AA9D478792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085C33-002E-50F7-4269-E8A013743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33</a:t>
            </a:fld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8C724BD-C59A-10CA-BA92-091488C56E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3196" y="2270501"/>
            <a:ext cx="3789157" cy="1958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171984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3C97D0-BE53-6496-B92B-637E5881AA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Block Matrices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FFBD02-CB44-11D8-5529-1D565B5C05D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Partition a matrix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dirty="0"/>
                  <a:t> into sub-matrices or blocks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FFBD02-CB44-11D8-5529-1D565B5C05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0D3F8-E0D6-22B9-A54C-8FC54C40D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34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9DD68AF-C6B8-0DE8-C98F-9D548C9A2A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920" y="2599131"/>
            <a:ext cx="2657846" cy="170521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22BC153-46BB-FC3C-89C9-85A8B31B07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2747" y="2634060"/>
            <a:ext cx="3982006" cy="167663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8D7BFBF-CAD3-D74E-78DA-5074308F6C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23148" y="2876473"/>
            <a:ext cx="2172003" cy="110505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91C8C76-94A8-9DC6-1CFF-1BF2AF78DB6B}"/>
              </a:ext>
            </a:extLst>
          </p:cNvPr>
          <p:cNvSpPr txBox="1"/>
          <p:nvPr/>
        </p:nvSpPr>
        <p:spPr>
          <a:xfrm>
            <a:off x="1638300" y="2139950"/>
            <a:ext cx="1173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Full matrix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F2D2305-3409-C2EA-8CBA-F61F3190F645}"/>
              </a:ext>
            </a:extLst>
          </p:cNvPr>
          <p:cNvSpPr txBox="1"/>
          <p:nvPr/>
        </p:nvSpPr>
        <p:spPr>
          <a:xfrm>
            <a:off x="5372100" y="2090881"/>
            <a:ext cx="14387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Matrix blocks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308A506-C1F4-244B-C93D-7DDE77BE6927}"/>
              </a:ext>
            </a:extLst>
          </p:cNvPr>
          <p:cNvSpPr txBox="1"/>
          <p:nvPr/>
        </p:nvSpPr>
        <p:spPr>
          <a:xfrm>
            <a:off x="8812416" y="2095448"/>
            <a:ext cx="1846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Block matrix form</a:t>
            </a:r>
          </a:p>
        </p:txBody>
      </p:sp>
    </p:spTree>
    <p:extLst>
      <p:ext uri="{BB962C8B-B14F-4D97-AF65-F5344CB8AC3E}">
        <p14:creationId xmlns:p14="http://schemas.microsoft.com/office/powerpoint/2010/main" val="361713991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7DF87F-0088-247C-6BC6-4268270B52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Tiling for Matrix Multiplication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805303-438B-22D9-9A85-449034F5D7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7957820" cy="4329817"/>
              </a:xfrm>
            </p:spPr>
            <p:txBody>
              <a:bodyPr/>
              <a:lstStyle/>
              <a:p>
                <a:r>
                  <a:rPr lang="en-US" dirty="0"/>
                  <a:t>Divide rows in tiles of size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 will have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dirty="0"/>
                  <a:t> block rows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dirty="0"/>
                  <a:t> will have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dirty="0"/>
                  <a:t> block rows</a:t>
                </a:r>
              </a:p>
              <a:p>
                <a:r>
                  <a:rPr lang="en-US" dirty="0"/>
                  <a:t>Divide columns in tiles of size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dirty="0"/>
                  <a:t> will have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 block columns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will have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 block columns</a:t>
                </a:r>
              </a:p>
              <a:p>
                <a:r>
                  <a:rPr lang="en-US" dirty="0"/>
                  <a:t>Systolic array will be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805303-438B-22D9-9A85-449034F5D7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7957820" cy="4329817"/>
              </a:xfrm>
              <a:blipFill>
                <a:blip r:embed="rId2"/>
                <a:stretch>
                  <a:fillRect l="-1839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206CD3-D662-F16D-FF8C-21DFFBBC3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35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136BE5A-2FAC-8AAF-390D-B65B6FFE95D2}"/>
              </a:ext>
            </a:extLst>
          </p:cNvPr>
          <p:cNvSpPr/>
          <p:nvPr/>
        </p:nvSpPr>
        <p:spPr>
          <a:xfrm>
            <a:off x="7625080" y="2099691"/>
            <a:ext cx="1430020" cy="17907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CA088D4-59AF-D67B-34B0-2EEDEA470C29}"/>
              </a:ext>
            </a:extLst>
          </p:cNvPr>
          <p:cNvCxnSpPr>
            <a:stCxn id="5" idx="0"/>
            <a:endCxn id="5" idx="2"/>
          </p:cNvCxnSpPr>
          <p:nvPr/>
        </p:nvCxnSpPr>
        <p:spPr>
          <a:xfrm>
            <a:off x="8340090" y="2099691"/>
            <a:ext cx="0" cy="17907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23C8A05-3FE9-56DC-0500-D76EFBD2E884}"/>
              </a:ext>
            </a:extLst>
          </p:cNvPr>
          <p:cNvCxnSpPr>
            <a:cxnSpLocks/>
          </p:cNvCxnSpPr>
          <p:nvPr/>
        </p:nvCxnSpPr>
        <p:spPr>
          <a:xfrm>
            <a:off x="7219950" y="2686050"/>
            <a:ext cx="180911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9DA3F63-B3B8-E632-81DB-20FCFA9A79DC}"/>
              </a:ext>
            </a:extLst>
          </p:cNvPr>
          <p:cNvCxnSpPr>
            <a:cxnSpLocks/>
          </p:cNvCxnSpPr>
          <p:nvPr/>
        </p:nvCxnSpPr>
        <p:spPr>
          <a:xfrm>
            <a:off x="7645799" y="3226824"/>
            <a:ext cx="137795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7957522-AA49-D237-5287-4ACA06519D4F}"/>
              </a:ext>
            </a:extLst>
          </p:cNvPr>
          <p:cNvCxnSpPr>
            <a:cxnSpLocks/>
          </p:cNvCxnSpPr>
          <p:nvPr/>
        </p:nvCxnSpPr>
        <p:spPr>
          <a:xfrm>
            <a:off x="7245985" y="2099691"/>
            <a:ext cx="30416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08FA4BD-990C-4A58-7B1F-8363F19E2FF2}"/>
              </a:ext>
            </a:extLst>
          </p:cNvPr>
          <p:cNvCxnSpPr>
            <a:cxnSpLocks/>
          </p:cNvCxnSpPr>
          <p:nvPr/>
        </p:nvCxnSpPr>
        <p:spPr>
          <a:xfrm>
            <a:off x="7422515" y="2099691"/>
            <a:ext cx="0" cy="58635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068ECED-5044-1F1D-1B4E-54D7A2A17D87}"/>
                  </a:ext>
                </a:extLst>
              </p:cNvPr>
              <p:cNvSpPr txBox="1"/>
              <p:nvPr/>
            </p:nvSpPr>
            <p:spPr>
              <a:xfrm>
                <a:off x="6999954" y="2208205"/>
                <a:ext cx="44852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068ECED-5044-1F1D-1B4E-54D7A2A17D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9954" y="2208205"/>
                <a:ext cx="44852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6D1CEF2-E382-DFCA-591B-3A4B91B817AB}"/>
              </a:ext>
            </a:extLst>
          </p:cNvPr>
          <p:cNvCxnSpPr>
            <a:cxnSpLocks/>
          </p:cNvCxnSpPr>
          <p:nvPr/>
        </p:nvCxnSpPr>
        <p:spPr>
          <a:xfrm>
            <a:off x="7625080" y="4164213"/>
            <a:ext cx="71501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83CF3EAC-8664-2526-CAEF-8C036F59CC21}"/>
              </a:ext>
            </a:extLst>
          </p:cNvPr>
          <p:cNvCxnSpPr>
            <a:cxnSpLocks/>
          </p:cNvCxnSpPr>
          <p:nvPr/>
        </p:nvCxnSpPr>
        <p:spPr>
          <a:xfrm flipV="1">
            <a:off x="8340090" y="3970278"/>
            <a:ext cx="0" cy="38787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94ECB85-D8B0-AF73-16CF-B095055EF202}"/>
              </a:ext>
            </a:extLst>
          </p:cNvPr>
          <p:cNvCxnSpPr>
            <a:cxnSpLocks/>
          </p:cNvCxnSpPr>
          <p:nvPr/>
        </p:nvCxnSpPr>
        <p:spPr>
          <a:xfrm flipV="1">
            <a:off x="7645799" y="3970278"/>
            <a:ext cx="0" cy="38787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DF3E4EF-3D8B-FD62-834C-51782604C8ED}"/>
                  </a:ext>
                </a:extLst>
              </p:cNvPr>
              <p:cNvSpPr txBox="1"/>
              <p:nvPr/>
            </p:nvSpPr>
            <p:spPr>
              <a:xfrm>
                <a:off x="7804119" y="4246498"/>
                <a:ext cx="44371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DF3E4EF-3D8B-FD62-834C-51782604C8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4119" y="4246498"/>
                <a:ext cx="443711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6899935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7EF981-7AEF-F31D-A8D7-51FFB80560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53C00B-2DEB-F26E-3BDD-BAECD4C661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Tiling Procedure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5F8065-4C84-850B-D0F9-0BC4DE803C6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7957820" cy="4329817"/>
              </a:xfrm>
            </p:spPr>
            <p:txBody>
              <a:bodyPr/>
              <a:lstStyle/>
              <a:p>
                <a:r>
                  <a:rPr lang="en-US" dirty="0"/>
                  <a:t>Load full matrix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 into local memory once</a:t>
                </a:r>
              </a:p>
              <a:p>
                <a:pPr lvl="1"/>
                <a:r>
                  <a:rPr lang="en-US" dirty="0"/>
                  <a:t>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dirty="0"/>
                  <a:t> block</a:t>
                </a:r>
              </a:p>
              <a:p>
                <a:r>
                  <a:rPr lang="en-US" dirty="0"/>
                  <a:t>For each block row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Load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dirty="0"/>
                  <a:t> rows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 into local memory</a:t>
                </a:r>
              </a:p>
              <a:p>
                <a:pPr lvl="1"/>
                <a:r>
                  <a:rPr lang="en-US" dirty="0"/>
                  <a:t>Perform matrix multiplications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𝑘𝑗</m:t>
                        </m:r>
                      </m:sub>
                    </m:sSub>
                  </m:oMath>
                </a14:m>
                <a:r>
                  <a:rPr lang="en-US" dirty="0"/>
                  <a:t>  via systolic arrays</a:t>
                </a:r>
              </a:p>
              <a:p>
                <a:pPr lvl="1"/>
                <a:r>
                  <a:rPr lang="en-US" dirty="0"/>
                  <a:t>Performed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=1,…,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=1,…,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den>
                    </m:f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Complexity of each block matrix multiplication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So, cost is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𝐾𝑀</m:t>
                        </m:r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den>
                    </m:f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5F8065-4C84-850B-D0F9-0BC4DE803C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7957820" cy="4329817"/>
              </a:xfrm>
              <a:blipFill>
                <a:blip r:embed="rId2"/>
                <a:stretch>
                  <a:fillRect l="-1839" t="-12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47F0CA-2FB0-5EB0-3473-A7291EC6D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36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C64EF0C-0B05-0D46-4362-BC8479F843F9}"/>
              </a:ext>
            </a:extLst>
          </p:cNvPr>
          <p:cNvSpPr/>
          <p:nvPr/>
        </p:nvSpPr>
        <p:spPr>
          <a:xfrm>
            <a:off x="10183925" y="2114439"/>
            <a:ext cx="1430020" cy="17907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090845-CF90-A650-039D-06804582BC72}"/>
              </a:ext>
            </a:extLst>
          </p:cNvPr>
          <p:cNvCxnSpPr>
            <a:stCxn id="5" idx="0"/>
            <a:endCxn id="5" idx="2"/>
          </p:cNvCxnSpPr>
          <p:nvPr/>
        </p:nvCxnSpPr>
        <p:spPr>
          <a:xfrm>
            <a:off x="10898935" y="2114439"/>
            <a:ext cx="0" cy="17907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8D444C7-D883-7E2A-D2F9-5F45A1B4B868}"/>
              </a:ext>
            </a:extLst>
          </p:cNvPr>
          <p:cNvCxnSpPr>
            <a:cxnSpLocks/>
          </p:cNvCxnSpPr>
          <p:nvPr/>
        </p:nvCxnSpPr>
        <p:spPr>
          <a:xfrm>
            <a:off x="9778795" y="2700798"/>
            <a:ext cx="180911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2EFCD55-DAB5-1F0F-5895-F534269FBCD4}"/>
              </a:ext>
            </a:extLst>
          </p:cNvPr>
          <p:cNvCxnSpPr>
            <a:cxnSpLocks/>
          </p:cNvCxnSpPr>
          <p:nvPr/>
        </p:nvCxnSpPr>
        <p:spPr>
          <a:xfrm>
            <a:off x="10204644" y="3241572"/>
            <a:ext cx="137795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E164F19-E70E-4DE9-0A12-E67A8AAC6102}"/>
              </a:ext>
            </a:extLst>
          </p:cNvPr>
          <p:cNvCxnSpPr>
            <a:cxnSpLocks/>
          </p:cNvCxnSpPr>
          <p:nvPr/>
        </p:nvCxnSpPr>
        <p:spPr>
          <a:xfrm>
            <a:off x="9804830" y="2114439"/>
            <a:ext cx="30416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10E2234-AC2F-D174-8F17-923EB2D8A8DF}"/>
              </a:ext>
            </a:extLst>
          </p:cNvPr>
          <p:cNvCxnSpPr>
            <a:cxnSpLocks/>
          </p:cNvCxnSpPr>
          <p:nvPr/>
        </p:nvCxnSpPr>
        <p:spPr>
          <a:xfrm>
            <a:off x="9981360" y="2114439"/>
            <a:ext cx="0" cy="58635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AE3B55B-07E3-A9DF-98D1-99D2793A63FE}"/>
                  </a:ext>
                </a:extLst>
              </p:cNvPr>
              <p:cNvSpPr txBox="1"/>
              <p:nvPr/>
            </p:nvSpPr>
            <p:spPr>
              <a:xfrm>
                <a:off x="9372398" y="2222952"/>
                <a:ext cx="44852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AE3B55B-07E3-A9DF-98D1-99D2793A63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72398" y="2222952"/>
                <a:ext cx="44852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3FB4DE8-5B1A-37D1-FD6E-69C8B456853D}"/>
              </a:ext>
            </a:extLst>
          </p:cNvPr>
          <p:cNvCxnSpPr>
            <a:cxnSpLocks/>
          </p:cNvCxnSpPr>
          <p:nvPr/>
        </p:nvCxnSpPr>
        <p:spPr>
          <a:xfrm>
            <a:off x="10183925" y="4178961"/>
            <a:ext cx="71501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9FA7DF9-DF9F-F4D1-E8C1-014648A22E44}"/>
              </a:ext>
            </a:extLst>
          </p:cNvPr>
          <p:cNvCxnSpPr>
            <a:cxnSpLocks/>
          </p:cNvCxnSpPr>
          <p:nvPr/>
        </p:nvCxnSpPr>
        <p:spPr>
          <a:xfrm flipV="1">
            <a:off x="10898935" y="3985026"/>
            <a:ext cx="0" cy="38787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ABCAB81-0ACA-B7E3-68C5-19CA0928CE6D}"/>
              </a:ext>
            </a:extLst>
          </p:cNvPr>
          <p:cNvCxnSpPr>
            <a:cxnSpLocks/>
          </p:cNvCxnSpPr>
          <p:nvPr/>
        </p:nvCxnSpPr>
        <p:spPr>
          <a:xfrm flipV="1">
            <a:off x="10204644" y="3985026"/>
            <a:ext cx="0" cy="38787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DB982DA-F8A4-08E6-BBD9-D5E5C7102F27}"/>
                  </a:ext>
                </a:extLst>
              </p:cNvPr>
              <p:cNvSpPr txBox="1"/>
              <p:nvPr/>
            </p:nvSpPr>
            <p:spPr>
              <a:xfrm>
                <a:off x="10362964" y="4261246"/>
                <a:ext cx="44371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DB982DA-F8A4-08E6-BBD9-D5E5C7102F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62964" y="4261246"/>
                <a:ext cx="443711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11721970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alibri">
      <a:maj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02006FA4-1611-4B07-AF7F-85CF6D20EB3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23623</TotalTime>
  <Words>1282</Words>
  <Application>Microsoft Office PowerPoint</Application>
  <PresentationFormat>Widescreen</PresentationFormat>
  <Paragraphs>306</Paragraphs>
  <Slides>36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1" baseType="lpstr">
      <vt:lpstr>Arial</vt:lpstr>
      <vt:lpstr>Calibri</vt:lpstr>
      <vt:lpstr>Cambria Math</vt:lpstr>
      <vt:lpstr>Wingdings</vt:lpstr>
      <vt:lpstr>Retrospect</vt:lpstr>
      <vt:lpstr>Unit 10  Arrays and Matrix Multiplications</vt:lpstr>
      <vt:lpstr>Learning Objectives</vt:lpstr>
      <vt:lpstr>Outline</vt:lpstr>
      <vt:lpstr>What is a Matrix?</vt:lpstr>
      <vt:lpstr>Matrix Addition and Subtraction</vt:lpstr>
      <vt:lpstr>Matrix Addition Complexity </vt:lpstr>
      <vt:lpstr>Matrix Multiplication</vt:lpstr>
      <vt:lpstr>Multiplying Two Matrices</vt:lpstr>
      <vt:lpstr>Storing Matrices in Hardware Memory</vt:lpstr>
      <vt:lpstr>Row-Major Order in Memory</vt:lpstr>
      <vt:lpstr>Matrix Multiplication Complexity</vt:lpstr>
      <vt:lpstr>Multiplication Memory Accesses</vt:lpstr>
      <vt:lpstr>Sample Problem</vt:lpstr>
      <vt:lpstr>Outline</vt:lpstr>
      <vt:lpstr>Naïve Implementation in Vitis</vt:lpstr>
      <vt:lpstr>Problem 1:  No Parallelism</vt:lpstr>
      <vt:lpstr>Problem 2:  Array Accesses</vt:lpstr>
      <vt:lpstr>Two Assumptions</vt:lpstr>
      <vt:lpstr>Memory Partitioning in Vitis</vt:lpstr>
      <vt:lpstr>Local Row Buffers</vt:lpstr>
      <vt:lpstr>Pipeline Loop</vt:lpstr>
      <vt:lpstr>Best Case Complexity</vt:lpstr>
      <vt:lpstr>Baseline Implementation Summary</vt:lpstr>
      <vt:lpstr>Outline</vt:lpstr>
      <vt:lpstr>Baseline Implementation Layout</vt:lpstr>
      <vt:lpstr>Routing Challenges:  Fanout</vt:lpstr>
      <vt:lpstr>Simple Example</vt:lpstr>
      <vt:lpstr>Fanout Visualized</vt:lpstr>
      <vt:lpstr>Reduced Fan-Out Design</vt:lpstr>
      <vt:lpstr>Reduced Fan-Out Visualized</vt:lpstr>
      <vt:lpstr>Systolic Arrays</vt:lpstr>
      <vt:lpstr>Outline</vt:lpstr>
      <vt:lpstr>Memory Bottleneck</vt:lpstr>
      <vt:lpstr>Block Matrices</vt:lpstr>
      <vt:lpstr>Tiling for Matrix Multiplication</vt:lpstr>
      <vt:lpstr>Tiling Procedure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Sundeep Rangan</dc:creator>
  <cp:lastModifiedBy>Sundeep Rangan</cp:lastModifiedBy>
  <cp:revision>672</cp:revision>
  <cp:lastPrinted>2018-09-04T19:00:14Z</cp:lastPrinted>
  <dcterms:created xsi:type="dcterms:W3CDTF">2015-03-22T11:15:32Z</dcterms:created>
  <dcterms:modified xsi:type="dcterms:W3CDTF">2026-04-29T15:20:26Z</dcterms:modified>
</cp:coreProperties>
</file>