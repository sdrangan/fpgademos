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8" r:id="rId2"/>
    <p:sldId id="275" r:id="rId3"/>
    <p:sldId id="325" r:id="rId4"/>
    <p:sldId id="326" r:id="rId5"/>
    <p:sldId id="327" r:id="rId6"/>
    <p:sldId id="328" r:id="rId7"/>
    <p:sldId id="349" r:id="rId8"/>
    <p:sldId id="330" r:id="rId9"/>
    <p:sldId id="331" r:id="rId10"/>
    <p:sldId id="332" r:id="rId11"/>
    <p:sldId id="346" r:id="rId12"/>
    <p:sldId id="337" r:id="rId13"/>
    <p:sldId id="333" r:id="rId14"/>
    <p:sldId id="334" r:id="rId15"/>
    <p:sldId id="335" r:id="rId16"/>
    <p:sldId id="336" r:id="rId17"/>
    <p:sldId id="329" r:id="rId18"/>
    <p:sldId id="272" r:id="rId19"/>
    <p:sldId id="273" r:id="rId20"/>
    <p:sldId id="341" r:id="rId21"/>
    <p:sldId id="340" r:id="rId22"/>
    <p:sldId id="342" r:id="rId23"/>
    <p:sldId id="344" r:id="rId24"/>
    <p:sldId id="343" r:id="rId25"/>
    <p:sldId id="347" r:id="rId26"/>
    <p:sldId id="345" r:id="rId27"/>
    <p:sldId id="338" r:id="rId28"/>
    <p:sldId id="348" r:id="rId29"/>
    <p:sldId id="339" r:id="rId30"/>
    <p:sldId id="274" r:id="rId31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EACE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57" autoAdjust="0"/>
    <p:restoredTop sz="94660"/>
  </p:normalViewPr>
  <p:slideViewPr>
    <p:cSldViewPr snapToGrid="0">
      <p:cViewPr varScale="1">
        <p:scale>
          <a:sx n="75" d="100"/>
          <a:sy n="75" d="100"/>
        </p:scale>
        <p:origin x="284" y="-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drangan.github.io/hwdesign/doc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llmgrader-e6o7.onrender.com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drangan.github.io/hwdesign/nyu/project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19.jpe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0 </a:t>
            </a:r>
            <a:br>
              <a:rPr lang="en-US" sz="6600" dirty="0"/>
            </a:br>
            <a:r>
              <a:rPr lang="en-US" sz="6600" dirty="0"/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Ece-GY 6463:  advanced Hardware Design</a:t>
            </a:r>
          </a:p>
          <a:p>
            <a:r>
              <a:rPr lang="en-US" dirty="0"/>
              <a:t>Prof. Sundeep Rangan, Siddharth Garg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E59F8-EF96-20D9-3BF6-DBCF84399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5D5A7-6271-5B63-9B97-5A2686E82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3743C-B42E-14C5-942C-A1259FB2B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Course Admin</a:t>
            </a:r>
          </a:p>
          <a:p>
            <a:endParaRPr lang="en-US" sz="2400" dirty="0"/>
          </a:p>
          <a:p>
            <a:r>
              <a:rPr lang="en-US" sz="2400" dirty="0"/>
              <a:t>What is Custom Hardware and What Can it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521AA-8799-5DBA-9D19-ACE01D30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9C9242D-0C02-1CE5-D0CB-EB939C4BE126}"/>
              </a:ext>
            </a:extLst>
          </p:cNvPr>
          <p:cNvSpPr/>
          <p:nvPr/>
        </p:nvSpPr>
        <p:spPr>
          <a:xfrm>
            <a:off x="450151" y="1488947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083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2930E-BC71-3A0E-7AC2-70DC7F3D7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4AD46-19A2-DBA5-EA89-B2417381B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Instructor</a:t>
            </a:r>
          </a:p>
          <a:p>
            <a:pPr lvl="1"/>
            <a:r>
              <a:rPr lang="en-US" dirty="0"/>
              <a:t>Sundeep Rangan, 370 Jay St, 9-th floor</a:t>
            </a:r>
          </a:p>
          <a:p>
            <a:r>
              <a:rPr lang="en-US" dirty="0"/>
              <a:t>Course assistant:</a:t>
            </a:r>
          </a:p>
          <a:p>
            <a:pPr lvl="1"/>
            <a:r>
              <a:rPr lang="en-US" dirty="0" err="1"/>
              <a:t>Ruibin</a:t>
            </a:r>
            <a:r>
              <a:rPr lang="en-US" dirty="0"/>
              <a:t> Chen, </a:t>
            </a:r>
          </a:p>
          <a:p>
            <a:r>
              <a:rPr lang="en-US" dirty="0"/>
              <a:t>Office Hours:</a:t>
            </a:r>
          </a:p>
          <a:p>
            <a:pPr lvl="1"/>
            <a:r>
              <a:rPr lang="en-US" dirty="0"/>
              <a:t>Instructor:  Tuesday, 2-3</a:t>
            </a:r>
          </a:p>
          <a:p>
            <a:r>
              <a:rPr lang="en-US" dirty="0"/>
              <a:t>Time and Location:  </a:t>
            </a:r>
          </a:p>
          <a:p>
            <a:pPr lvl="1"/>
            <a:r>
              <a:rPr lang="en-US" dirty="0"/>
              <a:t>Jacob’s Hall, 6 Metrotech Room 201</a:t>
            </a:r>
          </a:p>
          <a:p>
            <a:pPr lvl="1"/>
            <a:r>
              <a:rPr lang="en-US" dirty="0"/>
              <a:t>Wednesdays 11-1:30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EC84A-5C8F-097B-0143-1E50F59D3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264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2B1B-65A9-7DD2-5B06-CF4D7CAC7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D45A-6B35-358E-70C1-DCA7EA6A1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/>
              <a:t>Identify tasks for hardware acceleration</a:t>
            </a:r>
          </a:p>
          <a:p>
            <a:pPr lvl="0"/>
            <a:r>
              <a:rPr lang="en-US" sz="2400" dirty="0"/>
              <a:t>Design, simulate, and evaluate designs for hardware accelerators</a:t>
            </a:r>
          </a:p>
          <a:p>
            <a:pPr lvl="1"/>
            <a:r>
              <a:rPr lang="en-US" sz="2200" dirty="0"/>
              <a:t>Called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Intellectual Property </a:t>
            </a:r>
            <a:r>
              <a:rPr lang="en-US" sz="2200" dirty="0"/>
              <a:t>or </a:t>
            </a:r>
            <a:r>
              <a:rPr lang="en-US" sz="22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IPs</a:t>
            </a:r>
          </a:p>
          <a:p>
            <a:pPr lvl="1"/>
            <a:r>
              <a:rPr lang="en-US" sz="2200" dirty="0"/>
              <a:t>Use state-of-the-art tools</a:t>
            </a:r>
          </a:p>
          <a:p>
            <a:pPr lvl="1"/>
            <a:r>
              <a:rPr lang="en-US" sz="2200" dirty="0"/>
              <a:t>High-level synthesis (HLS) and AI</a:t>
            </a:r>
          </a:p>
          <a:p>
            <a:pPr lvl="0"/>
            <a:r>
              <a:rPr lang="en-US" sz="2400" dirty="0"/>
              <a:t>Integrate IP into processor-based systems for real-world applications</a:t>
            </a:r>
          </a:p>
          <a:p>
            <a:pPr lvl="0"/>
            <a:r>
              <a:rPr lang="en-US" sz="2400" dirty="0"/>
              <a:t>Deploy and test systems on FPGA boards</a:t>
            </a:r>
          </a:p>
          <a:p>
            <a:pPr marL="0" lv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E9F40-C6E0-4149-CEB1-8A21F2CD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846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50D4C-D61D-36BA-157D-6DC966D7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Pre-Requisites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9A5A2-EF8E-3C8C-AEB0-93FB6B7A8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628900"/>
            <a:ext cx="10058400" cy="3240194"/>
          </a:xfrm>
        </p:spPr>
        <p:txBody>
          <a:bodyPr/>
          <a:lstStyle/>
          <a:p>
            <a:r>
              <a:rPr lang="en-US" dirty="0"/>
              <a:t>No prior hardware experience is required!</a:t>
            </a:r>
          </a:p>
          <a:p>
            <a:r>
              <a:rPr lang="en-US" dirty="0"/>
              <a:t>No hard pre-requisites!</a:t>
            </a:r>
          </a:p>
          <a:p>
            <a:r>
              <a:rPr lang="en-US" dirty="0"/>
              <a:t>Just have</a:t>
            </a:r>
          </a:p>
          <a:p>
            <a:pPr lvl="1"/>
            <a:r>
              <a:rPr lang="en-US" sz="2000" dirty="0"/>
              <a:t>Some software experience (e.g., C, python)</a:t>
            </a:r>
          </a:p>
          <a:p>
            <a:pPr lvl="1"/>
            <a:r>
              <a:rPr lang="en-US" sz="2000" dirty="0"/>
              <a:t>Desire to learn</a:t>
            </a:r>
          </a:p>
          <a:p>
            <a:r>
              <a:rPr lang="en-US" dirty="0"/>
              <a:t>Many possible disciplines</a:t>
            </a:r>
          </a:p>
          <a:p>
            <a:pPr lvl="1"/>
            <a:r>
              <a:rPr lang="en-US" dirty="0"/>
              <a:t>Robotics, wireless, scientific computation, cryptography, networking, …</a:t>
            </a:r>
          </a:p>
          <a:p>
            <a:pPr lvl="1"/>
            <a:endParaRPr lang="en-US" sz="20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64A3F-9FE7-5D1B-F48A-786486DCD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B0972B-9A48-3C51-67B4-B454D453FF66}"/>
              </a:ext>
            </a:extLst>
          </p:cNvPr>
          <p:cNvSpPr/>
          <p:nvPr/>
        </p:nvSpPr>
        <p:spPr>
          <a:xfrm>
            <a:off x="3267074" y="1520657"/>
            <a:ext cx="5405437" cy="9144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i="1" dirty="0">
                <a:solidFill>
                  <a:schemeClr val="tx2"/>
                </a:solidFill>
              </a:rPr>
              <a:t>Anyone can learn hardware</a:t>
            </a:r>
          </a:p>
        </p:txBody>
      </p:sp>
    </p:spTree>
    <p:extLst>
      <p:ext uri="{BB962C8B-B14F-4D97-AF65-F5344CB8AC3E}">
        <p14:creationId xmlns:p14="http://schemas.microsoft.com/office/powerpoint/2010/main" val="2696472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0B4B1-C81A-24C4-A91D-FB8A4A8C5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Webpage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BA53C-68B3-CE77-291E-023CAA41A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452096" cy="4329817"/>
          </a:xfrm>
        </p:spPr>
        <p:txBody>
          <a:bodyPr/>
          <a:lstStyle/>
          <a:p>
            <a:r>
              <a:rPr lang="en-US" dirty="0"/>
              <a:t>All the material for the class is on GitHub </a:t>
            </a:r>
          </a:p>
          <a:p>
            <a:r>
              <a:rPr lang="en-US" dirty="0"/>
              <a:t>Demos:</a:t>
            </a:r>
          </a:p>
          <a:p>
            <a:pPr lvl="1"/>
            <a:r>
              <a:rPr lang="en-US" dirty="0" err="1"/>
              <a:t>SystemVerilog</a:t>
            </a:r>
            <a:endParaRPr lang="en-US" dirty="0"/>
          </a:p>
          <a:p>
            <a:pPr lvl="1"/>
            <a:r>
              <a:rPr lang="en-US" dirty="0"/>
              <a:t>Vitis HLS</a:t>
            </a:r>
          </a:p>
          <a:p>
            <a:pPr lvl="1"/>
            <a:r>
              <a:rPr lang="en-US" dirty="0"/>
              <a:t>Python</a:t>
            </a:r>
          </a:p>
          <a:p>
            <a:r>
              <a:rPr lang="en-US" dirty="0"/>
              <a:t>Lecture notes</a:t>
            </a:r>
          </a:p>
          <a:p>
            <a:r>
              <a:rPr lang="en-US" dirty="0"/>
              <a:t>Problems, Lab </a:t>
            </a:r>
            <a:r>
              <a:rPr lang="en-US" dirty="0" err="1"/>
              <a:t>assignnments</a:t>
            </a:r>
            <a:endParaRPr lang="en-US" dirty="0"/>
          </a:p>
          <a:p>
            <a:r>
              <a:rPr lang="en-US" dirty="0"/>
              <a:t>Repository is work in progress</a:t>
            </a:r>
          </a:p>
          <a:p>
            <a:pPr lvl="1"/>
            <a:r>
              <a:rPr lang="en-US" dirty="0"/>
              <a:t>Re-sync periodically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3F543-E72D-CBDA-C7DC-750C87ABD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E3648C-3979-74A3-6E4F-A93EDD2AA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620" y="818594"/>
            <a:ext cx="5159440" cy="4389026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46E95C3-4464-57DB-D4FF-57467CE60BF2}"/>
              </a:ext>
            </a:extLst>
          </p:cNvPr>
          <p:cNvSpPr/>
          <p:nvPr/>
        </p:nvSpPr>
        <p:spPr>
          <a:xfrm>
            <a:off x="4436533" y="5420083"/>
            <a:ext cx="6719147" cy="57659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2"/>
                </a:solidFill>
                <a:hlinkClick r:id="rId3"/>
              </a:rPr>
              <a:t>https://sdrangan.github.io/hwdesign/docs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2433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C9C2-F070-02D6-1966-AC09B617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Set-Up:  ECS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209A2-7DC0-B5BF-8E52-5248F53E4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tools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Vitis</a:t>
            </a:r>
            <a:r>
              <a:rPr lang="en-US" dirty="0"/>
              <a:t> and </a:t>
            </a:r>
            <a:r>
              <a:rPr lang="en-US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Vivado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tx1"/>
                </a:solidFill>
              </a:rPr>
              <a:t>Basic software for digital design</a:t>
            </a:r>
          </a:p>
          <a:p>
            <a:r>
              <a:rPr lang="en-US" dirty="0"/>
              <a:t>You can run all demos and labs on NYU ECS servers</a:t>
            </a:r>
          </a:p>
          <a:p>
            <a:pPr lvl="1"/>
            <a:r>
              <a:rPr lang="en-US" dirty="0"/>
              <a:t>No need for set-up on your local machine</a:t>
            </a:r>
          </a:p>
          <a:p>
            <a:r>
              <a:rPr lang="en-US" dirty="0"/>
              <a:t>Ideal for MacOS users</a:t>
            </a:r>
          </a:p>
          <a:p>
            <a:pPr lvl="1"/>
            <a:r>
              <a:rPr lang="en-US" dirty="0"/>
              <a:t>Local set-up only supported on Windows and Linux</a:t>
            </a:r>
          </a:p>
          <a:p>
            <a:r>
              <a:rPr lang="en-US" dirty="0"/>
              <a:t>Instructor will provide your email to NYU IT</a:t>
            </a:r>
          </a:p>
          <a:p>
            <a:r>
              <a:rPr lang="en-US" dirty="0"/>
              <a:t>You will then be able to log into ecs03.poly.edu to ecs06.poly.edu</a:t>
            </a:r>
          </a:p>
          <a:p>
            <a:pPr lvl="1"/>
            <a:r>
              <a:rPr lang="en-US" dirty="0"/>
              <a:t>SSH for command line</a:t>
            </a:r>
          </a:p>
          <a:p>
            <a:pPr lvl="1"/>
            <a:r>
              <a:rPr lang="en-US" dirty="0"/>
              <a:t>Or </a:t>
            </a:r>
            <a:r>
              <a:rPr lang="en-US" dirty="0" err="1"/>
              <a:t>FastX</a:t>
            </a:r>
            <a:r>
              <a:rPr lang="en-US" dirty="0"/>
              <a:t> for a GUI-based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6C8F7-FCC3-6BD5-9ABF-22216B1F1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BD93D7-7B17-E837-F6DB-C2FFAB412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555" y="4821737"/>
            <a:ext cx="5839125" cy="114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676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653-2626-C12B-D4B5-3E3E7463A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Set-Up: Local Machine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54360-EB05-5ECD-4C10-6269DCB7E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 can also install Vitis and </a:t>
            </a:r>
            <a:r>
              <a:rPr lang="en-US" sz="2400" dirty="0" err="1"/>
              <a:t>Vivado</a:t>
            </a:r>
            <a:r>
              <a:rPr lang="en-US" sz="2400" dirty="0"/>
              <a:t> on local machine</a:t>
            </a:r>
          </a:p>
          <a:p>
            <a:r>
              <a:rPr lang="en-US" sz="2400" dirty="0"/>
              <a:t>But only works for Windows and Linux</a:t>
            </a:r>
          </a:p>
          <a:p>
            <a:pPr lvl="1"/>
            <a:r>
              <a:rPr lang="en-US" sz="2000" dirty="0"/>
              <a:t>Does not work for MacOS</a:t>
            </a:r>
          </a:p>
          <a:p>
            <a:r>
              <a:rPr lang="en-US" sz="2400" dirty="0"/>
              <a:t>Optional:  Purchase an actual FPGA board</a:t>
            </a:r>
          </a:p>
          <a:p>
            <a:pPr lvl="1"/>
            <a:r>
              <a:rPr lang="en-US" sz="2200" dirty="0"/>
              <a:t>See next slide</a:t>
            </a:r>
          </a:p>
          <a:p>
            <a:r>
              <a:rPr lang="en-US" sz="2400" dirty="0"/>
              <a:t>See installation instructions in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58FC5-F591-A75E-94DC-945852BF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4BB8C-D309-9C27-A6DE-4182F725B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818" y="1957773"/>
            <a:ext cx="2952902" cy="280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048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1039-AB79-5C2B-A2DD-99BCE50D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Boards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CD018-8CEC-5AF3-F372-0EA172C54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Projects and labs can be deployed on actual hardware</a:t>
            </a:r>
          </a:p>
          <a:p>
            <a:pPr lvl="1"/>
            <a:r>
              <a:rPr lang="en-US" sz="2200" dirty="0"/>
              <a:t>Currently optional due to price</a:t>
            </a:r>
          </a:p>
          <a:p>
            <a:r>
              <a:rPr lang="en-US" sz="2400" dirty="0"/>
              <a:t>We suggest:  Pynq-Z2 board</a:t>
            </a:r>
          </a:p>
          <a:p>
            <a:pPr lvl="1"/>
            <a:r>
              <a:rPr lang="en-US" sz="2200" dirty="0"/>
              <a:t>$300 </a:t>
            </a:r>
          </a:p>
          <a:p>
            <a:pPr lvl="1"/>
            <a:r>
              <a:rPr lang="en-US" sz="2200" dirty="0"/>
              <a:t>USB connection to your laptop</a:t>
            </a:r>
          </a:p>
          <a:p>
            <a:pPr lvl="1"/>
            <a:r>
              <a:rPr lang="en-US" sz="2200" dirty="0" err="1"/>
              <a:t>Pynq</a:t>
            </a:r>
            <a:r>
              <a:rPr lang="en-US" sz="2200" dirty="0"/>
              <a:t>:  Simple python interface</a:t>
            </a:r>
          </a:p>
          <a:p>
            <a:pPr lvl="1"/>
            <a:r>
              <a:rPr lang="en-US" sz="2200" dirty="0"/>
              <a:t>Low-end, but ideal for teaching</a:t>
            </a:r>
          </a:p>
          <a:p>
            <a:r>
              <a:rPr lang="en-US" sz="2400" dirty="0"/>
              <a:t>Other boards may be available in lab</a:t>
            </a:r>
          </a:p>
          <a:p>
            <a:pPr lvl="1"/>
            <a:r>
              <a:rPr lang="en-US" sz="2200" dirty="0"/>
              <a:t>Ex: </a:t>
            </a:r>
            <a:r>
              <a:rPr lang="en-US" sz="2200" dirty="0" err="1"/>
              <a:t>RFSoC</a:t>
            </a:r>
            <a:r>
              <a:rPr lang="en-US" sz="2200" dirty="0"/>
              <a:t> 4x2 for wireless communications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7729F-F5BF-5631-CE34-678FB092D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A23A0-0F27-10E7-3351-DB9D10428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083" y="382694"/>
            <a:ext cx="3132331" cy="25187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11EA30-7607-2636-0AE5-CEE8CABF6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338" y="3080485"/>
            <a:ext cx="5242862" cy="9621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990E59-4093-DAA4-FDC4-99F75672D7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5811" y="4211635"/>
            <a:ext cx="4304867" cy="246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149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63C20-3B82-441C-12B0-76CFECCBD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F4927-B5C7-8DB2-27BA-85662F410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Points</a:t>
            </a:r>
          </a:p>
          <a:p>
            <a:pPr lvl="1"/>
            <a:r>
              <a:rPr lang="en-US" dirty="0"/>
              <a:t>Homework + Labs: 25%</a:t>
            </a:r>
          </a:p>
          <a:p>
            <a:pPr lvl="1"/>
            <a:r>
              <a:rPr lang="en-US" dirty="0"/>
              <a:t>Midterm:  25%</a:t>
            </a:r>
          </a:p>
          <a:p>
            <a:pPr lvl="1"/>
            <a:r>
              <a:rPr lang="en-US" dirty="0"/>
              <a:t>Final:  25%</a:t>
            </a:r>
          </a:p>
          <a:p>
            <a:pPr lvl="1"/>
            <a:r>
              <a:rPr lang="en-US" dirty="0"/>
              <a:t>Project:  25% </a:t>
            </a:r>
          </a:p>
          <a:p>
            <a:r>
              <a:rPr lang="en-US" dirty="0"/>
              <a:t>Labs will be mostly </a:t>
            </a:r>
            <a:r>
              <a:rPr lang="en-US" dirty="0" err="1"/>
              <a:t>SystemVerilog</a:t>
            </a:r>
            <a:r>
              <a:rPr lang="en-US" dirty="0"/>
              <a:t> and </a:t>
            </a:r>
            <a:r>
              <a:rPr lang="en-US" dirty="0" err="1"/>
              <a:t>VitisHLS</a:t>
            </a:r>
            <a:endParaRPr lang="en-US" dirty="0"/>
          </a:p>
          <a:p>
            <a:pPr lvl="1"/>
            <a:r>
              <a:rPr lang="en-US" dirty="0"/>
              <a:t>Approximately 4 Vitis HLS assignments</a:t>
            </a:r>
          </a:p>
          <a:p>
            <a:pPr lvl="1"/>
            <a:r>
              <a:rPr lang="en-US" dirty="0"/>
              <a:t>Approximately 5 written assignments</a:t>
            </a:r>
          </a:p>
          <a:p>
            <a:r>
              <a:rPr lang="en-US" dirty="0"/>
              <a:t>Midterm and Final are in class</a:t>
            </a:r>
          </a:p>
          <a:p>
            <a:pPr lvl="1"/>
            <a:r>
              <a:rPr lang="en-US" dirty="0"/>
              <a:t>Closed book, no electronic aids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D1AC-1CF5-DED5-ADE8-F1E655F73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818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A4C1-71AC-123B-B99F-699DEB5D9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dirty="0" err="1"/>
              <a:t>Autograder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0ADDC-09C9-7DE9-3FE9-C059D43BF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070862" cy="4329817"/>
          </a:xfrm>
        </p:spPr>
        <p:txBody>
          <a:bodyPr/>
          <a:lstStyle/>
          <a:p>
            <a:r>
              <a:rPr lang="en-US" dirty="0"/>
              <a:t>An </a:t>
            </a:r>
            <a:r>
              <a:rPr lang="en-US" dirty="0">
                <a:hlinkClick r:id="rId2"/>
              </a:rPr>
              <a:t>LLM-automated grader</a:t>
            </a:r>
            <a:endParaRPr lang="en-US" dirty="0"/>
          </a:p>
          <a:p>
            <a:r>
              <a:rPr lang="en-US" dirty="0"/>
              <a:t>Will use for:</a:t>
            </a:r>
          </a:p>
          <a:p>
            <a:pPr lvl="1"/>
            <a:r>
              <a:rPr lang="en-US" dirty="0"/>
              <a:t>In class exercises</a:t>
            </a:r>
          </a:p>
          <a:p>
            <a:pPr lvl="1"/>
            <a:r>
              <a:rPr lang="en-US" dirty="0"/>
              <a:t>For </a:t>
            </a:r>
            <a:r>
              <a:rPr lang="en-US" dirty="0" err="1"/>
              <a:t>Gradescrope</a:t>
            </a:r>
            <a:r>
              <a:rPr lang="en-US" dirty="0"/>
              <a:t> submissions</a:t>
            </a:r>
          </a:p>
          <a:p>
            <a:r>
              <a:rPr lang="en-US" dirty="0"/>
              <a:t>Provides</a:t>
            </a:r>
          </a:p>
          <a:p>
            <a:pPr lvl="1"/>
            <a:r>
              <a:rPr lang="en-US" dirty="0"/>
              <a:t>Instant, detailed feedback</a:t>
            </a:r>
          </a:p>
          <a:p>
            <a:r>
              <a:rPr lang="en-US" dirty="0"/>
              <a:t>But</a:t>
            </a:r>
          </a:p>
          <a:p>
            <a:pPr lvl="1"/>
            <a:r>
              <a:rPr lang="en-US" dirty="0"/>
              <a:t>May make mistakes</a:t>
            </a:r>
          </a:p>
          <a:p>
            <a:r>
              <a:rPr lang="en-US" dirty="0"/>
              <a:t>Still experimental</a:t>
            </a:r>
          </a:p>
          <a:p>
            <a:pPr lvl="1"/>
            <a:r>
              <a:rPr lang="en-US" dirty="0"/>
              <a:t>Need your feedback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BE6A3-ED12-515F-1028-F85F299E3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FF5452-282B-87C1-47EA-E46A68269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152" y="536859"/>
            <a:ext cx="7157215" cy="487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204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5364D-9978-6A04-C9F5-A9C557EA8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51529F-348E-A27A-8167-2D4D321BA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800212" cy="432981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It is encouraged! </a:t>
            </a:r>
          </a:p>
          <a:p>
            <a:pPr lvl="1"/>
            <a:r>
              <a:rPr lang="en-US" sz="2200" dirty="0"/>
              <a:t>Use it for labs, problems, projects</a:t>
            </a:r>
          </a:p>
          <a:p>
            <a:r>
              <a:rPr lang="en-US" sz="2400" dirty="0"/>
              <a:t>But learn to use it well:</a:t>
            </a:r>
          </a:p>
          <a:p>
            <a:pPr lvl="1"/>
            <a:r>
              <a:rPr lang="en-US" sz="2200" dirty="0"/>
              <a:t>It still makes mistakes.</a:t>
            </a:r>
          </a:p>
          <a:p>
            <a:pPr lvl="1"/>
            <a:r>
              <a:rPr lang="en-US" sz="2200" dirty="0"/>
              <a:t>Learn to test the results</a:t>
            </a:r>
          </a:p>
          <a:p>
            <a:pPr lvl="1"/>
            <a:r>
              <a:rPr lang="en-US" sz="2200" dirty="0"/>
              <a:t>Write clear, specific prompts</a:t>
            </a:r>
          </a:p>
          <a:p>
            <a:pPr lvl="1"/>
            <a:r>
              <a:rPr lang="en-US" sz="2200" dirty="0"/>
              <a:t>Use it as a tutor</a:t>
            </a:r>
          </a:p>
          <a:p>
            <a:pPr lvl="1"/>
            <a:r>
              <a:rPr lang="en-US" sz="2200" dirty="0"/>
              <a:t>Have it generate questions</a:t>
            </a:r>
          </a:p>
          <a:p>
            <a:pPr lvl="1"/>
            <a:r>
              <a:rPr lang="en-US" sz="2200" dirty="0"/>
              <a:t>Explain results</a:t>
            </a:r>
          </a:p>
          <a:p>
            <a:r>
              <a:rPr lang="en-US" sz="2400" dirty="0"/>
              <a:t>On the midterm &amp; final there are 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no aids</a:t>
            </a:r>
            <a:r>
              <a:rPr lang="en-US" sz="2400" dirty="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DEE8DA-A9AA-7730-E9CB-A591A192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03A549-734E-A848-927E-67B41A99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588" y="470266"/>
            <a:ext cx="4525563" cy="6365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FB749-33A9-D03F-9B82-6BBE0F404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492" y="1326814"/>
            <a:ext cx="4543659" cy="4496031"/>
          </a:xfrm>
          <a:prstGeom prst="rect">
            <a:avLst/>
          </a:prstGeom>
        </p:spPr>
      </p:pic>
      <p:pic>
        <p:nvPicPr>
          <p:cNvPr id="3074" name="Picture 2" descr="Microsoft Copilot Icon | Dashboard Icons">
            <a:extLst>
              <a:ext uri="{FF2B5EF4-FFF2-40B4-BE49-F238E27FC236}">
                <a16:creationId xmlns:a16="http://schemas.microsoft.com/office/drawing/2014/main" id="{D5159984-BBBE-2871-4051-9B819EB70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6338" y="3372290"/>
            <a:ext cx="15430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657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FDD44-B2BF-8B90-2BE0-A070DE05E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Syllabus 1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8400A8-C147-B745-7C3D-C5AFBD84BB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037384"/>
              </p:ext>
            </p:extLst>
          </p:nvPr>
        </p:nvGraphicFramePr>
        <p:xfrm>
          <a:off x="1096962" y="1539875"/>
          <a:ext cx="10143467" cy="3535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346">
                  <a:extLst>
                    <a:ext uri="{9D8B030D-6E8A-4147-A177-3AD203B41FA5}">
                      <a16:colId xmlns:a16="http://schemas.microsoft.com/office/drawing/2014/main" val="1162944792"/>
                    </a:ext>
                  </a:extLst>
                </a:gridCol>
                <a:gridCol w="1808477">
                  <a:extLst>
                    <a:ext uri="{9D8B030D-6E8A-4147-A177-3AD203B41FA5}">
                      <a16:colId xmlns:a16="http://schemas.microsoft.com/office/drawing/2014/main" val="116422087"/>
                    </a:ext>
                  </a:extLst>
                </a:gridCol>
                <a:gridCol w="6573644">
                  <a:extLst>
                    <a:ext uri="{9D8B030D-6E8A-4147-A177-3AD203B41FA5}">
                      <a16:colId xmlns:a16="http://schemas.microsoft.com/office/drawing/2014/main" val="1302085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Week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Date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Material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69190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1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1/20/2026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Course Admin</a:t>
                      </a:r>
                      <a:br>
                        <a:rPr lang="en-US" sz="2000" dirty="0">
                          <a:effectLst/>
                        </a:rPr>
                      </a:br>
                      <a:r>
                        <a:rPr lang="en-US" sz="2000" dirty="0">
                          <a:effectLst/>
                        </a:rPr>
                        <a:t>Unit 1. Data Types and Combinational Logic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0413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1/27/2026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2. Sequential Logic and Finite State Machines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74458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2/3/2026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3. Floating and Fixed Point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58932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2/10/2026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4. Bus Basics and Memory Mapped Interfaces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73203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5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2/17/2026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5. FIFO and Streaming Interfaces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10311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2/24/2026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6. Loop optimization 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448771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7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3/3/2026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2000" dirty="0">
                          <a:effectLst/>
                        </a:rPr>
                        <a:t>Buffer</a:t>
                      </a:r>
                    </a:p>
                  </a:txBody>
                  <a:tcPr marL="9525" marR="9525" marT="6350" marB="6350" anchor="b"/>
                </a:tc>
                <a:extLst>
                  <a:ext uri="{0D108BD9-81ED-4DB2-BD59-A6C34878D82A}">
                    <a16:rowId xmlns:a16="http://schemas.microsoft.com/office/drawing/2014/main" val="97516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8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3/10/2026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Midterm 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19691855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EB11B2-DE58-4074-6A66-8F453F163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328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B24FB-2A5A-7E8F-FD25-6693D4AA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99935-D634-7EE9-D67B-BB8411763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Tentative Syllabus 2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EC43772-48DD-44B5-72A1-25BC35D705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7267486"/>
              </p:ext>
            </p:extLst>
          </p:nvPr>
        </p:nvGraphicFramePr>
        <p:xfrm>
          <a:off x="1096962" y="1539875"/>
          <a:ext cx="10143467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1346">
                  <a:extLst>
                    <a:ext uri="{9D8B030D-6E8A-4147-A177-3AD203B41FA5}">
                      <a16:colId xmlns:a16="http://schemas.microsoft.com/office/drawing/2014/main" val="1162944792"/>
                    </a:ext>
                  </a:extLst>
                </a:gridCol>
                <a:gridCol w="1808477">
                  <a:extLst>
                    <a:ext uri="{9D8B030D-6E8A-4147-A177-3AD203B41FA5}">
                      <a16:colId xmlns:a16="http://schemas.microsoft.com/office/drawing/2014/main" val="116422087"/>
                    </a:ext>
                  </a:extLst>
                </a:gridCol>
                <a:gridCol w="6573644">
                  <a:extLst>
                    <a:ext uri="{9D8B030D-6E8A-4147-A177-3AD203B41FA5}">
                      <a16:colId xmlns:a16="http://schemas.microsoft.com/office/drawing/2014/main" val="1302085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Week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Date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Material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69190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9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3/17/2026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Spring Break- No class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04138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10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3/24/2026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6. FIR filters and systolic arrays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744584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11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3/31/2026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7. Shared memory and the load-store compute pattern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589326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12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4/7/2026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8. Multi-threaded control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732035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13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4/14/2026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Unit 10. Multiple processes and message passing architectures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2103112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effectLst/>
                        </a:rPr>
                        <a:t>14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 dirty="0">
                          <a:effectLst/>
                        </a:rPr>
                        <a:t>4/21/2026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effectLst/>
                        </a:rPr>
                        <a:t>Buffer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344877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15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4/28/2026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Final Exam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9751642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endParaRPr lang="en-US" sz="2000">
                        <a:solidFill>
                          <a:schemeClr val="accent1">
                            <a:lumMod val="75000"/>
                          </a:schemeClr>
                        </a:solidFill>
                        <a:effectLst/>
                      </a:endParaRP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algn="r" rtl="0" fontAlgn="t">
                        <a:buNone/>
                      </a:pPr>
                      <a:r>
                        <a:rPr lang="en-US" sz="200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5/5/2026</a:t>
                      </a:r>
                    </a:p>
                  </a:txBody>
                  <a:tcPr marL="9525" marR="9525" marT="6350" marB="6350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2000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</a:rPr>
                        <a:t>Project presentations</a:t>
                      </a:r>
                    </a:p>
                  </a:txBody>
                  <a:tcPr marL="9525" marR="9525" marT="6350" marB="6350"/>
                </a:tc>
                <a:extLst>
                  <a:ext uri="{0D108BD9-81ED-4DB2-BD59-A6C34878D82A}">
                    <a16:rowId xmlns:a16="http://schemas.microsoft.com/office/drawing/2014/main" val="19691855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F7BBD-0119-B8DA-D611-76AC282DD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57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5BDE0-DB38-CCE7-08CF-D58ABC282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42AEA-049B-D207-24AB-B2B8F15C2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6733953" cy="4329817"/>
          </a:xfrm>
        </p:spPr>
        <p:txBody>
          <a:bodyPr/>
          <a:lstStyle/>
          <a:p>
            <a:r>
              <a:rPr lang="en-US" dirty="0"/>
              <a:t>Build your own IP</a:t>
            </a:r>
          </a:p>
          <a:p>
            <a:r>
              <a:rPr lang="en-US" dirty="0"/>
              <a:t>You must provide:</a:t>
            </a:r>
          </a:p>
          <a:p>
            <a:pPr lvl="1"/>
            <a:r>
              <a:rPr lang="en-US" dirty="0"/>
              <a:t>A clearly defined hardware IP block (RTL or HLS)</a:t>
            </a:r>
          </a:p>
          <a:p>
            <a:pPr lvl="1"/>
            <a:r>
              <a:rPr lang="en-US" dirty="0"/>
              <a:t>A well‑specified interface and integration model with a host system</a:t>
            </a:r>
          </a:p>
          <a:p>
            <a:pPr lvl="1"/>
            <a:r>
              <a:rPr lang="en-US" dirty="0"/>
              <a:t>A testbench and evaluation methodology</a:t>
            </a:r>
          </a:p>
          <a:p>
            <a:pPr lvl="1"/>
            <a:r>
              <a:rPr lang="en-US" dirty="0"/>
              <a:t>Documentation that allows others to reproduce your result</a:t>
            </a:r>
          </a:p>
          <a:p>
            <a:r>
              <a:rPr lang="en-US" dirty="0"/>
              <a:t>Any topic of choice</a:t>
            </a:r>
          </a:p>
          <a:p>
            <a:pPr lvl="1"/>
            <a:r>
              <a:rPr lang="en-US" dirty="0"/>
              <a:t>Computer vision, communications, computing, …</a:t>
            </a:r>
          </a:p>
          <a:p>
            <a:r>
              <a:rPr lang="en-US" dirty="0"/>
              <a:t>Work in groups of 2 to 4</a:t>
            </a:r>
          </a:p>
          <a:p>
            <a:pPr lvl="1"/>
            <a:r>
              <a:rPr lang="en-US" dirty="0"/>
              <a:t>Individual projects require instructor permission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9AC8-B9AB-9076-444E-5FDC01E51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15</a:t>
            </a:fld>
            <a:endParaRPr lang="en-US" dirty="0"/>
          </a:p>
        </p:txBody>
      </p:sp>
      <p:pic>
        <p:nvPicPr>
          <p:cNvPr id="2050" name="Picture 2" descr="Asic - Free icons">
            <a:extLst>
              <a:ext uri="{FF2B5EF4-FFF2-40B4-BE49-F238E27FC236}">
                <a16:creationId xmlns:a16="http://schemas.microsoft.com/office/drawing/2014/main" id="{78C6B843-6476-291A-BDC6-42E6053793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299" y="2438042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680FE2-22BB-E33C-50B1-4220C555D317}"/>
              </a:ext>
            </a:extLst>
          </p:cNvPr>
          <p:cNvSpPr txBox="1"/>
          <p:nvPr/>
        </p:nvSpPr>
        <p:spPr>
          <a:xfrm>
            <a:off x="10410668" y="3747530"/>
            <a:ext cx="14900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Hardware IP</a:t>
            </a:r>
            <a:br>
              <a:rPr lang="en-US" dirty="0"/>
            </a:br>
            <a:r>
              <a:rPr lang="en-US" dirty="0"/>
              <a:t>or accelerator</a:t>
            </a:r>
          </a:p>
        </p:txBody>
      </p:sp>
      <p:pic>
        <p:nvPicPr>
          <p:cNvPr id="2054" name="Picture 6" descr="Desktop Computer Icon Computer PNG &amp; SVG Design For T-Shirts">
            <a:extLst>
              <a:ext uri="{FF2B5EF4-FFF2-40B4-BE49-F238E27FC236}">
                <a16:creationId xmlns:a16="http://schemas.microsoft.com/office/drawing/2014/main" id="{8BECE664-233D-F17B-EE19-DAFD81484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6275" y="2153619"/>
            <a:ext cx="1872753" cy="1872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91434D6A-6C17-B593-8155-ABB0406CDF06}"/>
              </a:ext>
            </a:extLst>
          </p:cNvPr>
          <p:cNvSpPr/>
          <p:nvPr/>
        </p:nvSpPr>
        <p:spPr>
          <a:xfrm>
            <a:off x="9799028" y="2932771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AE51BA-1953-9205-B7E6-3A975352BE85}"/>
              </a:ext>
            </a:extLst>
          </p:cNvPr>
          <p:cNvSpPr txBox="1"/>
          <p:nvPr/>
        </p:nvSpPr>
        <p:spPr>
          <a:xfrm>
            <a:off x="8195994" y="3972747"/>
            <a:ext cx="13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 system</a:t>
            </a:r>
          </a:p>
        </p:txBody>
      </p:sp>
    </p:spTree>
    <p:extLst>
      <p:ext uri="{BB962C8B-B14F-4D97-AF65-F5344CB8AC3E}">
        <p14:creationId xmlns:p14="http://schemas.microsoft.com/office/powerpoint/2010/main" val="310662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0F3B-5DBC-8099-0474-17F5B6270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Grading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0F26-9E43-10CA-0586-B6E227544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See full rubric on </a:t>
            </a:r>
            <a:r>
              <a:rPr lang="en-US" dirty="0">
                <a:hlinkClick r:id="rId2"/>
              </a:rPr>
              <a:t>project page </a:t>
            </a:r>
            <a:r>
              <a:rPr lang="en-US" dirty="0"/>
              <a:t>on the GitHub pages</a:t>
            </a:r>
          </a:p>
          <a:p>
            <a:r>
              <a:rPr lang="en-US" dirty="0"/>
              <a:t>Submission on GitHub</a:t>
            </a:r>
          </a:p>
          <a:p>
            <a:pPr lvl="1"/>
            <a:r>
              <a:rPr lang="en-US" dirty="0"/>
              <a:t>Create a repo for the project.  You can start now!</a:t>
            </a:r>
          </a:p>
          <a:p>
            <a:pPr lvl="1"/>
            <a:r>
              <a:rPr lang="en-US" dirty="0"/>
              <a:t>Submit only the repo URL.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 definition and interface</a:t>
            </a:r>
            <a:r>
              <a:rPr lang="en-US" dirty="0"/>
              <a:t>:  Clear role, well-justified boundary between host and IP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IP implementation</a:t>
            </a:r>
            <a:r>
              <a:rPr lang="en-US" dirty="0"/>
              <a:t>:  Efficient design, correct, design choices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Evaluation</a:t>
            </a:r>
            <a:r>
              <a:rPr lang="en-US" dirty="0"/>
              <a:t>:  </a:t>
            </a:r>
          </a:p>
          <a:p>
            <a:pPr lvl="1"/>
            <a:r>
              <a:rPr lang="en-US" dirty="0"/>
              <a:t>Testbench that are comprehensive, test corner cases, evaluate performance</a:t>
            </a:r>
          </a:p>
          <a:p>
            <a:pPr lvl="1"/>
            <a:r>
              <a:rPr lang="en-US" dirty="0"/>
              <a:t>Measure design options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Process</a:t>
            </a:r>
            <a:r>
              <a:rPr lang="en-US" dirty="0"/>
              <a:t>: Graded on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GitHub commit history</a:t>
            </a:r>
            <a:r>
              <a:rPr lang="en-US" dirty="0"/>
              <a:t>.  No last minute drop before deadline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Presentation</a:t>
            </a:r>
            <a:r>
              <a:rPr lang="en-US" dirty="0"/>
              <a:t>:  Assume you are pitching to a prospective employer 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125CD-800D-62BE-6974-659966117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299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42C7-D3BA-6730-8276-1E0711A2C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A82E-04A7-7D35-F1AC-E5D414CC6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EAC19-0A96-EDB9-920C-8C09F17EA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Course Admin</a:t>
            </a:r>
          </a:p>
          <a:p>
            <a:endParaRPr lang="en-US" sz="2400" dirty="0"/>
          </a:p>
          <a:p>
            <a:r>
              <a:rPr lang="en-US" sz="2400" dirty="0"/>
              <a:t>What is Custom Hardware and What Can it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7AD15-543A-1947-CCEA-68FAC3297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07C7E60-1E2F-8729-0E87-ADDB9DFF6935}"/>
              </a:ext>
            </a:extLst>
          </p:cNvPr>
          <p:cNvSpPr/>
          <p:nvPr/>
        </p:nvSpPr>
        <p:spPr>
          <a:xfrm>
            <a:off x="427849" y="2470254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155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577C3-770B-D4E0-D6C5-FF26537A1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vs.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A37F-9A5E-8D51-07C3-61D1F1E2A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4279583" cy="43298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Hardware  </a:t>
            </a:r>
          </a:p>
          <a:p>
            <a:pPr marL="0" indent="0">
              <a:buNone/>
            </a:pPr>
            <a:r>
              <a:rPr lang="en-US" sz="2400" i="1" dirty="0"/>
              <a:t>Any electronic circuit that performs some computation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070E-1FD7-289A-80F6-D62A03A9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3825D09-E50C-96AE-B886-F8E7C43AC875}"/>
              </a:ext>
            </a:extLst>
          </p:cNvPr>
          <p:cNvSpPr txBox="1">
            <a:spLocks/>
          </p:cNvSpPr>
          <p:nvPr/>
        </p:nvSpPr>
        <p:spPr>
          <a:xfrm>
            <a:off x="6221730" y="1463077"/>
            <a:ext cx="4279583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Software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sz="2400" i="1" dirty="0"/>
              <a:t>Instructions executed on hardware</a:t>
            </a:r>
          </a:p>
        </p:txBody>
      </p:sp>
      <p:pic>
        <p:nvPicPr>
          <p:cNvPr id="1026" name="Picture 2" descr="Asic - Free icons">
            <a:extLst>
              <a:ext uri="{FF2B5EF4-FFF2-40B4-BE49-F238E27FC236}">
                <a16:creationId xmlns:a16="http://schemas.microsoft.com/office/drawing/2014/main" id="{A127B8B9-11D9-72E1-20D2-7C2DFA90C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0687" y="3115691"/>
            <a:ext cx="142875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oftware Icon Vector Set on White Background Stock Vector - Illustration of  system, vector: 330039356">
            <a:extLst>
              <a:ext uri="{FF2B5EF4-FFF2-40B4-BE49-F238E27FC236}">
                <a16:creationId xmlns:a16="http://schemas.microsoft.com/office/drawing/2014/main" id="{BF57CD19-2599-72DF-EA35-37545C462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8" t="21334" r="16319" b="16795"/>
          <a:stretch>
            <a:fillRect/>
          </a:stretch>
        </p:blipFill>
        <p:spPr bwMode="auto">
          <a:xfrm>
            <a:off x="6831330" y="2624679"/>
            <a:ext cx="2550795" cy="2529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1801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C9320-3639-F55F-3728-81C671508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Comes in Many Forms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F72C6-E897-D9D3-7BFF-4B50BCFC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19</a:t>
            </a:fld>
            <a:endParaRPr lang="en-US" dirty="0"/>
          </a:p>
        </p:txBody>
      </p:sp>
      <p:pic>
        <p:nvPicPr>
          <p:cNvPr id="2050" name="Picture 2" descr="A Beginner's Guide to NVIDIA GPUs in ...">
            <a:extLst>
              <a:ext uri="{FF2B5EF4-FFF2-40B4-BE49-F238E27FC236}">
                <a16:creationId xmlns:a16="http://schemas.microsoft.com/office/drawing/2014/main" id="{41D49556-CCC9-1195-BABE-D4519392E2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9919"/>
          <a:stretch>
            <a:fillRect/>
          </a:stretch>
        </p:blipFill>
        <p:spPr bwMode="auto">
          <a:xfrm>
            <a:off x="4962135" y="1484879"/>
            <a:ext cx="1779521" cy="1619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BX80673I97940X Core Processor ...">
            <a:extLst>
              <a:ext uri="{FF2B5EF4-FFF2-40B4-BE49-F238E27FC236}">
                <a16:creationId xmlns:a16="http://schemas.microsoft.com/office/drawing/2014/main" id="{D81F071C-FCB1-45D0-A7EF-BBC274C14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58" y="1664760"/>
            <a:ext cx="1709487" cy="1368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04B3BB-0094-BE36-2E20-362D6BE3EBA1}"/>
              </a:ext>
            </a:extLst>
          </p:cNvPr>
          <p:cNvSpPr txBox="1"/>
          <p:nvPr/>
        </p:nvSpPr>
        <p:spPr>
          <a:xfrm>
            <a:off x="554095" y="3127613"/>
            <a:ext cx="2269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General purpose CPU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Intel, AMD, ARM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FF4B3-2DEE-08D7-7064-7191AE62434D}"/>
              </a:ext>
            </a:extLst>
          </p:cNvPr>
          <p:cNvSpPr txBox="1"/>
          <p:nvPr/>
        </p:nvSpPr>
        <p:spPr>
          <a:xfrm>
            <a:off x="5292608" y="3127613"/>
            <a:ext cx="979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GPU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Nvidia</a:t>
            </a:r>
            <a:br>
              <a:rPr lang="en-US" dirty="0"/>
            </a:br>
            <a:r>
              <a:rPr lang="en-US" dirty="0"/>
              <a:t>Intel Radeon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6E191-80D6-BB4A-C919-850A5931E8F1}"/>
              </a:ext>
            </a:extLst>
          </p:cNvPr>
          <p:cNvSpPr txBox="1"/>
          <p:nvPr/>
        </p:nvSpPr>
        <p:spPr>
          <a:xfrm>
            <a:off x="7389911" y="3081082"/>
            <a:ext cx="1471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br>
              <a:rPr lang="en-US" dirty="0"/>
            </a:br>
            <a:br>
              <a:rPr lang="en-US" dirty="0"/>
            </a:br>
            <a:r>
              <a:rPr lang="en-US" dirty="0"/>
              <a:t>Xilinx / AMD,</a:t>
            </a:r>
            <a:br>
              <a:rPr lang="en-US" dirty="0"/>
            </a:br>
            <a:r>
              <a:rPr lang="en-US" dirty="0"/>
              <a:t>Intel / Altera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7C2D4-5510-5221-9E5D-A596A5AFC6CA}"/>
              </a:ext>
            </a:extLst>
          </p:cNvPr>
          <p:cNvSpPr txBox="1"/>
          <p:nvPr/>
        </p:nvSpPr>
        <p:spPr>
          <a:xfrm>
            <a:off x="9979816" y="3081082"/>
            <a:ext cx="1642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 ASIC</a:t>
            </a:r>
          </a:p>
          <a:p>
            <a:endParaRPr lang="en-US" dirty="0"/>
          </a:p>
          <a:p>
            <a:r>
              <a:rPr lang="en-US" dirty="0"/>
              <a:t>Qualcomm,</a:t>
            </a:r>
            <a:br>
              <a:rPr lang="en-US" dirty="0"/>
            </a:br>
            <a:r>
              <a:rPr lang="en-US" dirty="0"/>
              <a:t>Apple,</a:t>
            </a:r>
            <a:br>
              <a:rPr lang="en-US" dirty="0"/>
            </a:br>
            <a:r>
              <a:rPr lang="en-US" dirty="0" err="1"/>
              <a:t>Broadcomm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F65182-AFAB-65F8-56F1-9F4135014D34}"/>
              </a:ext>
            </a:extLst>
          </p:cNvPr>
          <p:cNvSpPr txBox="1"/>
          <p:nvPr/>
        </p:nvSpPr>
        <p:spPr>
          <a:xfrm>
            <a:off x="3036482" y="3104355"/>
            <a:ext cx="16974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DSP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Texas Instruments,</a:t>
            </a:r>
          </a:p>
          <a:p>
            <a:r>
              <a:rPr lang="en-US" dirty="0"/>
              <a:t>Qualcomm </a:t>
            </a:r>
            <a:br>
              <a:rPr lang="en-US" dirty="0"/>
            </a:br>
            <a:r>
              <a:rPr lang="en-US" dirty="0"/>
              <a:t>Hexagon</a:t>
            </a:r>
          </a:p>
        </p:txBody>
      </p:sp>
      <p:pic>
        <p:nvPicPr>
          <p:cNvPr id="4098" name="Picture 2" descr="What is a DSP chip？-Perceptive Electronic Components">
            <a:extLst>
              <a:ext uri="{FF2B5EF4-FFF2-40B4-BE49-F238E27FC236}">
                <a16:creationId xmlns:a16="http://schemas.microsoft.com/office/drawing/2014/main" id="{F1788B4F-0630-2F00-8E9E-E45AAEFE19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6482" y="1744548"/>
            <a:ext cx="1508972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uide to Xilinx FPGA Naming Standards">
            <a:extLst>
              <a:ext uri="{FF2B5EF4-FFF2-40B4-BE49-F238E27FC236}">
                <a16:creationId xmlns:a16="http://schemas.microsoft.com/office/drawing/2014/main" id="{46E536F7-7C71-DB9C-B243-0EE7AECB0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339" y="1717012"/>
            <a:ext cx="1700753" cy="1127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lot of ASIC layout submitted for ...">
            <a:extLst>
              <a:ext uri="{FF2B5EF4-FFF2-40B4-BE49-F238E27FC236}">
                <a16:creationId xmlns:a16="http://schemas.microsoft.com/office/drawing/2014/main" id="{AA2D2641-7931-56F0-87E5-43B2C8CC3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2806" y="1556298"/>
            <a:ext cx="1396858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3513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C3C52-335B-29E0-BE43-B8BD41368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D7CA-21FA-EDF3-BA4C-1A7999F5A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Purpose vs. Custom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CA96F-A1F5-2FD8-28A7-6310F3D7E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20</a:t>
            </a:fld>
            <a:endParaRPr lang="en-US" dirty="0"/>
          </a:p>
        </p:txBody>
      </p:sp>
      <p:pic>
        <p:nvPicPr>
          <p:cNvPr id="2050" name="Picture 2" descr="A Beginner's Guide to NVIDIA GPUs in ...">
            <a:extLst>
              <a:ext uri="{FF2B5EF4-FFF2-40B4-BE49-F238E27FC236}">
                <a16:creationId xmlns:a16="http://schemas.microsoft.com/office/drawing/2014/main" id="{6E334859-4FD4-1613-91B8-E7708AD442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1" r="19919"/>
          <a:stretch>
            <a:fillRect/>
          </a:stretch>
        </p:blipFill>
        <p:spPr bwMode="auto">
          <a:xfrm>
            <a:off x="5155614" y="1573634"/>
            <a:ext cx="1143011" cy="1040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ntel BX80673I97940X Core Processor ...">
            <a:extLst>
              <a:ext uri="{FF2B5EF4-FFF2-40B4-BE49-F238E27FC236}">
                <a16:creationId xmlns:a16="http://schemas.microsoft.com/office/drawing/2014/main" id="{0D83F79C-FD65-CAB2-F43B-CF5013B1FB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33" y="1744548"/>
            <a:ext cx="1044724" cy="836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CC9FA8-D877-BBB0-41E7-9B89EF5CADDC}"/>
              </a:ext>
            </a:extLst>
          </p:cNvPr>
          <p:cNvSpPr txBox="1"/>
          <p:nvPr/>
        </p:nvSpPr>
        <p:spPr>
          <a:xfrm>
            <a:off x="503295" y="2579435"/>
            <a:ext cx="2269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General purpose CPU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5C6E09-37A7-CBBA-791C-161838250DC1}"/>
              </a:ext>
            </a:extLst>
          </p:cNvPr>
          <p:cNvSpPr txBox="1"/>
          <p:nvPr/>
        </p:nvSpPr>
        <p:spPr>
          <a:xfrm>
            <a:off x="5479586" y="2579435"/>
            <a:ext cx="979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GPU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E7CD8A-9092-E70C-0C59-0DDE5D74161F}"/>
              </a:ext>
            </a:extLst>
          </p:cNvPr>
          <p:cNvSpPr txBox="1"/>
          <p:nvPr/>
        </p:nvSpPr>
        <p:spPr>
          <a:xfrm>
            <a:off x="7580081" y="2579435"/>
            <a:ext cx="1471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A1919C-A593-0E2B-5C81-1E50887CCCB1}"/>
              </a:ext>
            </a:extLst>
          </p:cNvPr>
          <p:cNvSpPr txBox="1"/>
          <p:nvPr/>
        </p:nvSpPr>
        <p:spPr>
          <a:xfrm>
            <a:off x="9929016" y="2579435"/>
            <a:ext cx="1642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Custom ASIC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3AE82-8F47-477F-4A6B-66CF37FE473E}"/>
              </a:ext>
            </a:extLst>
          </p:cNvPr>
          <p:cNvSpPr txBox="1"/>
          <p:nvPr/>
        </p:nvSpPr>
        <p:spPr>
          <a:xfrm>
            <a:off x="3448923" y="2579435"/>
            <a:ext cx="97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DSP</a:t>
            </a:r>
            <a:endParaRPr lang="en-US" dirty="0"/>
          </a:p>
        </p:txBody>
      </p:sp>
      <p:pic>
        <p:nvPicPr>
          <p:cNvPr id="4098" name="Picture 2" descr="What is a DSP chip？-Perceptive Electronic Components">
            <a:extLst>
              <a:ext uri="{FF2B5EF4-FFF2-40B4-BE49-F238E27FC236}">
                <a16:creationId xmlns:a16="http://schemas.microsoft.com/office/drawing/2014/main" id="{BDD208B4-800C-FB6B-C35C-D1A90AE72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6832" y="1744548"/>
            <a:ext cx="957920" cy="698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 Guide to Xilinx FPGA Naming Standards">
            <a:extLst>
              <a:ext uri="{FF2B5EF4-FFF2-40B4-BE49-F238E27FC236}">
                <a16:creationId xmlns:a16="http://schemas.microsoft.com/office/drawing/2014/main" id="{379B6A6B-825D-56F0-B37B-E4098A17F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190" y="1744548"/>
            <a:ext cx="1029614" cy="682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lot of ASIC layout submitted for ...">
            <a:extLst>
              <a:ext uri="{FF2B5EF4-FFF2-40B4-BE49-F238E27FC236}">
                <a16:creationId xmlns:a16="http://schemas.microsoft.com/office/drawing/2014/main" id="{B5A80F2A-32AD-2542-7937-F35192C891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1658" y="1573634"/>
            <a:ext cx="880762" cy="876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rrow: Right 2">
            <a:extLst>
              <a:ext uri="{FF2B5EF4-FFF2-40B4-BE49-F238E27FC236}">
                <a16:creationId xmlns:a16="http://schemas.microsoft.com/office/drawing/2014/main" id="{6E15B4DD-4CE7-2A33-BAA3-5B6DC78D2AE2}"/>
              </a:ext>
            </a:extLst>
          </p:cNvPr>
          <p:cNvSpPr/>
          <p:nvPr/>
        </p:nvSpPr>
        <p:spPr>
          <a:xfrm rot="10800000">
            <a:off x="1838458" y="3272918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5706709-DF52-47C8-7657-7A6CADEA268B}"/>
              </a:ext>
            </a:extLst>
          </p:cNvPr>
          <p:cNvSpPr/>
          <p:nvPr/>
        </p:nvSpPr>
        <p:spPr>
          <a:xfrm>
            <a:off x="8614135" y="3275875"/>
            <a:ext cx="978408" cy="484632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AC2C1-B658-1CDD-25BC-E1EEAB5DB3EE}"/>
              </a:ext>
            </a:extLst>
          </p:cNvPr>
          <p:cNvSpPr txBox="1"/>
          <p:nvPr/>
        </p:nvSpPr>
        <p:spPr>
          <a:xfrm>
            <a:off x="908046" y="3880575"/>
            <a:ext cx="46609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General purpose,</a:t>
            </a:r>
            <a:br>
              <a:rPr lang="en-US" sz="1600" dirty="0"/>
            </a:br>
            <a:r>
              <a:rPr lang="en-US" sz="1600" dirty="0"/>
              <a:t>Applies in many domains,</a:t>
            </a:r>
            <a:br>
              <a:rPr lang="en-US" sz="1600" dirty="0"/>
            </a:br>
            <a:r>
              <a:rPr lang="en-US" sz="1600" dirty="0"/>
              <a:t>Re-programmed with software,</a:t>
            </a:r>
            <a:br>
              <a:rPr lang="en-US" sz="1600" dirty="0"/>
            </a:br>
            <a:r>
              <a:rPr lang="en-US" sz="1600" dirty="0"/>
              <a:t>Performance via SW optimization, multi-cores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FF7D6-23CC-6A53-696A-72A0EE800819}"/>
              </a:ext>
            </a:extLst>
          </p:cNvPr>
          <p:cNvSpPr txBox="1"/>
          <p:nvPr/>
        </p:nvSpPr>
        <p:spPr>
          <a:xfrm>
            <a:off x="7724989" y="3960927"/>
            <a:ext cx="31552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Domain specific,</a:t>
            </a:r>
            <a:br>
              <a:rPr lang="en-US" sz="1600" dirty="0"/>
            </a:br>
            <a:r>
              <a:rPr lang="en-US" sz="1600" dirty="0"/>
              <a:t>HW optimized for specific task,</a:t>
            </a:r>
            <a:br>
              <a:rPr lang="en-US" sz="1600" dirty="0"/>
            </a:br>
            <a:r>
              <a:rPr lang="en-US" sz="1600" dirty="0"/>
              <a:t>Can enable: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Higher performance,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Lower power / OP, size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F30264-AAC2-89FE-38BD-3F6B9C214ADC}"/>
              </a:ext>
            </a:extLst>
          </p:cNvPr>
          <p:cNvSpPr txBox="1"/>
          <p:nvPr/>
        </p:nvSpPr>
        <p:spPr>
          <a:xfrm>
            <a:off x="8202649" y="5633785"/>
            <a:ext cx="2288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Focus of this course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2512B1A-E24A-F751-05D0-C1A07CEC2CBB}"/>
              </a:ext>
            </a:extLst>
          </p:cNvPr>
          <p:cNvSpPr/>
          <p:nvPr/>
        </p:nvSpPr>
        <p:spPr>
          <a:xfrm rot="16200000">
            <a:off x="9264362" y="3546560"/>
            <a:ext cx="311150" cy="37867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400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8B30-FC83-FD9A-583F-510175BC5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Accelerator or IP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80D9B-BAD9-C35E-A10A-2ADCD901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21</a:t>
            </a:fld>
            <a:endParaRPr lang="en-US" dirty="0"/>
          </a:p>
        </p:txBody>
      </p:sp>
      <p:pic>
        <p:nvPicPr>
          <p:cNvPr id="5" name="Picture 2" descr="Asic - Free icons">
            <a:extLst>
              <a:ext uri="{FF2B5EF4-FFF2-40B4-BE49-F238E27FC236}">
                <a16:creationId xmlns:a16="http://schemas.microsoft.com/office/drawing/2014/main" id="{2D198A59-C386-E6F1-2136-1EB5E3DA23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922" y="2229558"/>
            <a:ext cx="1072840" cy="107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364BE1-B536-A9DB-31A1-CC63C0C6092E}"/>
              </a:ext>
            </a:extLst>
          </p:cNvPr>
          <p:cNvSpPr txBox="1"/>
          <p:nvPr/>
        </p:nvSpPr>
        <p:spPr>
          <a:xfrm>
            <a:off x="6339119" y="3541953"/>
            <a:ext cx="2691571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Hardware IP or accelerator</a:t>
            </a:r>
            <a:br>
              <a:rPr lang="en-US" dirty="0"/>
            </a:br>
            <a:r>
              <a:rPr lang="en-US" sz="1400" dirty="0"/>
              <a:t>Compute intensive tasks</a:t>
            </a:r>
          </a:p>
          <a:p>
            <a:r>
              <a:rPr lang="en-US" sz="1400" dirty="0"/>
              <a:t>Domain specific</a:t>
            </a:r>
          </a:p>
        </p:txBody>
      </p:sp>
      <p:pic>
        <p:nvPicPr>
          <p:cNvPr id="7" name="Picture 6" descr="Desktop Computer Icon Computer PNG &amp; SVG Design For T-Shirts">
            <a:extLst>
              <a:ext uri="{FF2B5EF4-FFF2-40B4-BE49-F238E27FC236}">
                <a16:creationId xmlns:a16="http://schemas.microsoft.com/office/drawing/2014/main" id="{582F8914-FDA1-332F-1F34-58FC78D7B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438" y="1948043"/>
            <a:ext cx="1606455" cy="1606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CC71A5C9-D584-DF02-58FB-2DA2DA0B1EDC}"/>
              </a:ext>
            </a:extLst>
          </p:cNvPr>
          <p:cNvSpPr/>
          <p:nvPr/>
        </p:nvSpPr>
        <p:spPr>
          <a:xfrm>
            <a:off x="5900982" y="2589821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CA358E-D56C-FFD2-9565-B5F5EAC15C78}"/>
              </a:ext>
            </a:extLst>
          </p:cNvPr>
          <p:cNvSpPr txBox="1"/>
          <p:nvPr/>
        </p:nvSpPr>
        <p:spPr>
          <a:xfrm>
            <a:off x="3547478" y="3541952"/>
            <a:ext cx="194463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Embedded Processor</a:t>
            </a:r>
            <a:br>
              <a:rPr lang="en-US" sz="1600" dirty="0"/>
            </a:br>
            <a:r>
              <a:rPr lang="en-US" sz="1400" dirty="0"/>
              <a:t>(DSP, ARM,…)</a:t>
            </a:r>
            <a:br>
              <a:rPr lang="en-US" sz="1400" dirty="0"/>
            </a:br>
            <a:r>
              <a:rPr lang="en-US" sz="1400" dirty="0"/>
              <a:t>Configures HW,</a:t>
            </a:r>
            <a:br>
              <a:rPr lang="en-US" sz="1400" dirty="0"/>
            </a:br>
            <a:r>
              <a:rPr lang="en-US" sz="1400" dirty="0"/>
              <a:t>Manages data transfer,</a:t>
            </a:r>
            <a:br>
              <a:rPr lang="en-US" sz="1400" dirty="0"/>
            </a:br>
            <a:r>
              <a:rPr lang="en-US" sz="1400" dirty="0"/>
              <a:t>Performs some DSP</a:t>
            </a:r>
          </a:p>
        </p:txBody>
      </p:sp>
      <p:pic>
        <p:nvPicPr>
          <p:cNvPr id="10" name="Picture 2" descr="What is a DSP chip？-Perceptive Electronic Components">
            <a:extLst>
              <a:ext uri="{FF2B5EF4-FFF2-40B4-BE49-F238E27FC236}">
                <a16:creationId xmlns:a16="http://schemas.microsoft.com/office/drawing/2014/main" id="{1A2093CD-7818-780C-D674-5FC9CF4B5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551" y="2215909"/>
            <a:ext cx="1508972" cy="1100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A5ED07-1D32-CB91-D927-26E7A0349461}"/>
              </a:ext>
            </a:extLst>
          </p:cNvPr>
          <p:cNvSpPr txBox="1"/>
          <p:nvPr/>
        </p:nvSpPr>
        <p:spPr>
          <a:xfrm>
            <a:off x="744162" y="3575562"/>
            <a:ext cx="209531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Host system</a:t>
            </a:r>
            <a:br>
              <a:rPr lang="en-US" sz="1600" dirty="0"/>
            </a:br>
            <a:r>
              <a:rPr lang="en-US" sz="1400" dirty="0"/>
              <a:t>Runs main application,</a:t>
            </a:r>
            <a:br>
              <a:rPr lang="en-US" sz="1400" dirty="0"/>
            </a:br>
            <a:r>
              <a:rPr lang="en-US" sz="1400" dirty="0"/>
              <a:t>User interface,</a:t>
            </a:r>
            <a:br>
              <a:rPr lang="en-US" sz="1400" dirty="0"/>
            </a:br>
            <a:r>
              <a:rPr lang="en-US" sz="1400" dirty="0"/>
              <a:t>May be embedded as well</a:t>
            </a:r>
            <a:br>
              <a:rPr lang="en-US" sz="1400" dirty="0"/>
            </a:br>
            <a:r>
              <a:rPr lang="en-US" sz="1400" dirty="0"/>
              <a:t>(e.g., smartphone)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3BBBF18-AD9C-4F40-5760-91B5328C3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3764" y="2276347"/>
            <a:ext cx="1061296" cy="104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430031-78C1-A525-F93A-35EF9DC9AF70}"/>
              </a:ext>
            </a:extLst>
          </p:cNvPr>
          <p:cNvSpPr txBox="1"/>
          <p:nvPr/>
        </p:nvSpPr>
        <p:spPr>
          <a:xfrm>
            <a:off x="9501419" y="3524305"/>
            <a:ext cx="219060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High-speed IO</a:t>
            </a:r>
            <a:br>
              <a:rPr lang="en-US" dirty="0"/>
            </a:br>
            <a:r>
              <a:rPr lang="en-US" sz="1400" dirty="0"/>
              <a:t>Network interface,</a:t>
            </a:r>
            <a:br>
              <a:rPr lang="en-US" sz="1400" dirty="0"/>
            </a:br>
            <a:r>
              <a:rPr lang="en-US" sz="1400" dirty="0"/>
              <a:t>Digital communication data</a:t>
            </a:r>
          </a:p>
        </p:txBody>
      </p:sp>
      <p:sp>
        <p:nvSpPr>
          <p:cNvPr id="13" name="Arrow: Left-Right 12">
            <a:extLst>
              <a:ext uri="{FF2B5EF4-FFF2-40B4-BE49-F238E27FC236}">
                <a16:creationId xmlns:a16="http://schemas.microsoft.com/office/drawing/2014/main" id="{DAEA89D4-5BC4-1DE4-A51F-6C67BAF270A7}"/>
              </a:ext>
            </a:extLst>
          </p:cNvPr>
          <p:cNvSpPr/>
          <p:nvPr/>
        </p:nvSpPr>
        <p:spPr>
          <a:xfrm>
            <a:off x="8716172" y="2608753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Left-Right 13">
            <a:extLst>
              <a:ext uri="{FF2B5EF4-FFF2-40B4-BE49-F238E27FC236}">
                <a16:creationId xmlns:a16="http://schemas.microsoft.com/office/drawing/2014/main" id="{DE51F192-7062-0ADD-6BFB-59AF2B741A08}"/>
              </a:ext>
            </a:extLst>
          </p:cNvPr>
          <p:cNvSpPr/>
          <p:nvPr/>
        </p:nvSpPr>
        <p:spPr>
          <a:xfrm>
            <a:off x="2622763" y="2608753"/>
            <a:ext cx="629035" cy="314450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C07B97A-280B-AD24-0061-71B4B7686AD6}"/>
              </a:ext>
            </a:extLst>
          </p:cNvPr>
          <p:cNvSpPr/>
          <p:nvPr/>
        </p:nvSpPr>
        <p:spPr>
          <a:xfrm>
            <a:off x="6774787" y="4775891"/>
            <a:ext cx="1820233" cy="42743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This class</a:t>
            </a:r>
          </a:p>
        </p:txBody>
      </p:sp>
    </p:spTree>
    <p:extLst>
      <p:ext uri="{BB962C8B-B14F-4D97-AF65-F5344CB8AC3E}">
        <p14:creationId xmlns:p14="http://schemas.microsoft.com/office/powerpoint/2010/main" val="3869065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20A4-5278-111F-CB4E-7533CCDE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Custom Hardware Good 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B9C39-20BE-4DEA-CA79-2ED845B81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Compute‑intensive kernels</a:t>
            </a:r>
          </a:p>
          <a:p>
            <a:pPr lvl="1"/>
            <a:r>
              <a:rPr lang="en-US" dirty="0"/>
              <a:t>High arithmetic density, many operations per data</a:t>
            </a:r>
          </a:p>
          <a:p>
            <a:r>
              <a:rPr lang="en-US" dirty="0">
                <a:solidFill>
                  <a:schemeClr val="accent1"/>
                </a:solidFill>
              </a:rPr>
              <a:t>Structured, repetitive tasks</a:t>
            </a:r>
          </a:p>
          <a:p>
            <a:pPr lvl="1"/>
            <a:r>
              <a:rPr lang="en-US" dirty="0"/>
              <a:t>Same operation repeated many times</a:t>
            </a:r>
          </a:p>
          <a:p>
            <a:pPr lvl="1"/>
            <a:r>
              <a:rPr lang="en-US" dirty="0"/>
              <a:t>Regular data flow, memory access</a:t>
            </a:r>
          </a:p>
          <a:p>
            <a:r>
              <a:rPr lang="en-US" dirty="0">
                <a:solidFill>
                  <a:schemeClr val="accent1"/>
                </a:solidFill>
              </a:rPr>
              <a:t>Regular dataflow and memory patterns</a:t>
            </a:r>
          </a:p>
          <a:p>
            <a:pPr lvl="1"/>
            <a:r>
              <a:rPr lang="en-US" dirty="0"/>
              <a:t>Tight control of timing, no OS jitter</a:t>
            </a:r>
          </a:p>
          <a:p>
            <a:r>
              <a:rPr lang="en-US" dirty="0">
                <a:solidFill>
                  <a:schemeClr val="accent1"/>
                </a:solidFill>
              </a:rPr>
              <a:t>High throughput with low energy</a:t>
            </a:r>
          </a:p>
          <a:p>
            <a:pPr lvl="1"/>
            <a:r>
              <a:rPr lang="en-US" dirty="0"/>
              <a:t>Custom </a:t>
            </a:r>
            <a:r>
              <a:rPr lang="en-US" dirty="0" err="1"/>
              <a:t>datapaths</a:t>
            </a:r>
            <a:r>
              <a:rPr lang="en-US" dirty="0"/>
              <a:t>, optimized bit-widths, specialized memories</a:t>
            </a:r>
          </a:p>
          <a:p>
            <a:r>
              <a:rPr lang="en-US" dirty="0"/>
              <a:t>Examples: DSP, linear algebra, ML inference, crypto, compression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63905-A312-608F-F735-B32331A6F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13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1138A-E3F9-E909-522B-C4EC2CFD3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AC47E-3C48-5565-5BBE-96281351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 Intel Quick Sync Media Processor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EF26C-BF60-B06F-9BC8-83B954B8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23</a:t>
            </a:fld>
            <a:endParaRPr lang="en-US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E677839F-1114-CCCF-BF8A-C54044CCD6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5" r="38798" b="2478"/>
          <a:stretch>
            <a:fillRect/>
          </a:stretch>
        </p:blipFill>
        <p:spPr bwMode="auto">
          <a:xfrm>
            <a:off x="975448" y="1738747"/>
            <a:ext cx="4504023" cy="3849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A8D6D31-5B49-1B5A-2469-860E65A77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7079" y="1628177"/>
            <a:ext cx="5925820" cy="4329817"/>
          </a:xfrm>
        </p:spPr>
        <p:txBody>
          <a:bodyPr>
            <a:normAutofit/>
          </a:bodyPr>
          <a:lstStyle/>
          <a:p>
            <a:r>
              <a:rPr lang="en-US" dirty="0"/>
              <a:t>Intel specialized graphics units</a:t>
            </a:r>
          </a:p>
          <a:p>
            <a:pPr lvl="1"/>
            <a:r>
              <a:rPr lang="en-US" dirty="0"/>
              <a:t>Programmable shaders for parallel math</a:t>
            </a:r>
          </a:p>
          <a:p>
            <a:pPr lvl="1"/>
            <a:r>
              <a:rPr lang="en-US" dirty="0"/>
              <a:t>Fixed‑function blocks (rasterizer, </a:t>
            </a:r>
            <a:r>
              <a:rPr lang="en-US" dirty="0" err="1"/>
              <a:t>tessellator</a:t>
            </a:r>
            <a:r>
              <a:rPr lang="en-US" dirty="0"/>
              <a:t>, texture units)</a:t>
            </a:r>
          </a:p>
          <a:p>
            <a:pPr lvl="1"/>
            <a:r>
              <a:rPr lang="en-US" dirty="0"/>
              <a:t>Media engines for video encode/decode (Quick Sync)</a:t>
            </a:r>
          </a:p>
          <a:p>
            <a:r>
              <a:rPr lang="en-US" dirty="0"/>
              <a:t>Integrated into Core‑i3 / i5 / i7 / i9 processors</a:t>
            </a:r>
          </a:p>
          <a:p>
            <a:pPr lvl="1"/>
            <a:r>
              <a:rPr lang="en-US" dirty="0"/>
              <a:t>Physically part of the CPU die</a:t>
            </a:r>
          </a:p>
          <a:p>
            <a:pPr lvl="1"/>
            <a:r>
              <a:rPr lang="en-US" dirty="0"/>
              <a:t>Shares memory hierarchy with CPU cores</a:t>
            </a:r>
          </a:p>
          <a:p>
            <a:pPr lvl="1"/>
            <a:r>
              <a:rPr lang="en-US" dirty="0"/>
              <a:t>High‑speed on‑chip interfaces</a:t>
            </a:r>
          </a:p>
          <a:p>
            <a:r>
              <a:rPr lang="en-US" dirty="0"/>
              <a:t>Direct access to system memory</a:t>
            </a:r>
          </a:p>
          <a:p>
            <a:pPr lvl="1"/>
            <a:r>
              <a:rPr lang="en-US" dirty="0"/>
              <a:t>High‑bandwidth internal fabric</a:t>
            </a:r>
          </a:p>
          <a:p>
            <a:pPr lvl="1"/>
            <a:r>
              <a:rPr lang="en-US" dirty="0"/>
              <a:t>Connecting CPU, GPU, and media engines</a:t>
            </a:r>
          </a:p>
          <a:p>
            <a:pPr lvl="1"/>
            <a:r>
              <a:rPr lang="en-US" dirty="0"/>
              <a:t>Low‑latency paths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6595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00AE6-2F41-432B-A516-6FCFAA54F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5G Modem Core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407C1-DF8C-6F6E-34BD-8A9710AD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24</a:t>
            </a:fld>
            <a:endParaRPr lang="en-US" dirty="0"/>
          </a:p>
        </p:txBody>
      </p:sp>
      <p:pic>
        <p:nvPicPr>
          <p:cNvPr id="5" name="Picture 2" descr="Asic - Free icons">
            <a:extLst>
              <a:ext uri="{FF2B5EF4-FFF2-40B4-BE49-F238E27FC236}">
                <a16:creationId xmlns:a16="http://schemas.microsoft.com/office/drawing/2014/main" id="{6FD48BF5-CE27-38CF-12AF-0BC6447D91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649" y="1877057"/>
            <a:ext cx="1026051" cy="102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0FEDF7-409B-2849-2219-B3751594F169}"/>
              </a:ext>
            </a:extLst>
          </p:cNvPr>
          <p:cNvSpPr txBox="1"/>
          <p:nvPr/>
        </p:nvSpPr>
        <p:spPr>
          <a:xfrm>
            <a:off x="6767013" y="3081262"/>
            <a:ext cx="1118383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5G HW</a:t>
            </a:r>
            <a:br>
              <a:rPr lang="en-US" dirty="0"/>
            </a:br>
            <a:r>
              <a:rPr lang="en-US" sz="1400" dirty="0"/>
              <a:t>Filtering, </a:t>
            </a:r>
          </a:p>
          <a:p>
            <a:r>
              <a:rPr lang="en-US" sz="1400" dirty="0"/>
              <a:t>Equalization,</a:t>
            </a:r>
            <a:br>
              <a:rPr lang="en-US" sz="1400" dirty="0"/>
            </a:br>
            <a:r>
              <a:rPr lang="en-US" sz="1400" dirty="0"/>
              <a:t>Decoding,</a:t>
            </a:r>
            <a:br>
              <a:rPr lang="en-US" sz="1400" dirty="0"/>
            </a:br>
            <a:r>
              <a:rPr lang="en-US" sz="1400" dirty="0"/>
              <a:t>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0DCD87-AA70-17E0-80EC-C6B7EB92CA3B}"/>
              </a:ext>
            </a:extLst>
          </p:cNvPr>
          <p:cNvSpPr txBox="1"/>
          <p:nvPr/>
        </p:nvSpPr>
        <p:spPr>
          <a:xfrm>
            <a:off x="3503601" y="4896899"/>
            <a:ext cx="1993238" cy="14157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Hexagon DSP</a:t>
            </a:r>
            <a:b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</a:br>
            <a:r>
              <a:rPr lang="en-US" sz="1400" dirty="0"/>
              <a:t>Control channels,</a:t>
            </a:r>
            <a:br>
              <a:rPr lang="en-US" sz="1400" dirty="0"/>
            </a:br>
            <a:r>
              <a:rPr lang="en-US" sz="1400" dirty="0"/>
              <a:t>Infrequent, but complex,</a:t>
            </a:r>
            <a:br>
              <a:rPr lang="en-US" sz="1400" dirty="0"/>
            </a:br>
            <a:r>
              <a:rPr lang="en-US" sz="1400" dirty="0"/>
              <a:t>data processing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 	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4EDC5-2A84-07C5-7094-C505E2BE8E98}"/>
              </a:ext>
            </a:extLst>
          </p:cNvPr>
          <p:cNvSpPr txBox="1"/>
          <p:nvPr/>
        </p:nvSpPr>
        <p:spPr>
          <a:xfrm>
            <a:off x="718762" y="3055106"/>
            <a:ext cx="14776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ARM Core</a:t>
            </a:r>
            <a:br>
              <a:rPr lang="en-US" sz="1600" dirty="0"/>
            </a:br>
            <a:r>
              <a:rPr lang="en-US" sz="1400" dirty="0"/>
              <a:t>Upper layer SW,</a:t>
            </a:r>
            <a:br>
              <a:rPr lang="en-US" sz="1400" dirty="0"/>
            </a:br>
            <a:r>
              <a:rPr lang="en-US" sz="1400" dirty="0"/>
              <a:t>Configuration,</a:t>
            </a:r>
          </a:p>
          <a:p>
            <a:r>
              <a:rPr lang="en-US" sz="1400" dirty="0"/>
              <a:t>Networking,</a:t>
            </a:r>
          </a:p>
          <a:p>
            <a:r>
              <a:rPr lang="en-US" sz="1400" dirty="0"/>
              <a:t>Packet processing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391DB9-042B-F939-7798-298C120B1DA5}"/>
              </a:ext>
            </a:extLst>
          </p:cNvPr>
          <p:cNvSpPr txBox="1"/>
          <p:nvPr/>
        </p:nvSpPr>
        <p:spPr>
          <a:xfrm>
            <a:off x="9673307" y="2986856"/>
            <a:ext cx="22448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RFIC</a:t>
            </a:r>
            <a:br>
              <a:rPr lang="en-US" dirty="0"/>
            </a:br>
            <a:r>
              <a:rPr lang="en-US" sz="1400" dirty="0"/>
              <a:t>Antenna interface,</a:t>
            </a:r>
            <a:br>
              <a:rPr lang="en-US" sz="1400" dirty="0"/>
            </a:br>
            <a:r>
              <a:rPr lang="en-US" sz="1400" dirty="0"/>
              <a:t>Radio frequency operations,</a:t>
            </a:r>
            <a:br>
              <a:rPr lang="en-US" sz="1400" dirty="0"/>
            </a:br>
            <a:r>
              <a:rPr lang="en-US" sz="1400" dirty="0"/>
              <a:t>DACs / ADCs</a:t>
            </a:r>
          </a:p>
        </p:txBody>
      </p:sp>
      <p:sp>
        <p:nvSpPr>
          <p:cNvPr id="15" name="Arrow: Left-Right 14">
            <a:extLst>
              <a:ext uri="{FF2B5EF4-FFF2-40B4-BE49-F238E27FC236}">
                <a16:creationId xmlns:a16="http://schemas.microsoft.com/office/drawing/2014/main" id="{DA58526A-C756-B6C2-09C6-12A7D759E23B}"/>
              </a:ext>
            </a:extLst>
          </p:cNvPr>
          <p:cNvSpPr/>
          <p:nvPr/>
        </p:nvSpPr>
        <p:spPr>
          <a:xfrm>
            <a:off x="2321438" y="2275997"/>
            <a:ext cx="3977762" cy="246718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Qualcomm's Hexagon 685 DSP is a Machine Learning Powerhouse">
            <a:extLst>
              <a:ext uri="{FF2B5EF4-FFF2-40B4-BE49-F238E27FC236}">
                <a16:creationId xmlns:a16="http://schemas.microsoft.com/office/drawing/2014/main" id="{8F067635-8F81-BDC4-96A7-7DC5340D1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448" y="3347134"/>
            <a:ext cx="1621544" cy="1436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 descr="Cpu ARM Icon | Cold Fusion HD Iconpack ...">
            <a:extLst>
              <a:ext uri="{FF2B5EF4-FFF2-40B4-BE49-F238E27FC236}">
                <a16:creationId xmlns:a16="http://schemas.microsoft.com/office/drawing/2014/main" id="{6C9A746E-12FB-67EA-B66C-DEDA82926B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260" y="175589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Arrow: Left-Right 16">
            <a:extLst>
              <a:ext uri="{FF2B5EF4-FFF2-40B4-BE49-F238E27FC236}">
                <a16:creationId xmlns:a16="http://schemas.microsoft.com/office/drawing/2014/main" id="{042F6860-699E-3DD7-745B-24601342B0F2}"/>
              </a:ext>
            </a:extLst>
          </p:cNvPr>
          <p:cNvSpPr/>
          <p:nvPr/>
        </p:nvSpPr>
        <p:spPr>
          <a:xfrm rot="2058403" flipV="1">
            <a:off x="2127445" y="3306701"/>
            <a:ext cx="1630968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24AD7F1-4E14-1A37-8105-B5E6646AD0B5}"/>
              </a:ext>
            </a:extLst>
          </p:cNvPr>
          <p:cNvSpPr/>
          <p:nvPr/>
        </p:nvSpPr>
        <p:spPr>
          <a:xfrm rot="19115223" flipV="1">
            <a:off x="5136023" y="3236739"/>
            <a:ext cx="1630968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34F275D8-7603-A015-214A-B72B1AE49F04}"/>
              </a:ext>
            </a:extLst>
          </p:cNvPr>
          <p:cNvSpPr/>
          <p:nvPr/>
        </p:nvSpPr>
        <p:spPr>
          <a:xfrm flipV="1">
            <a:off x="7710871" y="2209833"/>
            <a:ext cx="1692807" cy="258694"/>
          </a:xfrm>
          <a:prstGeom prst="left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70" name="Picture 6" descr="Choosing the Right RFIC Design Partner">
            <a:extLst>
              <a:ext uri="{FF2B5EF4-FFF2-40B4-BE49-F238E27FC236}">
                <a16:creationId xmlns:a16="http://schemas.microsoft.com/office/drawing/2014/main" id="{87C55D30-F153-6C10-805B-9869B273A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3307" y="1877057"/>
            <a:ext cx="1823982" cy="918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DF7769-D3F0-EE56-88A5-52B8ECB8A87B}"/>
              </a:ext>
            </a:extLst>
          </p:cNvPr>
          <p:cNvSpPr txBox="1"/>
          <p:nvPr/>
        </p:nvSpPr>
        <p:spPr>
          <a:xfrm>
            <a:off x="8068485" y="1843567"/>
            <a:ext cx="1094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Gsamps</a:t>
            </a:r>
            <a:r>
              <a:rPr lang="en-US" sz="1600" dirty="0"/>
              <a:t> / s</a:t>
            </a:r>
          </a:p>
        </p:txBody>
      </p:sp>
    </p:spTree>
    <p:extLst>
      <p:ext uri="{BB962C8B-B14F-4D97-AF65-F5344CB8AC3E}">
        <p14:creationId xmlns:p14="http://schemas.microsoft.com/office/powerpoint/2010/main" val="2901739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AC84-E245-98CD-8B48-37EFE406E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 </a:t>
            </a:r>
            <a:r>
              <a:rPr lang="en-US" dirty="0" err="1"/>
              <a:t>Robomorphic</a:t>
            </a:r>
            <a:r>
              <a:rPr lang="en-US" dirty="0"/>
              <a:t>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D9C84-B569-36FA-BF09-9F8B6D276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Custom accelerator for robotic computation</a:t>
            </a:r>
          </a:p>
          <a:p>
            <a:r>
              <a:rPr lang="en-US" dirty="0"/>
              <a:t>Performs complex kinematic simulations for:</a:t>
            </a:r>
          </a:p>
          <a:p>
            <a:pPr lvl="1"/>
            <a:r>
              <a:rPr lang="en-US" dirty="0"/>
              <a:t>Model predictive control</a:t>
            </a:r>
          </a:p>
          <a:p>
            <a:pPr lvl="1"/>
            <a:r>
              <a:rPr lang="en-US" dirty="0"/>
              <a:t>Path planning</a:t>
            </a:r>
          </a:p>
          <a:p>
            <a:r>
              <a:rPr lang="en-US" dirty="0"/>
              <a:t>Key challenge:</a:t>
            </a:r>
          </a:p>
          <a:p>
            <a:pPr lvl="1"/>
            <a:r>
              <a:rPr lang="en-US" dirty="0"/>
              <a:t>How do you describe robot morphology?</a:t>
            </a:r>
          </a:p>
          <a:p>
            <a:pPr lvl="1"/>
            <a:r>
              <a:rPr lang="en-US" dirty="0"/>
              <a:t>Need a general structure applicable to many robots</a:t>
            </a:r>
          </a:p>
          <a:p>
            <a:pPr lvl="1"/>
            <a:r>
              <a:rPr lang="en-US" dirty="0"/>
              <a:t>Many algorithms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FB40B-0157-4203-791C-6519DEEEE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9F3710-DFAA-8527-FC92-B0C34895F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34" y="1825373"/>
            <a:ext cx="4172532" cy="36009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CB9A43-6499-6C86-8633-423F1A427A3D}"/>
              </a:ext>
            </a:extLst>
          </p:cNvPr>
          <p:cNvSpPr txBox="1"/>
          <p:nvPr/>
        </p:nvSpPr>
        <p:spPr>
          <a:xfrm>
            <a:off x="736600" y="4985760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Neuman, S. M., Plancher, B.,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Bourgeat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T., Tambe, T., Devadas, S., &amp; Reddi, V. J. (2021, April). </a:t>
            </a:r>
            <a:r>
              <a:rPr lang="en-US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Robomorphic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computing: a design methodology for domain-specific accelerators parameterized by robot morphology. In </a:t>
            </a:r>
            <a:r>
              <a:rPr lang="en-US" sz="11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26th ACM International Conference on Architectural Support for Programming Languages and Operating Systems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(pp. 674-686).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96720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A058-777E-2005-7139-E1069CD1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FPGA vs. ASIC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DB4AD-2F04-29E8-BF6F-B5111D36A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FPGA:  Field‑Programmable Gate Array</a:t>
            </a:r>
          </a:p>
          <a:p>
            <a:pPr lvl="1"/>
            <a:r>
              <a:rPr lang="en-US" dirty="0"/>
              <a:t>Reconfigurable hardware</a:t>
            </a:r>
          </a:p>
          <a:p>
            <a:pPr lvl="1"/>
            <a:r>
              <a:rPr lang="en-US" dirty="0"/>
              <a:t>Great for prototyping and teaching: no fabrication needed</a:t>
            </a:r>
          </a:p>
          <a:p>
            <a:pPr lvl="1"/>
            <a:r>
              <a:rPr lang="en-US" dirty="0"/>
              <a:t>Slower and less power‑efficient than ASICs </a:t>
            </a:r>
          </a:p>
          <a:p>
            <a:pPr lvl="1"/>
            <a:r>
              <a:rPr lang="en-US" dirty="0"/>
              <a:t>Research, rapid development, low‑volume products, networking gear, some accelerators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ASIC:  Application‑Specific Integrated Circuit</a:t>
            </a:r>
          </a:p>
          <a:p>
            <a:pPr lvl="1"/>
            <a:r>
              <a:rPr lang="en-US" dirty="0"/>
              <a:t>Custom hardware chip designed for one purpose (e.g., video codec, 5G modem, ML accelerator)</a:t>
            </a:r>
          </a:p>
          <a:p>
            <a:pPr lvl="1"/>
            <a:r>
              <a:rPr lang="en-US" dirty="0"/>
              <a:t>Much faster and more power‑efficient than FPGAs</a:t>
            </a:r>
          </a:p>
          <a:p>
            <a:pPr lvl="1"/>
            <a:r>
              <a:rPr lang="en-US" dirty="0"/>
              <a:t>Cannot be changed after fabrication — the design is permanent</a:t>
            </a:r>
          </a:p>
          <a:p>
            <a:pPr lvl="1"/>
            <a:r>
              <a:rPr lang="en-US" dirty="0"/>
              <a:t>Manufactured (“fabricated”) at a semiconductor foundry</a:t>
            </a:r>
          </a:p>
          <a:p>
            <a:pPr lvl="1"/>
            <a:r>
              <a:rPr lang="en-US" dirty="0"/>
              <a:t>Ex:  TSMC, </a:t>
            </a:r>
          </a:p>
          <a:p>
            <a:pPr lvl="1"/>
            <a:r>
              <a:rPr lang="en-US" dirty="0"/>
              <a:t>Smartphones, GPUs, Automotive,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13599-48FA-323F-4365-2209B7358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26</a:t>
            </a:fld>
            <a:endParaRPr lang="en-US" dirty="0"/>
          </a:p>
        </p:txBody>
      </p:sp>
      <p:pic>
        <p:nvPicPr>
          <p:cNvPr id="5" name="Picture 4" descr="A Guide to Xilinx FPGA Naming Standards">
            <a:extLst>
              <a:ext uri="{FF2B5EF4-FFF2-40B4-BE49-F238E27FC236}">
                <a16:creationId xmlns:a16="http://schemas.microsoft.com/office/drawing/2014/main" id="{FC46BC06-5C87-443F-C7CD-A4C3B8D7E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4526" y="1326814"/>
            <a:ext cx="1895688" cy="125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Plot of ASIC layout submitted for ...">
            <a:extLst>
              <a:ext uri="{FF2B5EF4-FFF2-40B4-BE49-F238E27FC236}">
                <a16:creationId xmlns:a16="http://schemas.microsoft.com/office/drawing/2014/main" id="{F22938C4-AFBE-FBCA-9CCB-6588355D3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766" y="4268160"/>
            <a:ext cx="1608080" cy="1600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9231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D6B1D-AFEE-66FF-281F-2B6E03B3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Turnaround Time Contrasted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1C5BB-FA82-57C4-2B71-CA4B5E10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27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600FE8-4C37-8B50-A393-B28A7D46A471}"/>
              </a:ext>
            </a:extLst>
          </p:cNvPr>
          <p:cNvSpPr txBox="1"/>
          <p:nvPr/>
        </p:nvSpPr>
        <p:spPr>
          <a:xfrm>
            <a:off x="350883" y="1919408"/>
            <a:ext cx="1305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Software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14D44D-FA78-E55B-B6C5-42A06DD5D838}"/>
              </a:ext>
            </a:extLst>
          </p:cNvPr>
          <p:cNvSpPr/>
          <p:nvPr/>
        </p:nvSpPr>
        <p:spPr>
          <a:xfrm>
            <a:off x="1926432" y="1666424"/>
            <a:ext cx="914400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Write code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77E14B-972A-DBCA-F65E-4F9047DE0825}"/>
              </a:ext>
            </a:extLst>
          </p:cNvPr>
          <p:cNvSpPr/>
          <p:nvPr/>
        </p:nvSpPr>
        <p:spPr>
          <a:xfrm>
            <a:off x="3226594" y="1666424"/>
            <a:ext cx="11096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Compile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10E108F-8F15-BFFF-4689-232BC52D0521}"/>
              </a:ext>
            </a:extLst>
          </p:cNvPr>
          <p:cNvSpPr/>
          <p:nvPr/>
        </p:nvSpPr>
        <p:spPr>
          <a:xfrm>
            <a:off x="4702969" y="1666424"/>
            <a:ext cx="1109662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304D929-9CF4-D76A-FB4B-6D9F5A779047}"/>
              </a:ext>
            </a:extLst>
          </p:cNvPr>
          <p:cNvSpPr/>
          <p:nvPr/>
        </p:nvSpPr>
        <p:spPr>
          <a:xfrm>
            <a:off x="2738438" y="191940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975FC13E-B236-1732-68EA-35C76159B837}"/>
              </a:ext>
            </a:extLst>
          </p:cNvPr>
          <p:cNvSpPr/>
          <p:nvPr/>
        </p:nvSpPr>
        <p:spPr>
          <a:xfrm>
            <a:off x="4271963" y="191940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021A27-E29E-8607-EB98-6BA555396F75}"/>
              </a:ext>
            </a:extLst>
          </p:cNvPr>
          <p:cNvSpPr txBox="1"/>
          <p:nvPr/>
        </p:nvSpPr>
        <p:spPr>
          <a:xfrm>
            <a:off x="341757" y="3049600"/>
            <a:ext cx="856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FPGA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2070356-72CB-C945-FFC7-3DF9CFFA9CE8}"/>
              </a:ext>
            </a:extLst>
          </p:cNvPr>
          <p:cNvSpPr/>
          <p:nvPr/>
        </p:nvSpPr>
        <p:spPr>
          <a:xfrm>
            <a:off x="1926432" y="2881954"/>
            <a:ext cx="914400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F0A008D-34F2-9F1A-9681-171419B906E1}"/>
              </a:ext>
            </a:extLst>
          </p:cNvPr>
          <p:cNvSpPr/>
          <p:nvPr/>
        </p:nvSpPr>
        <p:spPr>
          <a:xfrm>
            <a:off x="3226593" y="2881954"/>
            <a:ext cx="1109662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7FEBA2B-1FFA-6962-0A7E-326BDD765E9C}"/>
              </a:ext>
            </a:extLst>
          </p:cNvPr>
          <p:cNvSpPr/>
          <p:nvPr/>
        </p:nvSpPr>
        <p:spPr>
          <a:xfrm>
            <a:off x="4686298" y="2872178"/>
            <a:ext cx="1304929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A6FE64D-FEAE-41C0-477A-0A4754E62A6C}"/>
              </a:ext>
            </a:extLst>
          </p:cNvPr>
          <p:cNvSpPr/>
          <p:nvPr/>
        </p:nvSpPr>
        <p:spPr>
          <a:xfrm>
            <a:off x="2738438" y="313493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F9431B70-A5A9-F7BC-84AD-C7FB373F894B}"/>
              </a:ext>
            </a:extLst>
          </p:cNvPr>
          <p:cNvSpPr/>
          <p:nvPr/>
        </p:nvSpPr>
        <p:spPr>
          <a:xfrm>
            <a:off x="4271963" y="3154488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80FBF76-21B3-C155-20E8-C601DB71C123}"/>
              </a:ext>
            </a:extLst>
          </p:cNvPr>
          <p:cNvSpPr/>
          <p:nvPr/>
        </p:nvSpPr>
        <p:spPr>
          <a:xfrm>
            <a:off x="6425804" y="2872178"/>
            <a:ext cx="1343026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Generate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Bitstream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3C29A3C-9DE9-F33F-E913-A225029FB128}"/>
              </a:ext>
            </a:extLst>
          </p:cNvPr>
          <p:cNvSpPr/>
          <p:nvPr/>
        </p:nvSpPr>
        <p:spPr>
          <a:xfrm>
            <a:off x="8038701" y="2872178"/>
            <a:ext cx="1343026" cy="9144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8105C4F-3DEF-D81C-A1C6-B7F6F2BDBB55}"/>
              </a:ext>
            </a:extLst>
          </p:cNvPr>
          <p:cNvSpPr/>
          <p:nvPr/>
        </p:nvSpPr>
        <p:spPr>
          <a:xfrm>
            <a:off x="7674367" y="3154117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3577C9-C51B-4430-3FD0-58990CF3EFA6}"/>
              </a:ext>
            </a:extLst>
          </p:cNvPr>
          <p:cNvSpPr txBox="1"/>
          <p:nvPr/>
        </p:nvSpPr>
        <p:spPr>
          <a:xfrm>
            <a:off x="350883" y="4362403"/>
            <a:ext cx="11335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Custom</a:t>
            </a:r>
            <a:br>
              <a:rPr lang="en-US" sz="24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ASIC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90D8329-FF1F-2459-E329-523B01376F3E}"/>
              </a:ext>
            </a:extLst>
          </p:cNvPr>
          <p:cNvSpPr/>
          <p:nvPr/>
        </p:nvSpPr>
        <p:spPr>
          <a:xfrm>
            <a:off x="4651769" y="4226683"/>
            <a:ext cx="140970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Synthesize</a:t>
            </a:r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4366EAB-5AC0-8603-89A0-A1564142425B}"/>
              </a:ext>
            </a:extLst>
          </p:cNvPr>
          <p:cNvSpPr/>
          <p:nvPr/>
        </p:nvSpPr>
        <p:spPr>
          <a:xfrm>
            <a:off x="4247018" y="450862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79A0432-3678-1AD9-5AC4-AF870912E3A5}"/>
              </a:ext>
            </a:extLst>
          </p:cNvPr>
          <p:cNvSpPr/>
          <p:nvPr/>
        </p:nvSpPr>
        <p:spPr>
          <a:xfrm>
            <a:off x="6318712" y="4226683"/>
            <a:ext cx="134302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Layout</a:t>
            </a:r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899267F1-C1B8-E6F3-F6F4-4EBD6386A2B7}"/>
              </a:ext>
            </a:extLst>
          </p:cNvPr>
          <p:cNvSpPr/>
          <p:nvPr/>
        </p:nvSpPr>
        <p:spPr>
          <a:xfrm>
            <a:off x="5897163" y="448944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0874490-5451-2342-5828-941C31A88DF8}"/>
              </a:ext>
            </a:extLst>
          </p:cNvPr>
          <p:cNvSpPr/>
          <p:nvPr/>
        </p:nvSpPr>
        <p:spPr>
          <a:xfrm>
            <a:off x="8110536" y="4233618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Fabrication</a:t>
            </a:r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4B7CFE6B-0823-717D-44C6-A60F3DDBB1D4}"/>
              </a:ext>
            </a:extLst>
          </p:cNvPr>
          <p:cNvSpPr/>
          <p:nvPr/>
        </p:nvSpPr>
        <p:spPr>
          <a:xfrm>
            <a:off x="7604523" y="4508622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9F69088-E027-C47C-F95A-8209B0B3939A}"/>
              </a:ext>
            </a:extLst>
          </p:cNvPr>
          <p:cNvSpPr/>
          <p:nvPr/>
        </p:nvSpPr>
        <p:spPr>
          <a:xfrm>
            <a:off x="7311225" y="5303072"/>
            <a:ext cx="1343026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ECD5612F-F099-1FF7-761C-2BBC2718AAB5}"/>
              </a:ext>
            </a:extLst>
          </p:cNvPr>
          <p:cNvSpPr/>
          <p:nvPr/>
        </p:nvSpPr>
        <p:spPr>
          <a:xfrm>
            <a:off x="6891829" y="5620550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4A864C2D-327B-045E-6E09-317854438E83}"/>
              </a:ext>
            </a:extLst>
          </p:cNvPr>
          <p:cNvSpPr/>
          <p:nvPr/>
        </p:nvSpPr>
        <p:spPr>
          <a:xfrm>
            <a:off x="5943606" y="3163893"/>
            <a:ext cx="578644" cy="388882"/>
          </a:xfrm>
          <a:prstGeom prst="right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11A08A6-7B6B-4B50-47ED-2130D58690E2}"/>
              </a:ext>
            </a:extLst>
          </p:cNvPr>
          <p:cNvSpPr/>
          <p:nvPr/>
        </p:nvSpPr>
        <p:spPr>
          <a:xfrm>
            <a:off x="1926432" y="4227266"/>
            <a:ext cx="9144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73AA2BC2-0550-E618-08B4-66FE0A10E996}"/>
              </a:ext>
            </a:extLst>
          </p:cNvPr>
          <p:cNvSpPr/>
          <p:nvPr/>
        </p:nvSpPr>
        <p:spPr>
          <a:xfrm>
            <a:off x="3226593" y="4227266"/>
            <a:ext cx="1109662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Simulate</a:t>
            </a:r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E1729918-62F7-453C-AAAE-D123536A8784}"/>
              </a:ext>
            </a:extLst>
          </p:cNvPr>
          <p:cNvSpPr/>
          <p:nvPr/>
        </p:nvSpPr>
        <p:spPr>
          <a:xfrm>
            <a:off x="2738438" y="4480250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E3ACF0E-233E-DA3A-AFD3-E7BB123BDC1B}"/>
              </a:ext>
            </a:extLst>
          </p:cNvPr>
          <p:cNvSpPr/>
          <p:nvPr/>
        </p:nvSpPr>
        <p:spPr>
          <a:xfrm>
            <a:off x="3823095" y="5276605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Package</a:t>
            </a:r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18715D37-76AD-A1A3-2C40-8FAD42D6F4CE}"/>
              </a:ext>
            </a:extLst>
          </p:cNvPr>
          <p:cNvSpPr/>
          <p:nvPr/>
        </p:nvSpPr>
        <p:spPr>
          <a:xfrm>
            <a:off x="3317082" y="5551609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BE21E14-568A-C044-5D5F-848695A1957B}"/>
              </a:ext>
            </a:extLst>
          </p:cNvPr>
          <p:cNvSpPr/>
          <p:nvPr/>
        </p:nvSpPr>
        <p:spPr>
          <a:xfrm>
            <a:off x="5551586" y="5295785"/>
            <a:ext cx="1343026" cy="90053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Integrate</a:t>
            </a:r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D84B8D01-9DAB-6575-039D-B0E539DFD101}"/>
              </a:ext>
            </a:extLst>
          </p:cNvPr>
          <p:cNvSpPr/>
          <p:nvPr/>
        </p:nvSpPr>
        <p:spPr>
          <a:xfrm>
            <a:off x="5129407" y="5582813"/>
            <a:ext cx="578644" cy="38888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6DACF9-892E-4725-3FFE-03BCC7E9F086}"/>
              </a:ext>
            </a:extLst>
          </p:cNvPr>
          <p:cNvSpPr/>
          <p:nvPr/>
        </p:nvSpPr>
        <p:spPr>
          <a:xfrm>
            <a:off x="2385917" y="5691188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1948B16-7A72-82F2-5D44-60DAAD9ED97B}"/>
              </a:ext>
            </a:extLst>
          </p:cNvPr>
          <p:cNvSpPr/>
          <p:nvPr/>
        </p:nvSpPr>
        <p:spPr>
          <a:xfrm>
            <a:off x="2637017" y="5691188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DD1DBD4D-EEF3-E524-B885-638B54541233}"/>
              </a:ext>
            </a:extLst>
          </p:cNvPr>
          <p:cNvSpPr/>
          <p:nvPr/>
        </p:nvSpPr>
        <p:spPr>
          <a:xfrm>
            <a:off x="2872751" y="5688495"/>
            <a:ext cx="140443" cy="14355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10F3D787-2E95-0D3F-F758-87FE573B849D}"/>
              </a:ext>
            </a:extLst>
          </p:cNvPr>
          <p:cNvSpPr/>
          <p:nvPr/>
        </p:nvSpPr>
        <p:spPr>
          <a:xfrm rot="5400000">
            <a:off x="8641982" y="3281639"/>
            <a:ext cx="3054980" cy="681038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6000">
                <a:schemeClr val="accent5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8" name="Picture 4" descr="Calendar - Free interface icons">
            <a:extLst>
              <a:ext uri="{FF2B5EF4-FFF2-40B4-BE49-F238E27FC236}">
                <a16:creationId xmlns:a16="http://schemas.microsoft.com/office/drawing/2014/main" id="{81EED539-43CD-E4BE-9F1A-2F941146E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8819" y="4082664"/>
            <a:ext cx="1202437" cy="1202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EBE55950-3864-59DD-264C-877992F61EF9}"/>
              </a:ext>
            </a:extLst>
          </p:cNvPr>
          <p:cNvSpPr txBox="1"/>
          <p:nvPr/>
        </p:nvSpPr>
        <p:spPr>
          <a:xfrm>
            <a:off x="10658819" y="926704"/>
            <a:ext cx="10433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Seconds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150" name="Picture 6" descr="73,800+ Stopwatch Icon Stock Illustrations, Royalty-Free ...">
            <a:extLst>
              <a:ext uri="{FF2B5EF4-FFF2-40B4-BE49-F238E27FC236}">
                <a16:creationId xmlns:a16="http://schemas.microsoft.com/office/drawing/2014/main" id="{5C5D2F7D-6164-7491-F05C-41D9D6530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342" y="1533523"/>
            <a:ext cx="988542" cy="91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52BED29-273F-1174-9C29-71A0B22F8CF4}"/>
              </a:ext>
            </a:extLst>
          </p:cNvPr>
          <p:cNvSpPr txBox="1"/>
          <p:nvPr/>
        </p:nvSpPr>
        <p:spPr>
          <a:xfrm>
            <a:off x="10816409" y="5488440"/>
            <a:ext cx="9934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Months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7840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2BE6B-C965-3B9C-18C9-DBAA35FD7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Three Conceptual Challenges for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07AB2-745A-70C6-B819-350F0A46A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Concurrency</a:t>
            </a:r>
          </a:p>
          <a:p>
            <a:pPr lvl="1"/>
            <a:r>
              <a:rPr lang="en-US" dirty="0"/>
              <a:t>Hardware modules run in parallel</a:t>
            </a:r>
          </a:p>
          <a:p>
            <a:pPr lvl="1"/>
            <a:r>
              <a:rPr lang="en-US" dirty="0"/>
              <a:t>Like multi-threaded programs</a:t>
            </a:r>
          </a:p>
          <a:p>
            <a:pPr lvl="1"/>
            <a:r>
              <a:rPr lang="en-US" dirty="0"/>
              <a:t>Must consider resource contention, information passing, …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Long turnaround time</a:t>
            </a:r>
          </a:p>
          <a:p>
            <a:pPr lvl="1"/>
            <a:r>
              <a:rPr lang="en-US" dirty="0"/>
              <a:t>Need reliable simulation and test before fabrication</a:t>
            </a:r>
          </a:p>
          <a:p>
            <a:pPr lvl="1"/>
            <a:r>
              <a:rPr lang="en-US" dirty="0"/>
              <a:t>High level of rigor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Need for interface abstraction</a:t>
            </a:r>
          </a:p>
          <a:p>
            <a:pPr lvl="1"/>
            <a:r>
              <a:rPr lang="en-US" dirty="0"/>
              <a:t>Hardware must work over broad range of problems</a:t>
            </a:r>
          </a:p>
          <a:p>
            <a:pPr lvl="1"/>
            <a:r>
              <a:rPr lang="en-US" dirty="0"/>
              <a:t>But provide gains specific to domain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D0E918-5A19-A38F-D474-AC313F05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043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01BDE-1EC8-9E2C-4B3E-2CFF8C265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Design Is Getting Easier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452C9-A8E5-0EBF-1169-0AA25817D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29</a:t>
            </a:fld>
            <a:endParaRPr lang="en-US" dirty="0"/>
          </a:p>
        </p:txBody>
      </p:sp>
      <p:pic>
        <p:nvPicPr>
          <p:cNvPr id="7170" name="Picture 2" descr="Xilinx Vitis HLS introduction - imperix">
            <a:extLst>
              <a:ext uri="{FF2B5EF4-FFF2-40B4-BE49-F238E27FC236}">
                <a16:creationId xmlns:a16="http://schemas.microsoft.com/office/drawing/2014/main" id="{E9953362-CDB4-9784-BBB0-A642D6E2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4351" y="1624360"/>
            <a:ext cx="1710467" cy="113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Artificial intelligence AI processor ...">
            <a:extLst>
              <a:ext uri="{FF2B5EF4-FFF2-40B4-BE49-F238E27FC236}">
                <a16:creationId xmlns:a16="http://schemas.microsoft.com/office/drawing/2014/main" id="{2653DE29-5157-A97C-264B-99FA76E2C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4577" y="2971355"/>
            <a:ext cx="1361598" cy="1361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GitHub - Xilinx/PYNQ: Python ...">
            <a:extLst>
              <a:ext uri="{FF2B5EF4-FFF2-40B4-BE49-F238E27FC236}">
                <a16:creationId xmlns:a16="http://schemas.microsoft.com/office/drawing/2014/main" id="{1BF1C071-9E16-91E9-7F0E-4ABD3D83D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0410" y="4332953"/>
            <a:ext cx="2018348" cy="1002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82A612A-32CE-14BE-A036-8A1B3F96D77D}"/>
              </a:ext>
            </a:extLst>
          </p:cNvPr>
          <p:cNvSpPr txBox="1">
            <a:spLocks/>
          </p:cNvSpPr>
          <p:nvPr/>
        </p:nvSpPr>
        <p:spPr>
          <a:xfrm>
            <a:off x="756287" y="2153477"/>
            <a:ext cx="4210844" cy="298465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Traditional view:  HW is Hard</a:t>
            </a:r>
          </a:p>
          <a:p>
            <a:r>
              <a:rPr lang="en-US" dirty="0"/>
              <a:t>Rarely-used languages</a:t>
            </a:r>
          </a:p>
          <a:p>
            <a:r>
              <a:rPr lang="en-US" dirty="0"/>
              <a:t>Small, elite community</a:t>
            </a:r>
          </a:p>
          <a:p>
            <a:r>
              <a:rPr lang="en-US" dirty="0"/>
              <a:t>Complex tool chain</a:t>
            </a:r>
          </a:p>
          <a:p>
            <a:r>
              <a:rPr lang="en-US" dirty="0"/>
              <a:t>Long turnaround time</a:t>
            </a:r>
          </a:p>
          <a:p>
            <a:r>
              <a:rPr lang="en-US" dirty="0"/>
              <a:t>Need to design concurrent systems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0A152F6-384F-4E5B-35A1-CE64C73CFE79}"/>
              </a:ext>
            </a:extLst>
          </p:cNvPr>
          <p:cNvSpPr/>
          <p:nvPr/>
        </p:nvSpPr>
        <p:spPr>
          <a:xfrm>
            <a:off x="4127661" y="2964766"/>
            <a:ext cx="1618133" cy="681038"/>
          </a:xfrm>
          <a:prstGeom prst="rightArrow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26000">
                <a:schemeClr val="accent5">
                  <a:lumMod val="20000"/>
                  <a:lumOff val="80000"/>
                </a:schemeClr>
              </a:gs>
              <a:gs pos="64000">
                <a:schemeClr val="accent3">
                  <a:lumMod val="40000"/>
                  <a:lumOff val="6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72701F6-EE7D-87C0-C6FB-33B030F4F933}"/>
              </a:ext>
            </a:extLst>
          </p:cNvPr>
          <p:cNvSpPr txBox="1">
            <a:spLocks/>
          </p:cNvSpPr>
          <p:nvPr/>
        </p:nvSpPr>
        <p:spPr>
          <a:xfrm>
            <a:off x="6048740" y="2073974"/>
            <a:ext cx="4210844" cy="2984654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anose="05000000000000000000" pitchFamily="2" charset="2"/>
              <a:buChar char="q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New Tools</a:t>
            </a:r>
          </a:p>
          <a:p>
            <a:r>
              <a:rPr lang="en-US" dirty="0"/>
              <a:t>High-Level Synthesis</a:t>
            </a:r>
          </a:p>
          <a:p>
            <a:pPr lvl="1"/>
            <a:r>
              <a:rPr lang="en-US" dirty="0"/>
              <a:t>Program in C/C++/Python</a:t>
            </a:r>
          </a:p>
          <a:p>
            <a:r>
              <a:rPr lang="en-US" dirty="0"/>
              <a:t>AI-assisted design</a:t>
            </a:r>
          </a:p>
          <a:p>
            <a:pPr lvl="1"/>
            <a:r>
              <a:rPr lang="en-US" dirty="0"/>
              <a:t>LLMs are learning HW fast</a:t>
            </a:r>
          </a:p>
          <a:p>
            <a:r>
              <a:rPr lang="en-US" dirty="0"/>
              <a:t>Python-based tool flow</a:t>
            </a:r>
          </a:p>
          <a:p>
            <a:pPr lvl="1"/>
            <a:r>
              <a:rPr lang="en-US" dirty="0"/>
              <a:t>FPGA Python APIs</a:t>
            </a:r>
          </a:p>
          <a:p>
            <a:pPr lvl="1"/>
            <a:r>
              <a:rPr lang="en-US" dirty="0"/>
              <a:t>Python simulation, …</a:t>
            </a:r>
          </a:p>
        </p:txBody>
      </p:sp>
    </p:spTree>
    <p:extLst>
      <p:ext uri="{BB962C8B-B14F-4D97-AF65-F5344CB8AC3E}">
        <p14:creationId xmlns:p14="http://schemas.microsoft.com/office/powerpoint/2010/main" val="2652154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17F12-3085-C195-A4B9-C807CC68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901F-73A8-E31E-63F2-1A46724A2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into small groups</a:t>
            </a:r>
          </a:p>
          <a:p>
            <a:r>
              <a:rPr lang="en-US" dirty="0"/>
              <a:t>Select any domain of interest to your group</a:t>
            </a:r>
          </a:p>
          <a:p>
            <a:pPr lvl="1"/>
            <a:r>
              <a:rPr lang="en-US" dirty="0"/>
              <a:t>Robotics, scientific computing, finance, gaming, …</a:t>
            </a:r>
          </a:p>
          <a:p>
            <a:r>
              <a:rPr lang="en-US" dirty="0"/>
              <a:t>Propose a hardware accelerator for a specific task in that domain</a:t>
            </a:r>
          </a:p>
          <a:p>
            <a:pPr lvl="1"/>
            <a:r>
              <a:rPr lang="en-US" dirty="0"/>
              <a:t>Be specific</a:t>
            </a:r>
          </a:p>
          <a:p>
            <a:pPr lvl="1"/>
            <a:r>
              <a:rPr lang="en-US" dirty="0"/>
              <a:t>Ex., “Fast solver for molecular simulations”, “Real-time obstacle detection for drones”, …</a:t>
            </a:r>
          </a:p>
          <a:p>
            <a:r>
              <a:rPr lang="en-US" dirty="0"/>
              <a:t>What would it interface with?</a:t>
            </a:r>
          </a:p>
          <a:p>
            <a:pPr lvl="1"/>
            <a:r>
              <a:rPr lang="en-US" dirty="0"/>
              <a:t>CPU, Any sensor data / peripherals?  How much data does it need?</a:t>
            </a:r>
          </a:p>
          <a:p>
            <a:r>
              <a:rPr lang="en-US" dirty="0"/>
              <a:t>Why would custom hardware help?</a:t>
            </a:r>
          </a:p>
          <a:p>
            <a:pPr lvl="1"/>
            <a:r>
              <a:rPr lang="en-US" dirty="0"/>
              <a:t>What are the computations involved?  Is it structured, compute intensive?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33FCA-BD58-D82D-2AAA-0F22542C2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62335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10679</TotalTime>
  <Words>1757</Words>
  <Application>Microsoft Office PowerPoint</Application>
  <PresentationFormat>Widescreen</PresentationFormat>
  <Paragraphs>367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Wingdings</vt:lpstr>
      <vt:lpstr>Retrospect</vt:lpstr>
      <vt:lpstr>Unit 0  Course Introduction</vt:lpstr>
      <vt:lpstr>Outline</vt:lpstr>
      <vt:lpstr>Course Details</vt:lpstr>
      <vt:lpstr>Learning Objectives</vt:lpstr>
      <vt:lpstr>Pre-Requisites</vt:lpstr>
      <vt:lpstr>Course Webpage</vt:lpstr>
      <vt:lpstr>Software Set-Up:  ECS Server</vt:lpstr>
      <vt:lpstr>Software Set-Up: Local Machine</vt:lpstr>
      <vt:lpstr>FPGA Boards</vt:lpstr>
      <vt:lpstr>Tentative Grading</vt:lpstr>
      <vt:lpstr>AI Autograder</vt:lpstr>
      <vt:lpstr>Using AI</vt:lpstr>
      <vt:lpstr>Tentative Syllabus 1</vt:lpstr>
      <vt:lpstr>Tentative Syllabus 2</vt:lpstr>
      <vt:lpstr>Project</vt:lpstr>
      <vt:lpstr>Project Grading</vt:lpstr>
      <vt:lpstr>Outline</vt:lpstr>
      <vt:lpstr>Hardware vs. Software</vt:lpstr>
      <vt:lpstr>Hardware Comes in Many Forms </vt:lpstr>
      <vt:lpstr>General Purpose vs. Custom</vt:lpstr>
      <vt:lpstr>Accelerator or IP Model</vt:lpstr>
      <vt:lpstr>What is Custom Hardware Good At</vt:lpstr>
      <vt:lpstr>Example:  Intel Quick Sync Media Processor</vt:lpstr>
      <vt:lpstr>Example:  5G Modem Core</vt:lpstr>
      <vt:lpstr>Example:  Robomorphic Computing</vt:lpstr>
      <vt:lpstr>FPGA vs. ASIC</vt:lpstr>
      <vt:lpstr>Turnaround Time Contrasted</vt:lpstr>
      <vt:lpstr>Three Conceptual Challenges for Hardware</vt:lpstr>
      <vt:lpstr>HW Design Is Getting Easier</vt:lpstr>
      <vt:lpstr>In-Class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473</cp:revision>
  <cp:lastPrinted>2018-09-04T19:00:14Z</cp:lastPrinted>
  <dcterms:created xsi:type="dcterms:W3CDTF">2015-03-22T11:15:32Z</dcterms:created>
  <dcterms:modified xsi:type="dcterms:W3CDTF">2026-08-06T04:19:08Z</dcterms:modified>
</cp:coreProperties>
</file>