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58" r:id="rId2"/>
    <p:sldId id="271" r:id="rId3"/>
    <p:sldId id="297" r:id="rId4"/>
    <p:sldId id="276" r:id="rId5"/>
    <p:sldId id="277" r:id="rId6"/>
    <p:sldId id="418" r:id="rId7"/>
    <p:sldId id="419" r:id="rId8"/>
    <p:sldId id="420" r:id="rId9"/>
    <p:sldId id="326" r:id="rId10"/>
    <p:sldId id="405" r:id="rId11"/>
    <p:sldId id="406" r:id="rId12"/>
    <p:sldId id="408" r:id="rId13"/>
    <p:sldId id="424" r:id="rId14"/>
    <p:sldId id="423" r:id="rId15"/>
    <p:sldId id="425" r:id="rId16"/>
    <p:sldId id="426" r:id="rId17"/>
    <p:sldId id="422" r:id="rId18"/>
    <p:sldId id="410" r:id="rId19"/>
    <p:sldId id="411" r:id="rId20"/>
    <p:sldId id="415" r:id="rId21"/>
    <p:sldId id="416" r:id="rId22"/>
    <p:sldId id="417" r:id="rId23"/>
    <p:sldId id="428" r:id="rId24"/>
    <p:sldId id="412" r:id="rId25"/>
    <p:sldId id="429" r:id="rId26"/>
    <p:sldId id="427" r:id="rId27"/>
    <p:sldId id="430" r:id="rId28"/>
    <p:sldId id="431" r:id="rId29"/>
    <p:sldId id="434" r:id="rId30"/>
    <p:sldId id="432" r:id="rId31"/>
    <p:sldId id="433" r:id="rId32"/>
    <p:sldId id="296" r:id="rId33"/>
    <p:sldId id="435" r:id="rId34"/>
    <p:sldId id="437" r:id="rId35"/>
    <p:sldId id="438" r:id="rId36"/>
    <p:sldId id="436" r:id="rId37"/>
    <p:sldId id="439" r:id="rId38"/>
    <p:sldId id="440" r:id="rId39"/>
    <p:sldId id="441" r:id="rId40"/>
    <p:sldId id="442" r:id="rId41"/>
    <p:sldId id="443" r:id="rId42"/>
    <p:sldId id="444" r:id="rId43"/>
    <p:sldId id="445" r:id="rId44"/>
    <p:sldId id="446" r:id="rId45"/>
    <p:sldId id="447" r:id="rId46"/>
    <p:sldId id="448" r:id="rId47"/>
    <p:sldId id="449" r:id="rId48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CC"/>
    <a:srgbClr val="EAEBEC"/>
    <a:srgbClr val="E0F8E0"/>
    <a:srgbClr val="CCFF99"/>
    <a:srgbClr val="92278F"/>
    <a:srgbClr val="E3DFF7"/>
    <a:srgbClr val="EAE5EB"/>
    <a:srgbClr val="DEE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157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156" y="5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B7D6DDD3-D7E9-488B-B626-1E8285E424D8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65CF6084-2C3C-4FE7-B181-D16A342905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25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6171231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7" name="Rectangle 16"/>
          <p:cNvSpPr/>
          <p:nvPr userDrawn="1"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64" y="6292310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91440" indent="-91440">
              <a:buSzPct val="100000"/>
              <a:buFont typeface="Wingdings" panose="05000000000000000000" pitchFamily="2" charset="2"/>
              <a:buChar char="q"/>
              <a:defRPr/>
            </a:lvl1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7" name="Picture 16" descr="final-logo-3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379551"/>
            <a:ext cx="1117381" cy="817404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45" y="6405564"/>
            <a:ext cx="2113225" cy="334949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54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6019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214193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214193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2682" y="6508672"/>
            <a:ext cx="984019" cy="273844"/>
          </a:xfrm>
          <a:prstGeom prst="rect">
            <a:avLst/>
          </a:prstGeom>
        </p:spPr>
        <p:txBody>
          <a:bodyPr vert="horz" lIns="68567" tIns="34289" rIns="68567" bIns="34289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07" y="6405564"/>
            <a:ext cx="2113225" cy="334949"/>
          </a:xfrm>
          <a:prstGeom prst="rect">
            <a:avLst/>
          </a:prstGeom>
        </p:spPr>
      </p:pic>
      <p:pic>
        <p:nvPicPr>
          <p:cNvPr id="16" name="Picture 15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543" y="6446621"/>
            <a:ext cx="923615" cy="6756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6160663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9" name="Rectangle 8"/>
          <p:cNvSpPr/>
          <p:nvPr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402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539277"/>
            <a:ext cx="10058400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097280" y="14330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07" y="6307398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7.png"/><Relationship Id="rId7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llaboutcircuits.com/technical-articles/introduction-to-the-advanced-microcontroller-bus-architecture/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Unit 8 </a:t>
            </a:r>
            <a:br>
              <a:rPr lang="en-US" sz="6600" dirty="0"/>
            </a:br>
            <a:r>
              <a:rPr lang="en-US" sz="6600" dirty="0"/>
              <a:t>Shared Memory Transactions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EL-GY 9463:  Introduction to Hardware Design</a:t>
            </a:r>
          </a:p>
          <a:p>
            <a:r>
              <a:rPr lang="en-US"/>
              <a:t>ProfS. Sundeep Rangan, Siddharth Garg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293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Describe the basic components of random access memory</a:t>
            </a:r>
          </a:p>
          <a:p>
            <a:pPr lvl="1"/>
            <a:r>
              <a:rPr lang="en-US" dirty="0"/>
              <a:t>Address and data bus, address decoder, storage</a:t>
            </a:r>
          </a:p>
          <a:p>
            <a:r>
              <a:rPr lang="en-US" dirty="0"/>
              <a:t>Identify which types of memory should be used for storage</a:t>
            </a:r>
          </a:p>
          <a:p>
            <a:pPr lvl="1"/>
            <a:r>
              <a:rPr lang="en-US" dirty="0"/>
              <a:t>External vs. internal</a:t>
            </a:r>
          </a:p>
          <a:p>
            <a:pPr lvl="1"/>
            <a:r>
              <a:rPr lang="en-US" dirty="0"/>
              <a:t>Registers vs. block memory</a:t>
            </a:r>
          </a:p>
          <a:p>
            <a:r>
              <a:rPr lang="en-US" dirty="0"/>
              <a:t>Describe and analyze timing for the AXI4-Lite protocol for reading and writing registers</a:t>
            </a:r>
          </a:p>
          <a:p>
            <a:r>
              <a:rPr lang="en-US" dirty="0"/>
              <a:t>Implement a simple IP with AXI4-Lite control registers using Vitis HLS</a:t>
            </a:r>
          </a:p>
          <a:p>
            <a:r>
              <a:rPr lang="en-US" dirty="0"/>
              <a:t>Synthesize and simulate the IP and analyze the timing diagrams</a:t>
            </a:r>
          </a:p>
          <a:p>
            <a:r>
              <a:rPr lang="en-US" dirty="0"/>
              <a:t>Deploy the IP on an FPGA board and interface with the IP via PYNQ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85531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FFF6B-8453-395D-C9DF-D39D49D3F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8C3-C147-9B33-689D-5A5D264C6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28E2E2-EBC5-C8DE-A7D7-0B0A405420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Shared Memory and Interconnects</a:t>
            </a:r>
          </a:p>
          <a:p>
            <a:r>
              <a:rPr lang="en-US" sz="2400" dirty="0"/>
              <a:t>Shared Memory Transactions</a:t>
            </a:r>
          </a:p>
          <a:p>
            <a:r>
              <a:rPr lang="en-US" sz="2400" dirty="0"/>
              <a:t>AXI4-Memory Mapped Protocol</a:t>
            </a:r>
          </a:p>
          <a:p>
            <a:r>
              <a:rPr lang="en-US" sz="2400" dirty="0"/>
              <a:t>Implementing Shared Memory in Vitis HLS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D21FED-E321-4749-8167-3B80892DB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E9FC670A-2850-C4F8-F818-E68FBC3C0972}"/>
              </a:ext>
            </a:extLst>
          </p:cNvPr>
          <p:cNvSpPr/>
          <p:nvPr/>
        </p:nvSpPr>
        <p:spPr>
          <a:xfrm>
            <a:off x="411472" y="1475738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809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71287-0232-9A94-C28C-74572E229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Addressable Memory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119B4-C48C-E552-39B1-033719E0CE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446821" cy="4329817"/>
              </a:xfrm>
            </p:spPr>
            <p:txBody>
              <a:bodyPr/>
              <a:lstStyle/>
              <a:p>
                <a:r>
                  <a:rPr lang="en-US" dirty="0"/>
                  <a:t>An array of </a:t>
                </a:r>
                <a:r>
                  <a:rPr lang="en-US" dirty="0">
                    <a:solidFill>
                      <a:schemeClr val="tx2">
                        <a:lumMod val="60000"/>
                        <a:lumOff val="40000"/>
                      </a:schemeClr>
                    </a:solidFill>
                  </a:rPr>
                  <a:t>elements</a:t>
                </a:r>
                <a:r>
                  <a:rPr lang="en-US" dirty="0"/>
                  <a:t> in storage</a:t>
                </a:r>
              </a:p>
              <a:p>
                <a:pPr lvl="1"/>
                <a:r>
                  <a:rPr lang="en-US" dirty="0"/>
                  <a:t>Use for vectors, matrices, packets, data, …</a:t>
                </a:r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Word</a:t>
                </a:r>
                <a:r>
                  <a:rPr lang="en-US" dirty="0"/>
                  <a:t>:  Each of the data element</a:t>
                </a:r>
              </a:p>
              <a:p>
                <a:pPr lvl="1"/>
                <a:r>
                  <a:rPr lang="en-US" dirty="0"/>
                  <a:t>Typically, has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word</a:t>
                </a:r>
                <a:r>
                  <a:rPr lang="en-US" dirty="0"/>
                  <a:t> /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data width </a:t>
                </a:r>
                <a:r>
                  <a:rPr lang="en-US" dirty="0"/>
                  <a:t>= 32 or 64 bits</a:t>
                </a:r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Memory depth</a:t>
                </a:r>
                <a:r>
                  <a:rPr lang="en-US" dirty="0"/>
                  <a:t> = number of words</a:t>
                </a:r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Memory size</a:t>
                </a:r>
                <a:r>
                  <a:rPr lang="en-US" dirty="0"/>
                  <a:t>=depth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dirty="0"/>
                  <a:t> word width</a:t>
                </a:r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Address</a:t>
                </a:r>
                <a:r>
                  <a:rPr lang="en-US" dirty="0"/>
                  <a:t>:  A location of a word</a:t>
                </a:r>
              </a:p>
              <a:p>
                <a:pPr lvl="1"/>
                <a:r>
                  <a:rPr lang="en-US" dirty="0"/>
                  <a:t>Often byte-addressable</a:t>
                </a:r>
              </a:p>
              <a:p>
                <a:pPr lvl="1"/>
                <a:r>
                  <a:rPr lang="en-US" dirty="0"/>
                  <a:t>Word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at byte address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when word width=32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119B4-C48C-E552-39B1-033719E0CE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446821" cy="4329817"/>
              </a:xfrm>
              <a:blipFill>
                <a:blip r:embed="rId2"/>
                <a:stretch>
                  <a:fillRect l="-268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94A085-3885-EAA3-78DD-905AF0DC9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BB4FB6-254C-A247-A494-CFD5D073C5D5}"/>
              </a:ext>
            </a:extLst>
          </p:cNvPr>
          <p:cNvSpPr/>
          <p:nvPr/>
        </p:nvSpPr>
        <p:spPr>
          <a:xfrm>
            <a:off x="8470899" y="1842448"/>
            <a:ext cx="2426837" cy="323578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1A78BC-002A-8321-3A4A-A4C4AA05B9B5}"/>
              </a:ext>
            </a:extLst>
          </p:cNvPr>
          <p:cNvCxnSpPr/>
          <p:nvPr/>
        </p:nvCxnSpPr>
        <p:spPr>
          <a:xfrm>
            <a:off x="8470899" y="2203450"/>
            <a:ext cx="24268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6B9CE4F8-E303-787E-86EA-C94FCAECFD9A}"/>
              </a:ext>
            </a:extLst>
          </p:cNvPr>
          <p:cNvSpPr/>
          <p:nvPr/>
        </p:nvSpPr>
        <p:spPr>
          <a:xfrm>
            <a:off x="8470899" y="1842448"/>
            <a:ext cx="2426837" cy="3609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FDE105-D67B-B280-0201-5664B1DF2964}"/>
              </a:ext>
            </a:extLst>
          </p:cNvPr>
          <p:cNvSpPr/>
          <p:nvPr/>
        </p:nvSpPr>
        <p:spPr>
          <a:xfrm>
            <a:off x="7366000" y="1842436"/>
            <a:ext cx="1104899" cy="3609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2EDAF46-D4DB-9396-0CBC-745752D3882D}"/>
              </a:ext>
            </a:extLst>
          </p:cNvPr>
          <p:cNvSpPr/>
          <p:nvPr/>
        </p:nvSpPr>
        <p:spPr>
          <a:xfrm>
            <a:off x="8470899" y="2203426"/>
            <a:ext cx="2426837" cy="3609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8FD44C-D21C-AE8E-554C-D8B859B00795}"/>
              </a:ext>
            </a:extLst>
          </p:cNvPr>
          <p:cNvSpPr/>
          <p:nvPr/>
        </p:nvSpPr>
        <p:spPr>
          <a:xfrm>
            <a:off x="7365999" y="2203426"/>
            <a:ext cx="1104899" cy="3609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70C487-3A98-A92F-CB88-194F26DDF075}"/>
              </a:ext>
            </a:extLst>
          </p:cNvPr>
          <p:cNvCxnSpPr/>
          <p:nvPr/>
        </p:nvCxnSpPr>
        <p:spPr>
          <a:xfrm>
            <a:off x="8470899" y="2564428"/>
            <a:ext cx="24268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E0ABD08-9AEE-EDBE-4C5E-406ED839D5EF}"/>
              </a:ext>
            </a:extLst>
          </p:cNvPr>
          <p:cNvSpPr/>
          <p:nvPr/>
        </p:nvSpPr>
        <p:spPr>
          <a:xfrm>
            <a:off x="8470899" y="2564404"/>
            <a:ext cx="2426837" cy="3609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0A6885-8CA0-FA31-616B-36D9BEB29508}"/>
              </a:ext>
            </a:extLst>
          </p:cNvPr>
          <p:cNvSpPr/>
          <p:nvPr/>
        </p:nvSpPr>
        <p:spPr>
          <a:xfrm>
            <a:off x="7365999" y="2564404"/>
            <a:ext cx="1104899" cy="3609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51E13A1-F07B-B5A2-48AE-D7AE57CEA4AF}"/>
              </a:ext>
            </a:extLst>
          </p:cNvPr>
          <p:cNvCxnSpPr/>
          <p:nvPr/>
        </p:nvCxnSpPr>
        <p:spPr>
          <a:xfrm>
            <a:off x="8470899" y="4708925"/>
            <a:ext cx="24268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301D20D1-BCD3-8109-CAFE-E2B1C35B1B08}"/>
              </a:ext>
            </a:extLst>
          </p:cNvPr>
          <p:cNvSpPr/>
          <p:nvPr/>
        </p:nvSpPr>
        <p:spPr>
          <a:xfrm>
            <a:off x="8470899" y="4708901"/>
            <a:ext cx="2426837" cy="3609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74C0F23-31E5-EB9A-A654-5EC2F4C88DAE}"/>
              </a:ext>
            </a:extLst>
          </p:cNvPr>
          <p:cNvSpPr/>
          <p:nvPr/>
        </p:nvSpPr>
        <p:spPr>
          <a:xfrm>
            <a:off x="7365999" y="4708901"/>
            <a:ext cx="1104899" cy="3609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206D41F-8FD9-B4A6-DF55-42C514687725}"/>
              </a:ext>
            </a:extLst>
          </p:cNvPr>
          <p:cNvCxnSpPr/>
          <p:nvPr/>
        </p:nvCxnSpPr>
        <p:spPr>
          <a:xfrm>
            <a:off x="7365999" y="2925382"/>
            <a:ext cx="0" cy="2193228"/>
          </a:xfrm>
          <a:prstGeom prst="line">
            <a:avLst/>
          </a:prstGeom>
          <a:ln w="158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9611376-9FF1-3BF9-096C-D58EE48AE8E7}"/>
              </a:ext>
            </a:extLst>
          </p:cNvPr>
          <p:cNvSpPr txBox="1"/>
          <p:nvPr/>
        </p:nvSpPr>
        <p:spPr>
          <a:xfrm>
            <a:off x="7227489" y="1450281"/>
            <a:ext cx="1381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Byte address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B6FE6EA-05E4-2012-DEB0-32BC629A58F8}"/>
              </a:ext>
            </a:extLst>
          </p:cNvPr>
          <p:cNvSpPr txBox="1"/>
          <p:nvPr/>
        </p:nvSpPr>
        <p:spPr>
          <a:xfrm>
            <a:off x="9211756" y="1468921"/>
            <a:ext cx="620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AF47B2-2AAD-816D-BE97-3E1155488A03}"/>
              </a:ext>
            </a:extLst>
          </p:cNvPr>
          <p:cNvSpPr txBox="1"/>
          <p:nvPr/>
        </p:nvSpPr>
        <p:spPr>
          <a:xfrm>
            <a:off x="8064719" y="18694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30141E-11DC-4E2A-0509-2031F4BA10F9}"/>
              </a:ext>
            </a:extLst>
          </p:cNvPr>
          <p:cNvSpPr txBox="1"/>
          <p:nvPr/>
        </p:nvSpPr>
        <p:spPr>
          <a:xfrm>
            <a:off x="8064719" y="22075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D91DEDD-AF93-EB68-7B34-5309BBE40A04}"/>
              </a:ext>
            </a:extLst>
          </p:cNvPr>
          <p:cNvSpPr txBox="1"/>
          <p:nvPr/>
        </p:nvSpPr>
        <p:spPr>
          <a:xfrm>
            <a:off x="8064719" y="253322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DC00E75-A5BE-095E-5065-A30ACC427C24}"/>
                  </a:ext>
                </a:extLst>
              </p:cNvPr>
              <p:cNvSpPr txBox="1"/>
              <p:nvPr/>
            </p:nvSpPr>
            <p:spPr>
              <a:xfrm>
                <a:off x="7350407" y="4677699"/>
                <a:ext cx="11360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DC00E75-A5BE-095E-5065-A30ACC427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0407" y="4677699"/>
                <a:ext cx="1136080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30749B95-D5F7-2495-AE70-5088D4D0CDFE}"/>
              </a:ext>
            </a:extLst>
          </p:cNvPr>
          <p:cNvSpPr txBox="1"/>
          <p:nvPr/>
        </p:nvSpPr>
        <p:spPr>
          <a:xfrm>
            <a:off x="8648940" y="1869430"/>
            <a:ext cx="870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Word 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50064E-A93F-E7F7-CF19-E5BBA9BC6D5A}"/>
              </a:ext>
            </a:extLst>
          </p:cNvPr>
          <p:cNvSpPr txBox="1"/>
          <p:nvPr/>
        </p:nvSpPr>
        <p:spPr>
          <a:xfrm>
            <a:off x="8648939" y="2218242"/>
            <a:ext cx="870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Word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2F0C6F-9DAF-77F8-7AEC-AC9350668DE6}"/>
              </a:ext>
            </a:extLst>
          </p:cNvPr>
          <p:cNvSpPr txBox="1"/>
          <p:nvPr/>
        </p:nvSpPr>
        <p:spPr>
          <a:xfrm>
            <a:off x="8648939" y="2587252"/>
            <a:ext cx="870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Word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6C8AA6C-DB13-EE46-2DD5-65D51EEEAB27}"/>
                  </a:ext>
                </a:extLst>
              </p:cNvPr>
              <p:cNvSpPr txBox="1"/>
              <p:nvPr/>
            </p:nvSpPr>
            <p:spPr>
              <a:xfrm>
                <a:off x="8652918" y="4693688"/>
                <a:ext cx="13316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Word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6C8AA6C-DB13-EE46-2DD5-65D51EEEAB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2918" y="4693688"/>
                <a:ext cx="1331647" cy="369332"/>
              </a:xfrm>
              <a:prstGeom prst="rect">
                <a:avLst/>
              </a:prstGeom>
              <a:blipFill>
                <a:blip r:embed="rId4"/>
                <a:stretch>
                  <a:fillRect l="-3653" t="-9836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FB19FF7-420C-10E9-9024-30DF058D36F9}"/>
                  </a:ext>
                </a:extLst>
              </p:cNvPr>
              <p:cNvSpPr txBox="1"/>
              <p:nvPr/>
            </p:nvSpPr>
            <p:spPr>
              <a:xfrm>
                <a:off x="7227489" y="5188032"/>
                <a:ext cx="37369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Example 32-bit memory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depth</a:t>
                </a: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FB19FF7-420C-10E9-9024-30DF058D36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7489" y="5188032"/>
                <a:ext cx="3736920" cy="369332"/>
              </a:xfrm>
              <a:prstGeom prst="rect">
                <a:avLst/>
              </a:prstGeom>
              <a:blipFill>
                <a:blip r:embed="rId5"/>
                <a:stretch>
                  <a:fillRect l="-1468" t="-8197" r="-653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52746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E6F91-FD9F-631E-2A33-E5131BB3B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RAM Architecture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A0A823-80BF-DC23-A83C-883C1C8F96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33422" y="1539277"/>
                <a:ext cx="4622257" cy="4329817"/>
              </a:xfrm>
            </p:spPr>
            <p:txBody>
              <a:bodyPr/>
              <a:lstStyle/>
              <a:p>
                <a:r>
                  <a:rPr lang="en-US" dirty="0"/>
                  <a:t>Three interface signals:</a:t>
                </a:r>
              </a:p>
              <a:p>
                <a:pPr lvl="1"/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</a:rPr>
                  <a:t>Address</a:t>
                </a:r>
                <a:r>
                  <a:rPr lang="en-US" dirty="0"/>
                  <a:t> input:  Which word to select</a:t>
                </a:r>
              </a:p>
              <a:p>
                <a:pPr lvl="1"/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Read/Write</a:t>
                </a:r>
                <a:r>
                  <a:rPr lang="en-US" dirty="0"/>
                  <a:t>:  Which direction of transfer</a:t>
                </a:r>
              </a:p>
              <a:p>
                <a:pPr lvl="1"/>
                <a:r>
                  <a:rPr lang="en-US" dirty="0">
                    <a:solidFill>
                      <a:srgbClr val="00B050"/>
                    </a:solidFill>
                  </a:rPr>
                  <a:t>Data</a:t>
                </a:r>
                <a:r>
                  <a:rPr lang="en-US" dirty="0"/>
                  <a:t>:  Value to read or write</a:t>
                </a:r>
              </a:p>
              <a:p>
                <a:r>
                  <a:rPr lang="en-US" dirty="0"/>
                  <a:t>Address input:</a:t>
                </a: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dirty="0"/>
                  <a:t> bits to select one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words</a:t>
                </a:r>
              </a:p>
              <a:p>
                <a:pPr lvl="1"/>
                <a:r>
                  <a:rPr lang="en-US" dirty="0"/>
                  <a:t>Each word has a </a:t>
                </a:r>
                <a:r>
                  <a:rPr lang="en-US" dirty="0" err="1"/>
                  <a:t>wordline</a:t>
                </a:r>
                <a:r>
                  <a:rPr lang="en-US" dirty="0"/>
                  <a:t> select</a:t>
                </a:r>
              </a:p>
              <a:p>
                <a:pPr lvl="1"/>
                <a:r>
                  <a:rPr lang="en-US" dirty="0"/>
                  <a:t>Selection determined by </a:t>
                </a:r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</a:rPr>
                  <a:t>address decoder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A0A823-80BF-DC23-A83C-883C1C8F96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3422" y="1539277"/>
                <a:ext cx="4622257" cy="4329817"/>
              </a:xfrm>
              <a:blipFill>
                <a:blip r:embed="rId2"/>
                <a:stretch>
                  <a:fillRect l="-3166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8381D9-985C-08C7-AEB5-1EB087107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8C29252-EDB7-C199-18FF-5CF93424698B}"/>
              </a:ext>
            </a:extLst>
          </p:cNvPr>
          <p:cNvGrpSpPr/>
          <p:nvPr/>
        </p:nvGrpSpPr>
        <p:grpSpPr>
          <a:xfrm>
            <a:off x="324438" y="1630137"/>
            <a:ext cx="5693185" cy="3421538"/>
            <a:chOff x="324438" y="1630137"/>
            <a:chExt cx="5693185" cy="3421538"/>
          </a:xfrm>
        </p:grpSpPr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F6C25994-24DD-3620-4CAE-83A7CB132B95}"/>
                </a:ext>
              </a:extLst>
            </p:cNvPr>
            <p:cNvSpPr/>
            <p:nvPr/>
          </p:nvSpPr>
          <p:spPr>
            <a:xfrm>
              <a:off x="3902065" y="2308781"/>
              <a:ext cx="914317" cy="264006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A1FAD5-8D48-A21C-8DF4-36148C5B302E}"/>
                </a:ext>
              </a:extLst>
            </p:cNvPr>
            <p:cNvSpPr/>
            <p:nvPr/>
          </p:nvSpPr>
          <p:spPr>
            <a:xfrm>
              <a:off x="1679370" y="2802744"/>
              <a:ext cx="914400" cy="9144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5B9A0E3-C243-06FE-69F7-6765D2A1CD2A}"/>
                </a:ext>
              </a:extLst>
            </p:cNvPr>
            <p:cNvSpPr/>
            <p:nvPr/>
          </p:nvSpPr>
          <p:spPr>
            <a:xfrm>
              <a:off x="5565006" y="2169329"/>
              <a:ext cx="310060" cy="2882346"/>
            </a:xfrm>
            <a:prstGeom prst="rect">
              <a:avLst/>
            </a:prstGeom>
            <a:solidFill>
              <a:srgbClr val="CCFF99"/>
            </a:solidFill>
            <a:ln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9E19483-793F-2739-2D1F-E802903699E3}"/>
                </a:ext>
              </a:extLst>
            </p:cNvPr>
            <p:cNvSpPr/>
            <p:nvPr/>
          </p:nvSpPr>
          <p:spPr>
            <a:xfrm>
              <a:off x="3911830" y="2899598"/>
              <a:ext cx="914317" cy="30481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813B71A-C912-EBEC-25EA-1B920697ED87}"/>
                    </a:ext>
                  </a:extLst>
                </p:cNvPr>
                <p:cNvSpPr txBox="1"/>
                <p:nvPr/>
              </p:nvSpPr>
              <p:spPr>
                <a:xfrm>
                  <a:off x="324438" y="2579880"/>
                  <a:ext cx="1334533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solidFill>
                        <a:schemeClr val="accent6">
                          <a:lumMod val="75000"/>
                        </a:schemeClr>
                      </a:solidFill>
                    </a:rPr>
                    <a:t>Address input</a:t>
                  </a:r>
                  <a:br>
                    <a:rPr lang="en-US" sz="1600" dirty="0"/>
                  </a:br>
                  <a14:m>
                    <m:oMath xmlns:m="http://schemas.openxmlformats.org/officeDocument/2006/math">
                      <m:func>
                        <m:func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sz="1600" dirty="0"/>
                    <a:t>bits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813B71A-C912-EBEC-25EA-1B920697ED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438" y="2579880"/>
                  <a:ext cx="1334533" cy="584775"/>
                </a:xfrm>
                <a:prstGeom prst="rect">
                  <a:avLst/>
                </a:prstGeom>
                <a:blipFill>
                  <a:blip r:embed="rId3"/>
                  <a:stretch>
                    <a:fillRect l="-2283" t="-3125" r="-1370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9869FFE-A147-C690-6340-2F5C376B7E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43624" y="2476733"/>
              <a:ext cx="30388" cy="2334152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454F599-A6A0-983D-571E-C1AE74BDCB60}"/>
                </a:ext>
              </a:extLst>
            </p:cNvPr>
            <p:cNvCxnSpPr/>
            <p:nvPr/>
          </p:nvCxnSpPr>
          <p:spPr>
            <a:xfrm>
              <a:off x="947217" y="3196939"/>
              <a:ext cx="738563" cy="0"/>
            </a:xfrm>
            <a:prstGeom prst="straightConnector1">
              <a:avLst/>
            </a:prstGeom>
            <a:ln>
              <a:solidFill>
                <a:schemeClr val="accent5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ED36180D-2EDA-541A-94AF-D513A7E12E55}"/>
                    </a:ext>
                  </a:extLst>
                </p:cNvPr>
                <p:cNvSpPr txBox="1"/>
                <p:nvPr/>
              </p:nvSpPr>
              <p:spPr>
                <a:xfrm>
                  <a:off x="1643390" y="3747300"/>
                  <a:ext cx="1350050" cy="107721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solidFill>
                        <a:schemeClr val="accent6">
                          <a:lumMod val="75000"/>
                        </a:schemeClr>
                      </a:solidFill>
                    </a:rPr>
                    <a:t>Address </a:t>
                  </a:r>
                  <a:br>
                    <a:rPr lang="en-US" sz="1600" dirty="0">
                      <a:solidFill>
                        <a:schemeClr val="accent6">
                          <a:lumMod val="75000"/>
                        </a:schemeClr>
                      </a:solidFill>
                    </a:rPr>
                  </a:br>
                  <a:r>
                    <a:rPr lang="en-US" sz="1600" dirty="0">
                      <a:solidFill>
                        <a:schemeClr val="accent6">
                          <a:lumMod val="75000"/>
                        </a:schemeClr>
                      </a:solidFill>
                    </a:rPr>
                    <a:t>decoder</a:t>
                  </a:r>
                  <a:br>
                    <a:rPr lang="en-US" sz="1600" dirty="0"/>
                  </a:br>
                  <a:r>
                    <a:rPr lang="en-US" sz="1600" dirty="0"/>
                    <a:t>Selects one of</a:t>
                  </a:r>
                </a:p>
                <a:p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a14:m>
                  <a:r>
                    <a:rPr lang="en-US" sz="1600" dirty="0"/>
                    <a:t> </a:t>
                  </a:r>
                  <a:r>
                    <a:rPr lang="en-US" sz="1600" dirty="0">
                      <a:solidFill>
                        <a:schemeClr val="accent6">
                          <a:lumMod val="75000"/>
                        </a:schemeClr>
                      </a:solidFill>
                    </a:rPr>
                    <a:t>wordlines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ED36180D-2EDA-541A-94AF-D513A7E12E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43390" y="3747300"/>
                  <a:ext cx="1350050" cy="1077218"/>
                </a:xfrm>
                <a:prstGeom prst="rect">
                  <a:avLst/>
                </a:prstGeom>
                <a:blipFill>
                  <a:blip r:embed="rId4"/>
                  <a:stretch>
                    <a:fillRect l="-2715" t="-1705" r="-905" b="-68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527EA86-35F3-424D-82DB-21531A48F3B9}"/>
                    </a:ext>
                  </a:extLst>
                </p:cNvPr>
                <p:cNvSpPr txBox="1"/>
                <p:nvPr/>
              </p:nvSpPr>
              <p:spPr>
                <a:xfrm>
                  <a:off x="2197380" y="1990396"/>
                  <a:ext cx="1201226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a14:m>
                  <a:r>
                    <a:rPr lang="en-US" sz="1600" dirty="0"/>
                    <a:t> </a:t>
                  </a:r>
                  <a:r>
                    <a:rPr lang="en-US" sz="1600" dirty="0">
                      <a:solidFill>
                        <a:schemeClr val="accent6">
                          <a:lumMod val="75000"/>
                        </a:schemeClr>
                      </a:solidFill>
                    </a:rPr>
                    <a:t>wordlines</a:t>
                  </a: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527EA86-35F3-424D-82DB-21531A48F3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7380" y="1990396"/>
                  <a:ext cx="1201226" cy="338554"/>
                </a:xfrm>
                <a:prstGeom prst="rect">
                  <a:avLst/>
                </a:prstGeom>
                <a:blipFill>
                  <a:blip r:embed="rId5"/>
                  <a:stretch>
                    <a:fillRect t="-5455" r="-151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F464507-89E5-BDF2-C5B1-B406436F7580}"/>
                    </a:ext>
                  </a:extLst>
                </p:cNvPr>
                <p:cNvSpPr txBox="1"/>
                <p:nvPr/>
              </p:nvSpPr>
              <p:spPr>
                <a:xfrm>
                  <a:off x="4190176" y="3473352"/>
                  <a:ext cx="3497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sz="24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F464507-89E5-BDF2-C5B1-B406436F7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90176" y="3473352"/>
                  <a:ext cx="349775" cy="46166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F1DBB8A8-5A6E-D7C3-0CF7-7F2498B56FE4}"/>
                    </a:ext>
                  </a:extLst>
                </p:cNvPr>
                <p:cNvSpPr txBox="1"/>
                <p:nvPr/>
              </p:nvSpPr>
              <p:spPr>
                <a:xfrm>
                  <a:off x="3340700" y="3545028"/>
                  <a:ext cx="3497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sz="24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F1DBB8A8-5A6E-D7C3-0CF7-7F2498B56F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40700" y="3545028"/>
                  <a:ext cx="349775" cy="46166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EF733FA4-307B-C512-F380-F8D34A28BA50}"/>
                </a:ext>
              </a:extLst>
            </p:cNvPr>
            <p:cNvGrpSpPr/>
            <p:nvPr/>
          </p:nvGrpSpPr>
          <p:grpSpPr>
            <a:xfrm>
              <a:off x="3167386" y="2308781"/>
              <a:ext cx="2397325" cy="296148"/>
              <a:chOff x="3167386" y="2308781"/>
              <a:chExt cx="2397325" cy="296148"/>
            </a:xfrm>
          </p:grpSpPr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9A6A75BD-5C70-CFFA-DD52-79FD0A8AD965}"/>
                  </a:ext>
                </a:extLst>
              </p:cNvPr>
              <p:cNvCxnSpPr/>
              <p:nvPr/>
            </p:nvCxnSpPr>
            <p:spPr>
              <a:xfrm>
                <a:off x="3167386" y="2472526"/>
                <a:ext cx="738563" cy="0"/>
              </a:xfrm>
              <a:prstGeom prst="straightConnector1">
                <a:avLst/>
              </a:prstGeom>
              <a:ln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B523CD0-BADD-C065-EFF8-D48B3E63BD0D}"/>
                  </a:ext>
                </a:extLst>
              </p:cNvPr>
              <p:cNvSpPr/>
              <p:nvPr/>
            </p:nvSpPr>
            <p:spPr>
              <a:xfrm>
                <a:off x="3911748" y="2308781"/>
                <a:ext cx="914400" cy="29614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A8788F5C-FDF1-39CC-0D44-A53EBE14875A}"/>
                  </a:ext>
                </a:extLst>
              </p:cNvPr>
              <p:cNvCxnSpPr/>
              <p:nvPr/>
            </p:nvCxnSpPr>
            <p:spPr>
              <a:xfrm>
                <a:off x="4826148" y="2507810"/>
                <a:ext cx="738563" cy="0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782C58E0-CB61-DFD4-D0C8-34BE336673A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26148" y="2406103"/>
                <a:ext cx="38124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6101463D-2ED4-556F-8691-B8F78C6B7597}"/>
                </a:ext>
              </a:extLst>
            </p:cNvPr>
            <p:cNvCxnSpPr/>
            <p:nvPr/>
          </p:nvCxnSpPr>
          <p:spPr>
            <a:xfrm>
              <a:off x="3172180" y="3068867"/>
              <a:ext cx="738563" cy="0"/>
            </a:xfrm>
            <a:prstGeom prst="straightConnector1">
              <a:avLst/>
            </a:prstGeom>
            <a:ln w="25400">
              <a:solidFill>
                <a:schemeClr val="accent5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6FE01C0-9FFA-6EAB-73B5-1D143D273C08}"/>
                </a:ext>
              </a:extLst>
            </p:cNvPr>
            <p:cNvSpPr/>
            <p:nvPr/>
          </p:nvSpPr>
          <p:spPr>
            <a:xfrm>
              <a:off x="3909916" y="2905122"/>
              <a:ext cx="914400" cy="2961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8AE36616-2713-6219-9197-77F22DB27C13}"/>
                </a:ext>
              </a:extLst>
            </p:cNvPr>
            <p:cNvCxnSpPr/>
            <p:nvPr/>
          </p:nvCxnSpPr>
          <p:spPr>
            <a:xfrm>
              <a:off x="4830942" y="3104151"/>
              <a:ext cx="738563" cy="0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296EBF3-3686-997A-895D-A805E1B388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30942" y="3002444"/>
              <a:ext cx="38124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547F1818-3246-6025-8F83-6642EAB316DC}"/>
                </a:ext>
              </a:extLst>
            </p:cNvPr>
            <p:cNvCxnSpPr>
              <a:cxnSpLocks/>
            </p:cNvCxnSpPr>
            <p:nvPr/>
          </p:nvCxnSpPr>
          <p:spPr>
            <a:xfrm>
              <a:off x="2593770" y="3196939"/>
              <a:ext cx="580242" cy="0"/>
            </a:xfrm>
            <a:prstGeom prst="straightConnector1">
              <a:avLst/>
            </a:prstGeom>
            <a:ln>
              <a:solidFill>
                <a:schemeClr val="accent5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2ADADB14-B164-1D09-68A4-0E5F781896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94436" y="2169329"/>
              <a:ext cx="12957" cy="258069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AC00E66-F6DE-4763-C5D1-6A285C8F48AC}"/>
                </a:ext>
              </a:extLst>
            </p:cNvPr>
            <p:cNvSpPr txBox="1"/>
            <p:nvPr/>
          </p:nvSpPr>
          <p:spPr>
            <a:xfrm>
              <a:off x="5446248" y="1630137"/>
              <a:ext cx="57137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00B050"/>
                  </a:solidFill>
                </a:rPr>
                <a:t>Data</a:t>
              </a:r>
              <a:br>
                <a:rPr lang="en-US" sz="1600" dirty="0">
                  <a:solidFill>
                    <a:srgbClr val="00B050"/>
                  </a:solidFill>
                </a:rPr>
              </a:br>
              <a:r>
                <a:rPr lang="en-US" sz="1600" dirty="0">
                  <a:solidFill>
                    <a:srgbClr val="00B050"/>
                  </a:solidFill>
                </a:rPr>
                <a:t>Bus</a:t>
              </a:r>
            </a:p>
          </p:txBody>
        </p: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03BE214C-0C61-D9C3-A14A-90EFDFD19676}"/>
                </a:ext>
              </a:extLst>
            </p:cNvPr>
            <p:cNvGrpSpPr/>
            <p:nvPr/>
          </p:nvGrpSpPr>
          <p:grpSpPr>
            <a:xfrm>
              <a:off x="3163502" y="2605830"/>
              <a:ext cx="2397325" cy="296148"/>
              <a:chOff x="3167386" y="2308781"/>
              <a:chExt cx="2397325" cy="296148"/>
            </a:xfrm>
          </p:grpSpPr>
          <p:cxnSp>
            <p:nvCxnSpPr>
              <p:cNvPr id="63" name="Straight Arrow Connector 62">
                <a:extLst>
                  <a:ext uri="{FF2B5EF4-FFF2-40B4-BE49-F238E27FC236}">
                    <a16:creationId xmlns:a16="http://schemas.microsoft.com/office/drawing/2014/main" id="{92A9608B-D09E-FC52-42A7-1255BEB8CDD5}"/>
                  </a:ext>
                </a:extLst>
              </p:cNvPr>
              <p:cNvCxnSpPr/>
              <p:nvPr/>
            </p:nvCxnSpPr>
            <p:spPr>
              <a:xfrm>
                <a:off x="3167386" y="2472526"/>
                <a:ext cx="738563" cy="0"/>
              </a:xfrm>
              <a:prstGeom prst="straightConnector1">
                <a:avLst/>
              </a:prstGeom>
              <a:ln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B76BA245-15FD-6781-181D-1D5F2E63E6A2}"/>
                  </a:ext>
                </a:extLst>
              </p:cNvPr>
              <p:cNvSpPr/>
              <p:nvPr/>
            </p:nvSpPr>
            <p:spPr>
              <a:xfrm>
                <a:off x="3911748" y="2308781"/>
                <a:ext cx="914400" cy="29614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5" name="Straight Arrow Connector 64">
                <a:extLst>
                  <a:ext uri="{FF2B5EF4-FFF2-40B4-BE49-F238E27FC236}">
                    <a16:creationId xmlns:a16="http://schemas.microsoft.com/office/drawing/2014/main" id="{3769AB36-0F08-C5FE-886B-6B7DEE6DEAEC}"/>
                  </a:ext>
                </a:extLst>
              </p:cNvPr>
              <p:cNvCxnSpPr/>
              <p:nvPr/>
            </p:nvCxnSpPr>
            <p:spPr>
              <a:xfrm>
                <a:off x="4826148" y="2507810"/>
                <a:ext cx="738563" cy="0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Arrow Connector 65">
                <a:extLst>
                  <a:ext uri="{FF2B5EF4-FFF2-40B4-BE49-F238E27FC236}">
                    <a16:creationId xmlns:a16="http://schemas.microsoft.com/office/drawing/2014/main" id="{A2061DEC-B635-5343-3CA1-DEC6B0902F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26148" y="2406103"/>
                <a:ext cx="38124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23C15D42-54C0-8F3D-9D02-372FD33F0E9D}"/>
                </a:ext>
              </a:extLst>
            </p:cNvPr>
            <p:cNvGrpSpPr/>
            <p:nvPr/>
          </p:nvGrpSpPr>
          <p:grpSpPr>
            <a:xfrm>
              <a:off x="3150250" y="4652701"/>
              <a:ext cx="2397325" cy="296148"/>
              <a:chOff x="3167386" y="2308781"/>
              <a:chExt cx="2397325" cy="296148"/>
            </a:xfrm>
          </p:grpSpPr>
          <p:cxnSp>
            <p:nvCxnSpPr>
              <p:cNvPr id="68" name="Straight Arrow Connector 67">
                <a:extLst>
                  <a:ext uri="{FF2B5EF4-FFF2-40B4-BE49-F238E27FC236}">
                    <a16:creationId xmlns:a16="http://schemas.microsoft.com/office/drawing/2014/main" id="{844380C4-92E7-0497-592B-77D939FED30B}"/>
                  </a:ext>
                </a:extLst>
              </p:cNvPr>
              <p:cNvCxnSpPr/>
              <p:nvPr/>
            </p:nvCxnSpPr>
            <p:spPr>
              <a:xfrm>
                <a:off x="3167386" y="2472526"/>
                <a:ext cx="738563" cy="0"/>
              </a:xfrm>
              <a:prstGeom prst="straightConnector1">
                <a:avLst/>
              </a:prstGeom>
              <a:ln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9ADA6A9-A770-B752-D749-F9DA004178AB}"/>
                  </a:ext>
                </a:extLst>
              </p:cNvPr>
              <p:cNvSpPr/>
              <p:nvPr/>
            </p:nvSpPr>
            <p:spPr>
              <a:xfrm>
                <a:off x="3911748" y="2308781"/>
                <a:ext cx="914400" cy="29614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F702F6A0-4640-7363-F51D-D58887326223}"/>
                  </a:ext>
                </a:extLst>
              </p:cNvPr>
              <p:cNvCxnSpPr/>
              <p:nvPr/>
            </p:nvCxnSpPr>
            <p:spPr>
              <a:xfrm>
                <a:off x="4826148" y="2507810"/>
                <a:ext cx="738563" cy="0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5A26EBD6-192A-69F0-C19C-2D891FD3091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26148" y="2406103"/>
                <a:ext cx="38124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36684B7C-11A2-5520-A488-D3CE9499C79E}"/>
                    </a:ext>
                  </a:extLst>
                </p:cNvPr>
                <p:cNvSpPr txBox="1"/>
                <p:nvPr/>
              </p:nvSpPr>
              <p:spPr>
                <a:xfrm>
                  <a:off x="3951413" y="1708762"/>
                  <a:ext cx="80079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</m:oMath>
                  </a14:m>
                  <a:r>
                    <a:rPr lang="en-US" sz="1600" dirty="0">
                      <a:solidFill>
                        <a:schemeClr val="accent2">
                          <a:lumMod val="75000"/>
                        </a:schemeClr>
                      </a:solidFill>
                    </a:rPr>
                    <a:t> data </a:t>
                  </a:r>
                  <a:br>
                    <a:rPr lang="en-US" sz="1600" dirty="0">
                      <a:solidFill>
                        <a:schemeClr val="accent2">
                          <a:lumMod val="75000"/>
                        </a:schemeClr>
                      </a:solidFill>
                    </a:rPr>
                  </a:br>
                  <a:r>
                    <a:rPr lang="en-US" sz="1600" dirty="0">
                      <a:solidFill>
                        <a:schemeClr val="accent2">
                          <a:lumMod val="75000"/>
                        </a:schemeClr>
                      </a:solidFill>
                    </a:rPr>
                    <a:t>words</a:t>
                  </a:r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36684B7C-11A2-5520-A488-D3CE9499C7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1413" y="1708762"/>
                  <a:ext cx="800797" cy="584775"/>
                </a:xfrm>
                <a:prstGeom prst="rect">
                  <a:avLst/>
                </a:prstGeom>
                <a:blipFill>
                  <a:blip r:embed="rId8"/>
                  <a:stretch>
                    <a:fillRect l="-3788" t="-3125" r="-3030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4115A449-FFD7-3923-3F8F-BDBB90560A3B}"/>
                </a:ext>
              </a:extLst>
            </p:cNvPr>
            <p:cNvSpPr txBox="1"/>
            <p:nvPr/>
          </p:nvSpPr>
          <p:spPr>
            <a:xfrm>
              <a:off x="4906650" y="1851863"/>
              <a:ext cx="55816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accent2">
                      <a:lumMod val="75000"/>
                    </a:schemeClr>
                  </a:solidFill>
                </a:rPr>
                <a:t>R/W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24753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988ED-08B8-0DBA-4712-12EC31CBA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Dedicated vs Shared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CF95C-F270-CB4E-1B7A-F6D1FCEE88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Dedicated memory</a:t>
            </a:r>
          </a:p>
          <a:p>
            <a:pPr lvl="1"/>
            <a:r>
              <a:rPr lang="en-US" dirty="0"/>
              <a:t>Memory that is dedicated to a single hardware module</a:t>
            </a:r>
          </a:p>
          <a:p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Shared memory</a:t>
            </a:r>
          </a:p>
          <a:p>
            <a:pPr lvl="1"/>
            <a:r>
              <a:rPr lang="en-US" dirty="0"/>
              <a:t>Memory shared between modules</a:t>
            </a:r>
          </a:p>
          <a:p>
            <a:pPr lvl="1"/>
            <a:r>
              <a:rPr lang="en-US" dirty="0"/>
              <a:t>Also processing system and peripheral I/O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24AE16-0801-3CC7-26AA-B8A2CC6B6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4C886E-1250-5522-BDC3-1E7141667018}"/>
              </a:ext>
            </a:extLst>
          </p:cNvPr>
          <p:cNvSpPr/>
          <p:nvPr/>
        </p:nvSpPr>
        <p:spPr>
          <a:xfrm>
            <a:off x="9722582" y="1823315"/>
            <a:ext cx="588973" cy="13674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601CAE-965E-C96B-707A-5A7956CAC58C}"/>
              </a:ext>
            </a:extLst>
          </p:cNvPr>
          <p:cNvSpPr/>
          <p:nvPr/>
        </p:nvSpPr>
        <p:spPr>
          <a:xfrm>
            <a:off x="8583970" y="2193897"/>
            <a:ext cx="588973" cy="626281"/>
          </a:xfrm>
          <a:prstGeom prst="rect">
            <a:avLst/>
          </a:prstGeom>
          <a:solidFill>
            <a:srgbClr val="CCFFCC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4D21E-9009-F42D-23BF-645F0BD96EF0}"/>
              </a:ext>
            </a:extLst>
          </p:cNvPr>
          <p:cNvSpPr txBox="1"/>
          <p:nvPr/>
        </p:nvSpPr>
        <p:spPr>
          <a:xfrm>
            <a:off x="9522605" y="1453983"/>
            <a:ext cx="988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48F581-8943-E18A-23B1-9BBA711E403C}"/>
              </a:ext>
            </a:extLst>
          </p:cNvPr>
          <p:cNvSpPr txBox="1"/>
          <p:nvPr/>
        </p:nvSpPr>
        <p:spPr>
          <a:xfrm>
            <a:off x="8431159" y="1786644"/>
            <a:ext cx="915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Module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CD1A61C-4DE3-4144-F6BC-8A6DBDE87F85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9172943" y="2507038"/>
            <a:ext cx="5496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D269FEBA-24C9-FF26-D60B-39ED371F2637}"/>
              </a:ext>
            </a:extLst>
          </p:cNvPr>
          <p:cNvSpPr/>
          <p:nvPr/>
        </p:nvSpPr>
        <p:spPr>
          <a:xfrm>
            <a:off x="8500014" y="3991435"/>
            <a:ext cx="588973" cy="15494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B81251E-81F1-1F5B-F6CC-8D661A7A648A}"/>
              </a:ext>
            </a:extLst>
          </p:cNvPr>
          <p:cNvSpPr/>
          <p:nvPr/>
        </p:nvSpPr>
        <p:spPr>
          <a:xfrm>
            <a:off x="7361402" y="3946888"/>
            <a:ext cx="588973" cy="626281"/>
          </a:xfrm>
          <a:prstGeom prst="rect">
            <a:avLst/>
          </a:prstGeom>
          <a:solidFill>
            <a:srgbClr val="CCFFCC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738102-8697-20FE-A561-786FC4154017}"/>
              </a:ext>
            </a:extLst>
          </p:cNvPr>
          <p:cNvSpPr txBox="1"/>
          <p:nvPr/>
        </p:nvSpPr>
        <p:spPr>
          <a:xfrm>
            <a:off x="8300037" y="3622104"/>
            <a:ext cx="988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FCB010-9A80-233E-3548-4ECB11395EF7}"/>
              </a:ext>
            </a:extLst>
          </p:cNvPr>
          <p:cNvSpPr txBox="1"/>
          <p:nvPr/>
        </p:nvSpPr>
        <p:spPr>
          <a:xfrm>
            <a:off x="9760830" y="3581463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9098661-2ED5-C0BC-C680-335D2297F222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7950375" y="4260029"/>
            <a:ext cx="5496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43E1AAC9-3549-84C5-E8E7-40323E978360}"/>
              </a:ext>
            </a:extLst>
          </p:cNvPr>
          <p:cNvSpPr/>
          <p:nvPr/>
        </p:nvSpPr>
        <p:spPr>
          <a:xfrm>
            <a:off x="7361402" y="4914647"/>
            <a:ext cx="588973" cy="626281"/>
          </a:xfrm>
          <a:prstGeom prst="rect">
            <a:avLst/>
          </a:prstGeom>
          <a:solidFill>
            <a:srgbClr val="CCFFCC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CA0713-1B3B-922C-7AFD-6C49CE96EDC7}"/>
              </a:ext>
            </a:extLst>
          </p:cNvPr>
          <p:cNvSpPr txBox="1"/>
          <p:nvPr/>
        </p:nvSpPr>
        <p:spPr>
          <a:xfrm>
            <a:off x="7113110" y="4568677"/>
            <a:ext cx="1085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Module 2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F548F4E-000D-194F-B2E2-BE88F52B3A56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7950375" y="5227788"/>
            <a:ext cx="5496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7B52893B-41FB-B7DC-A89D-B750984293A7}"/>
              </a:ext>
            </a:extLst>
          </p:cNvPr>
          <p:cNvSpPr/>
          <p:nvPr/>
        </p:nvSpPr>
        <p:spPr>
          <a:xfrm>
            <a:off x="9670887" y="3997091"/>
            <a:ext cx="588973" cy="62628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F963162-1604-5B23-FD2F-790C5C4F6F0D}"/>
              </a:ext>
            </a:extLst>
          </p:cNvPr>
          <p:cNvSpPr txBox="1"/>
          <p:nvPr/>
        </p:nvSpPr>
        <p:spPr>
          <a:xfrm>
            <a:off x="7113110" y="3617333"/>
            <a:ext cx="1085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Module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142B768-CED0-C05C-D7B5-3E115BF4AD93}"/>
              </a:ext>
            </a:extLst>
          </p:cNvPr>
          <p:cNvSpPr/>
          <p:nvPr/>
        </p:nvSpPr>
        <p:spPr>
          <a:xfrm>
            <a:off x="9677837" y="4868755"/>
            <a:ext cx="588973" cy="62628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BB7B-8F80-24CE-3A3A-17707EDFC35F}"/>
              </a:ext>
            </a:extLst>
          </p:cNvPr>
          <p:cNvSpPr txBox="1"/>
          <p:nvPr/>
        </p:nvSpPr>
        <p:spPr>
          <a:xfrm>
            <a:off x="9569207" y="5537683"/>
            <a:ext cx="1499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Peripheral I/O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0E8F696-4F39-E545-7DDB-F5FF6209FD9B}"/>
              </a:ext>
            </a:extLst>
          </p:cNvPr>
          <p:cNvCxnSpPr>
            <a:cxnSpLocks/>
          </p:cNvCxnSpPr>
          <p:nvPr/>
        </p:nvCxnSpPr>
        <p:spPr>
          <a:xfrm>
            <a:off x="9108826" y="4272223"/>
            <a:ext cx="5496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CB6EA36-5F26-7082-D7A6-F9C2C1E9F003}"/>
              </a:ext>
            </a:extLst>
          </p:cNvPr>
          <p:cNvCxnSpPr>
            <a:cxnSpLocks/>
          </p:cNvCxnSpPr>
          <p:nvPr/>
        </p:nvCxnSpPr>
        <p:spPr>
          <a:xfrm>
            <a:off x="9088987" y="5227787"/>
            <a:ext cx="5496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06502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0E61A-79B5-D2FE-B4F4-2E6B52FFA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Share Memory?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650E8F-DDD9-05D0-4BA2-90C5232B04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7665720" cy="4329817"/>
              </a:xfrm>
            </p:spPr>
            <p:txBody>
              <a:bodyPr/>
              <a:lstStyle/>
              <a:p>
                <a:r>
                  <a:rPr lang="en-US" dirty="0"/>
                  <a:t>Multiple modules, I/O, PS need operate on same data</a:t>
                </a:r>
              </a:p>
              <a:p>
                <a:pPr lvl="1"/>
                <a:r>
                  <a:rPr lang="en-US" dirty="0"/>
                  <a:t>Example video pipeline:  Network I/O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Filtering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Coding</a:t>
                </a:r>
              </a:p>
              <a:p>
                <a:pPr lvl="1"/>
                <a:r>
                  <a:rPr lang="en-US" dirty="0"/>
                  <a:t>Virtually all complex tasks built over multiple modules</a:t>
                </a:r>
              </a:p>
              <a:p>
                <a:r>
                  <a:rPr lang="en-US" dirty="0"/>
                  <a:t>Enables common memory for large data</a:t>
                </a:r>
              </a:p>
              <a:p>
                <a:pPr lvl="1"/>
                <a:r>
                  <a:rPr lang="en-US" dirty="0"/>
                  <a:t>E.g., ML parameters, data, large video</a:t>
                </a:r>
              </a:p>
              <a:p>
                <a:pPr lvl="1"/>
                <a:r>
                  <a:rPr lang="en-US" dirty="0"/>
                  <a:t>Dedicated memory becomes inefficient</a:t>
                </a:r>
              </a:p>
              <a:p>
                <a:r>
                  <a:rPr lang="en-US" dirty="0"/>
                  <a:t>Allows dynamic memory allocation</a:t>
                </a:r>
              </a:p>
              <a:p>
                <a:pPr lvl="1"/>
                <a:r>
                  <a:rPr lang="en-US" dirty="0"/>
                  <a:t>Use memory as needed</a:t>
                </a:r>
              </a:p>
              <a:p>
                <a:pPr lvl="1"/>
                <a:r>
                  <a:rPr lang="en-US" dirty="0"/>
                  <a:t>Allocate memory to modules as needed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650E8F-DDD9-05D0-4BA2-90C5232B04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7665720" cy="4329817"/>
              </a:xfrm>
              <a:blipFill>
                <a:blip r:embed="rId2"/>
                <a:stretch>
                  <a:fillRect l="-1908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689A8-F25D-907A-C043-D411151A7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7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F6164F-55FA-B6C4-3DF7-19E2C387E059}"/>
              </a:ext>
            </a:extLst>
          </p:cNvPr>
          <p:cNvSpPr/>
          <p:nvPr/>
        </p:nvSpPr>
        <p:spPr>
          <a:xfrm>
            <a:off x="8809576" y="2657765"/>
            <a:ext cx="588973" cy="15494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921DFC-C93B-9489-EE8F-1BB404736E9F}"/>
              </a:ext>
            </a:extLst>
          </p:cNvPr>
          <p:cNvSpPr/>
          <p:nvPr/>
        </p:nvSpPr>
        <p:spPr>
          <a:xfrm>
            <a:off x="7670964" y="2613218"/>
            <a:ext cx="588973" cy="626281"/>
          </a:xfrm>
          <a:prstGeom prst="rect">
            <a:avLst/>
          </a:prstGeom>
          <a:solidFill>
            <a:srgbClr val="CCFFCC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52D64A-8E17-CBC7-DCE8-3F0303595D76}"/>
              </a:ext>
            </a:extLst>
          </p:cNvPr>
          <p:cNvSpPr txBox="1"/>
          <p:nvPr/>
        </p:nvSpPr>
        <p:spPr>
          <a:xfrm>
            <a:off x="8609599" y="2288434"/>
            <a:ext cx="988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F31D53-8A09-9D2E-2EB5-A3C62F215859}"/>
              </a:ext>
            </a:extLst>
          </p:cNvPr>
          <p:cNvSpPr txBox="1"/>
          <p:nvPr/>
        </p:nvSpPr>
        <p:spPr>
          <a:xfrm>
            <a:off x="10070392" y="2247793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AAA5214-0B26-22CC-45B4-AA87A84C8C5E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8259937" y="2926359"/>
            <a:ext cx="5496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972BDF9D-7F68-0A83-82CB-9DCBE361BEA6}"/>
              </a:ext>
            </a:extLst>
          </p:cNvPr>
          <p:cNvSpPr/>
          <p:nvPr/>
        </p:nvSpPr>
        <p:spPr>
          <a:xfrm>
            <a:off x="7670964" y="3580977"/>
            <a:ext cx="588973" cy="626281"/>
          </a:xfrm>
          <a:prstGeom prst="rect">
            <a:avLst/>
          </a:prstGeom>
          <a:solidFill>
            <a:srgbClr val="CCFFCC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EAE14F-BF5E-C971-7A88-B52441090BEE}"/>
              </a:ext>
            </a:extLst>
          </p:cNvPr>
          <p:cNvSpPr txBox="1"/>
          <p:nvPr/>
        </p:nvSpPr>
        <p:spPr>
          <a:xfrm>
            <a:off x="7422672" y="3235007"/>
            <a:ext cx="1085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Module 2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8427796-5B51-5F0E-6CD7-C76C8403D703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8259937" y="3894118"/>
            <a:ext cx="5496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2595C05C-7A32-EAEF-F970-D7B1DF2D0F6C}"/>
              </a:ext>
            </a:extLst>
          </p:cNvPr>
          <p:cNvSpPr/>
          <p:nvPr/>
        </p:nvSpPr>
        <p:spPr>
          <a:xfrm>
            <a:off x="9980449" y="2663421"/>
            <a:ext cx="588973" cy="62628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23AA0C-8BCD-0235-D256-12426948EB84}"/>
              </a:ext>
            </a:extLst>
          </p:cNvPr>
          <p:cNvSpPr txBox="1"/>
          <p:nvPr/>
        </p:nvSpPr>
        <p:spPr>
          <a:xfrm>
            <a:off x="7422672" y="2283663"/>
            <a:ext cx="1085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Module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F2DE69-AC6E-9AF7-2FA6-19E4DA39D82A}"/>
              </a:ext>
            </a:extLst>
          </p:cNvPr>
          <p:cNvSpPr/>
          <p:nvPr/>
        </p:nvSpPr>
        <p:spPr>
          <a:xfrm>
            <a:off x="9987399" y="3535085"/>
            <a:ext cx="588973" cy="62628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7E2D29-D31C-C764-BBB4-A730826423C8}"/>
              </a:ext>
            </a:extLst>
          </p:cNvPr>
          <p:cNvSpPr txBox="1"/>
          <p:nvPr/>
        </p:nvSpPr>
        <p:spPr>
          <a:xfrm>
            <a:off x="9878769" y="4204013"/>
            <a:ext cx="1499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Peripheral I/O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3A88B14-A9FF-E397-7EFA-0CDC43463BA8}"/>
              </a:ext>
            </a:extLst>
          </p:cNvPr>
          <p:cNvCxnSpPr>
            <a:cxnSpLocks/>
          </p:cNvCxnSpPr>
          <p:nvPr/>
        </p:nvCxnSpPr>
        <p:spPr>
          <a:xfrm>
            <a:off x="9418388" y="2938553"/>
            <a:ext cx="5496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94D766A-941D-7B2E-9F0E-99BFF6FE6A16}"/>
              </a:ext>
            </a:extLst>
          </p:cNvPr>
          <p:cNvCxnSpPr>
            <a:cxnSpLocks/>
          </p:cNvCxnSpPr>
          <p:nvPr/>
        </p:nvCxnSpPr>
        <p:spPr>
          <a:xfrm>
            <a:off x="9398549" y="3894117"/>
            <a:ext cx="5496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1431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9F484-36D4-78CF-C0BB-9BEDA5263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Build Shared Memory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C21586-A6CF-EB03-EB18-A8AED5196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8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00218F-49D4-8611-933C-CE939DC778E2}"/>
              </a:ext>
            </a:extLst>
          </p:cNvPr>
          <p:cNvSpPr/>
          <p:nvPr/>
        </p:nvSpPr>
        <p:spPr>
          <a:xfrm>
            <a:off x="3931034" y="3392357"/>
            <a:ext cx="588973" cy="165064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A3097C-FCD4-191F-5DE0-119F2DCBDB4D}"/>
              </a:ext>
            </a:extLst>
          </p:cNvPr>
          <p:cNvSpPr/>
          <p:nvPr/>
        </p:nvSpPr>
        <p:spPr>
          <a:xfrm>
            <a:off x="2870945" y="3355689"/>
            <a:ext cx="588973" cy="62628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4C9AEA-B697-FEAF-7296-1B3BB6BE5FC3}"/>
              </a:ext>
            </a:extLst>
          </p:cNvPr>
          <p:cNvSpPr txBox="1"/>
          <p:nvPr/>
        </p:nvSpPr>
        <p:spPr>
          <a:xfrm>
            <a:off x="3731057" y="3023026"/>
            <a:ext cx="988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55CA1E-0A4C-E85D-BCBF-E6537950F9AC}"/>
              </a:ext>
            </a:extLst>
          </p:cNvPr>
          <p:cNvSpPr/>
          <p:nvPr/>
        </p:nvSpPr>
        <p:spPr>
          <a:xfrm>
            <a:off x="1810856" y="3355688"/>
            <a:ext cx="588973" cy="626281"/>
          </a:xfrm>
          <a:prstGeom prst="rect">
            <a:avLst/>
          </a:prstGeom>
          <a:solidFill>
            <a:srgbClr val="CCFFCC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D9997-7DE5-6C95-D7FD-65C10726F3F6}"/>
              </a:ext>
            </a:extLst>
          </p:cNvPr>
          <p:cNvSpPr txBox="1"/>
          <p:nvPr/>
        </p:nvSpPr>
        <p:spPr>
          <a:xfrm>
            <a:off x="1573944" y="2984126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Modules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40A627-C531-2A44-0C69-8922D18AEE2F}"/>
              </a:ext>
            </a:extLst>
          </p:cNvPr>
          <p:cNvSpPr txBox="1"/>
          <p:nvPr/>
        </p:nvSpPr>
        <p:spPr>
          <a:xfrm>
            <a:off x="2787622" y="3029889"/>
            <a:ext cx="6673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Ports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A70E45D-D113-0244-926C-D9DC4921717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>
            <a:off x="2399829" y="3668829"/>
            <a:ext cx="471116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44FB9FA-2B8D-B64E-F215-34A17F837544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3459918" y="3664247"/>
            <a:ext cx="471116" cy="45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5DCDB652-CF2C-1414-EF04-3C632164EBD2}"/>
              </a:ext>
            </a:extLst>
          </p:cNvPr>
          <p:cNvSpPr/>
          <p:nvPr/>
        </p:nvSpPr>
        <p:spPr>
          <a:xfrm>
            <a:off x="2882324" y="4385893"/>
            <a:ext cx="588973" cy="62628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F442E3D-3EF2-C670-ABAF-62EABB8E65B1}"/>
              </a:ext>
            </a:extLst>
          </p:cNvPr>
          <p:cNvSpPr/>
          <p:nvPr/>
        </p:nvSpPr>
        <p:spPr>
          <a:xfrm>
            <a:off x="1822235" y="4385892"/>
            <a:ext cx="588973" cy="626281"/>
          </a:xfrm>
          <a:prstGeom prst="rect">
            <a:avLst/>
          </a:prstGeom>
          <a:solidFill>
            <a:srgbClr val="CCFFCC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1E82703-B01D-B2CD-BF18-0AFDBF39B81D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>
            <a:off x="2411208" y="4699033"/>
            <a:ext cx="471116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4F46959-C07B-9F25-A2ED-FD5E1E416050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3471297" y="4694451"/>
            <a:ext cx="471116" cy="45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A488AA2-F826-333F-6197-782ADAA0E3CA}"/>
              </a:ext>
            </a:extLst>
          </p:cNvPr>
          <p:cNvSpPr/>
          <p:nvPr/>
        </p:nvSpPr>
        <p:spPr>
          <a:xfrm>
            <a:off x="8555731" y="3178294"/>
            <a:ext cx="272529" cy="19675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76C662F-6A02-453B-8395-87F543E3A487}"/>
              </a:ext>
            </a:extLst>
          </p:cNvPr>
          <p:cNvSpPr/>
          <p:nvPr/>
        </p:nvSpPr>
        <p:spPr>
          <a:xfrm>
            <a:off x="7283363" y="3480569"/>
            <a:ext cx="723900" cy="490139"/>
          </a:xfrm>
          <a:prstGeom prst="rect">
            <a:avLst/>
          </a:prstGeom>
          <a:solidFill>
            <a:srgbClr val="CC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6C886C-76BC-6F32-5975-81C6BDC4E011}"/>
              </a:ext>
            </a:extLst>
          </p:cNvPr>
          <p:cNvCxnSpPr>
            <a:cxnSpLocks/>
          </p:cNvCxnSpPr>
          <p:nvPr/>
        </p:nvCxnSpPr>
        <p:spPr>
          <a:xfrm>
            <a:off x="8007263" y="3715535"/>
            <a:ext cx="56711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9072C4A-33D5-EBDE-B85D-E25E85036E55}"/>
              </a:ext>
            </a:extLst>
          </p:cNvPr>
          <p:cNvSpPr txBox="1"/>
          <p:nvPr/>
        </p:nvSpPr>
        <p:spPr>
          <a:xfrm>
            <a:off x="8068009" y="2782078"/>
            <a:ext cx="13801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Interconnect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909C50E-A234-ABC3-4E80-CC03C7C15381}"/>
              </a:ext>
            </a:extLst>
          </p:cNvPr>
          <p:cNvSpPr txBox="1"/>
          <p:nvPr/>
        </p:nvSpPr>
        <p:spPr>
          <a:xfrm>
            <a:off x="9073064" y="3111237"/>
            <a:ext cx="988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546AD11-B788-6595-DF84-913F11655A92}"/>
              </a:ext>
            </a:extLst>
          </p:cNvPr>
          <p:cNvSpPr/>
          <p:nvPr/>
        </p:nvSpPr>
        <p:spPr>
          <a:xfrm>
            <a:off x="9317869" y="3478361"/>
            <a:ext cx="588973" cy="13674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9A7E46-21CA-9EB9-879F-D649610ABFEC}"/>
              </a:ext>
            </a:extLst>
          </p:cNvPr>
          <p:cNvSpPr/>
          <p:nvPr/>
        </p:nvSpPr>
        <p:spPr>
          <a:xfrm>
            <a:off x="7283363" y="4503805"/>
            <a:ext cx="723900" cy="490139"/>
          </a:xfrm>
          <a:prstGeom prst="rect">
            <a:avLst/>
          </a:prstGeom>
          <a:solidFill>
            <a:srgbClr val="CC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B4A7FBF-9881-4F0F-EFA8-1AC41788E9EF}"/>
              </a:ext>
            </a:extLst>
          </p:cNvPr>
          <p:cNvCxnSpPr>
            <a:cxnSpLocks/>
          </p:cNvCxnSpPr>
          <p:nvPr/>
        </p:nvCxnSpPr>
        <p:spPr>
          <a:xfrm>
            <a:off x="8007263" y="4738771"/>
            <a:ext cx="56711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DDEC98-3780-F010-A89A-E2FFBCCBEF6E}"/>
              </a:ext>
            </a:extLst>
          </p:cNvPr>
          <p:cNvCxnSpPr>
            <a:cxnSpLocks/>
            <a:stCxn id="17" idx="3"/>
            <a:endCxn id="22" idx="1"/>
          </p:cNvCxnSpPr>
          <p:nvPr/>
        </p:nvCxnSpPr>
        <p:spPr>
          <a:xfrm>
            <a:off x="8828260" y="4162084"/>
            <a:ext cx="489609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5ACA703-8967-5B1F-85A8-26ED60797CCF}"/>
              </a:ext>
            </a:extLst>
          </p:cNvPr>
          <p:cNvSpPr txBox="1"/>
          <p:nvPr/>
        </p:nvSpPr>
        <p:spPr>
          <a:xfrm>
            <a:off x="7142611" y="3116976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Modules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6CE6FD1-8F81-AFB6-3A81-F3FDC86F670F}"/>
              </a:ext>
            </a:extLst>
          </p:cNvPr>
          <p:cNvSpPr txBox="1"/>
          <p:nvPr/>
        </p:nvSpPr>
        <p:spPr>
          <a:xfrm>
            <a:off x="1251641" y="1712126"/>
            <a:ext cx="403835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Method 1.  Multi-Port memory</a:t>
            </a:r>
            <a:br>
              <a:rPr lang="en-US" sz="2400" dirty="0"/>
            </a:br>
            <a:r>
              <a:rPr lang="en-US" sz="2000" dirty="0"/>
              <a:t>Each module has a dedicated port</a:t>
            </a:r>
            <a:endParaRPr lang="en-US" sz="24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A85EC9E-9D29-A501-BD6D-B67E91B6A122}"/>
              </a:ext>
            </a:extLst>
          </p:cNvPr>
          <p:cNvSpPr txBox="1"/>
          <p:nvPr/>
        </p:nvSpPr>
        <p:spPr>
          <a:xfrm>
            <a:off x="6863877" y="1712126"/>
            <a:ext cx="390132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Method 2.  Interconnect</a:t>
            </a:r>
          </a:p>
          <a:p>
            <a:r>
              <a:rPr lang="en-US" sz="2000" dirty="0"/>
              <a:t>Modules use connect infrastructure</a:t>
            </a:r>
          </a:p>
        </p:txBody>
      </p:sp>
    </p:spTree>
    <p:extLst>
      <p:ext uri="{BB962C8B-B14F-4D97-AF65-F5344CB8AC3E}">
        <p14:creationId xmlns:p14="http://schemas.microsoft.com/office/powerpoint/2010/main" val="14047954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15A0A-2F6D-290E-9F5A-C6BFA6F9D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Single and Multi-Port Memories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B12E7A-12D4-B669-8A4A-A8367A3C2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Single port</a:t>
            </a:r>
          </a:p>
          <a:p>
            <a:pPr lvl="1"/>
            <a:r>
              <a:rPr lang="en-US" dirty="0"/>
              <a:t>HW module has dedicated use of a memory</a:t>
            </a:r>
          </a:p>
          <a:p>
            <a:pPr lvl="1"/>
            <a:r>
              <a:rPr lang="en-US" dirty="0"/>
              <a:t>Memory has a single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port</a:t>
            </a:r>
          </a:p>
          <a:p>
            <a:pPr lvl="1"/>
            <a:r>
              <a:rPr lang="en-US" dirty="0"/>
              <a:t>Port exposes address, data lines with address decoder</a:t>
            </a:r>
          </a:p>
          <a:p>
            <a:pPr lvl="1"/>
            <a:r>
              <a:rPr lang="en-US" dirty="0"/>
              <a:t>Does not permit transfer of data between modules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Dual or multi-port</a:t>
            </a:r>
          </a:p>
          <a:p>
            <a:pPr lvl="1"/>
            <a:r>
              <a:rPr lang="en-US" dirty="0"/>
              <a:t>Multiple modules connect to the memory</a:t>
            </a:r>
          </a:p>
          <a:p>
            <a:pPr lvl="1"/>
            <a:r>
              <a:rPr lang="en-US" dirty="0"/>
              <a:t>Each module has a dedicated port</a:t>
            </a:r>
          </a:p>
          <a:p>
            <a:pPr lvl="1"/>
            <a:r>
              <a:rPr lang="en-US" dirty="0"/>
              <a:t>Allow simultaneous writes in same clock cycle</a:t>
            </a:r>
          </a:p>
          <a:p>
            <a:pPr lvl="1"/>
            <a:r>
              <a:rPr lang="en-US" dirty="0"/>
              <a:t>Most efficient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20BFA2-62E4-822C-EA6E-72B6B3D4E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9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64202C-5A1F-63FE-29A7-39319410E840}"/>
              </a:ext>
            </a:extLst>
          </p:cNvPr>
          <p:cNvSpPr/>
          <p:nvPr/>
        </p:nvSpPr>
        <p:spPr>
          <a:xfrm>
            <a:off x="9722582" y="1823315"/>
            <a:ext cx="588973" cy="13674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0ADEB6-366D-C6F0-9147-1396ADED44EC}"/>
              </a:ext>
            </a:extLst>
          </p:cNvPr>
          <p:cNvSpPr/>
          <p:nvPr/>
        </p:nvSpPr>
        <p:spPr>
          <a:xfrm>
            <a:off x="8662493" y="2198480"/>
            <a:ext cx="588973" cy="62628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2130EE-AAEC-2D56-46BD-D44D4BD4DAB3}"/>
              </a:ext>
            </a:extLst>
          </p:cNvPr>
          <p:cNvSpPr txBox="1"/>
          <p:nvPr/>
        </p:nvSpPr>
        <p:spPr>
          <a:xfrm>
            <a:off x="9522605" y="1453983"/>
            <a:ext cx="988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A003F3-2762-17DD-B643-78706AC5641C}"/>
              </a:ext>
            </a:extLst>
          </p:cNvPr>
          <p:cNvSpPr/>
          <p:nvPr/>
        </p:nvSpPr>
        <p:spPr>
          <a:xfrm>
            <a:off x="7602404" y="2198479"/>
            <a:ext cx="588973" cy="626281"/>
          </a:xfrm>
          <a:prstGeom prst="rect">
            <a:avLst/>
          </a:prstGeom>
          <a:solidFill>
            <a:srgbClr val="CCFFCC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A6AB0B-63CF-FBA9-40D6-5E4B90684E6C}"/>
              </a:ext>
            </a:extLst>
          </p:cNvPr>
          <p:cNvSpPr txBox="1"/>
          <p:nvPr/>
        </p:nvSpPr>
        <p:spPr>
          <a:xfrm>
            <a:off x="7473591" y="1756255"/>
            <a:ext cx="915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Module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177594-F1E5-5F08-0685-56C835E990E3}"/>
              </a:ext>
            </a:extLst>
          </p:cNvPr>
          <p:cNvSpPr txBox="1"/>
          <p:nvPr/>
        </p:nvSpPr>
        <p:spPr>
          <a:xfrm>
            <a:off x="8673872" y="1753306"/>
            <a:ext cx="577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Port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96722BB-0582-D745-8708-7A2A22C03866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>
            <a:off x="8191377" y="2511620"/>
            <a:ext cx="471116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D901617-5D84-8929-AE15-C89CAEAA7C3C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 flipV="1">
            <a:off x="9251466" y="2507038"/>
            <a:ext cx="471116" cy="45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43D5EF0C-9CD7-C0DD-C56F-65B44D5E1F73}"/>
              </a:ext>
            </a:extLst>
          </p:cNvPr>
          <p:cNvSpPr/>
          <p:nvPr/>
        </p:nvSpPr>
        <p:spPr>
          <a:xfrm>
            <a:off x="9758788" y="4075471"/>
            <a:ext cx="588973" cy="165064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5141D7F-B339-CD42-BE10-3048B61FFA5C}"/>
              </a:ext>
            </a:extLst>
          </p:cNvPr>
          <p:cNvSpPr/>
          <p:nvPr/>
        </p:nvSpPr>
        <p:spPr>
          <a:xfrm>
            <a:off x="8698699" y="4038803"/>
            <a:ext cx="588973" cy="62628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DC8815-1F0A-C588-9B64-86747A23482D}"/>
              </a:ext>
            </a:extLst>
          </p:cNvPr>
          <p:cNvSpPr txBox="1"/>
          <p:nvPr/>
        </p:nvSpPr>
        <p:spPr>
          <a:xfrm>
            <a:off x="9558811" y="3706140"/>
            <a:ext cx="988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1E32F-41D9-62F4-6533-BD28A175E6C1}"/>
              </a:ext>
            </a:extLst>
          </p:cNvPr>
          <p:cNvSpPr/>
          <p:nvPr/>
        </p:nvSpPr>
        <p:spPr>
          <a:xfrm>
            <a:off x="7638610" y="4038802"/>
            <a:ext cx="588973" cy="626281"/>
          </a:xfrm>
          <a:prstGeom prst="rect">
            <a:avLst/>
          </a:prstGeom>
          <a:solidFill>
            <a:srgbClr val="CCFFCC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5443921-2245-5CDA-78D5-3FB440DC4E45}"/>
              </a:ext>
            </a:extLst>
          </p:cNvPr>
          <p:cNvSpPr txBox="1"/>
          <p:nvPr/>
        </p:nvSpPr>
        <p:spPr>
          <a:xfrm>
            <a:off x="7401698" y="3667240"/>
            <a:ext cx="1085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Module 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6943AF-2236-F4A3-1590-C771C742434D}"/>
              </a:ext>
            </a:extLst>
          </p:cNvPr>
          <p:cNvSpPr txBox="1"/>
          <p:nvPr/>
        </p:nvSpPr>
        <p:spPr>
          <a:xfrm>
            <a:off x="8615376" y="3713003"/>
            <a:ext cx="747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Port 1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607A909-70FA-3E31-CF4F-E2FB95FA4A97}"/>
              </a:ext>
            </a:extLst>
          </p:cNvPr>
          <p:cNvCxnSpPr>
            <a:cxnSpLocks/>
            <a:stCxn id="21" idx="3"/>
            <a:endCxn id="19" idx="1"/>
          </p:cNvCxnSpPr>
          <p:nvPr/>
        </p:nvCxnSpPr>
        <p:spPr>
          <a:xfrm>
            <a:off x="8227583" y="4351943"/>
            <a:ext cx="471116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523C17F-8F26-9D1D-5D50-4FEEB0D15AB8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9287672" y="4347361"/>
            <a:ext cx="471116" cy="45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13B7185D-CD40-1857-30DF-AB3FA7635E39}"/>
              </a:ext>
            </a:extLst>
          </p:cNvPr>
          <p:cNvSpPr/>
          <p:nvPr/>
        </p:nvSpPr>
        <p:spPr>
          <a:xfrm>
            <a:off x="8710078" y="5069007"/>
            <a:ext cx="588973" cy="62628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9196C50-8CE7-5C34-59BC-817989EEF7E6}"/>
              </a:ext>
            </a:extLst>
          </p:cNvPr>
          <p:cNvSpPr/>
          <p:nvPr/>
        </p:nvSpPr>
        <p:spPr>
          <a:xfrm>
            <a:off x="7649989" y="5069006"/>
            <a:ext cx="588973" cy="626281"/>
          </a:xfrm>
          <a:prstGeom prst="rect">
            <a:avLst/>
          </a:prstGeom>
          <a:solidFill>
            <a:srgbClr val="CCFFCC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3E58E3A-DC0B-21FF-FE6E-62CDFB3C51BA}"/>
              </a:ext>
            </a:extLst>
          </p:cNvPr>
          <p:cNvSpPr txBox="1"/>
          <p:nvPr/>
        </p:nvSpPr>
        <p:spPr>
          <a:xfrm>
            <a:off x="7388966" y="5664417"/>
            <a:ext cx="1085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Module 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46734D8-5E10-E8B8-968B-8D769051D17B}"/>
              </a:ext>
            </a:extLst>
          </p:cNvPr>
          <p:cNvSpPr txBox="1"/>
          <p:nvPr/>
        </p:nvSpPr>
        <p:spPr>
          <a:xfrm>
            <a:off x="8619430" y="5664417"/>
            <a:ext cx="747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Port 2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B8875B8-377B-3B4B-62E5-59C45AA62A95}"/>
              </a:ext>
            </a:extLst>
          </p:cNvPr>
          <p:cNvCxnSpPr>
            <a:cxnSpLocks/>
            <a:stCxn id="27" idx="3"/>
            <a:endCxn id="26" idx="1"/>
          </p:cNvCxnSpPr>
          <p:nvPr/>
        </p:nvCxnSpPr>
        <p:spPr>
          <a:xfrm>
            <a:off x="8238962" y="5382147"/>
            <a:ext cx="471116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351CB2A-D8C7-660E-FD42-12727BD4EDEA}"/>
              </a:ext>
            </a:extLst>
          </p:cNvPr>
          <p:cNvCxnSpPr>
            <a:cxnSpLocks/>
            <a:stCxn id="26" idx="3"/>
          </p:cNvCxnSpPr>
          <p:nvPr/>
        </p:nvCxnSpPr>
        <p:spPr>
          <a:xfrm flipV="1">
            <a:off x="9299051" y="5377565"/>
            <a:ext cx="471116" cy="45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8490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C7FB3-61A6-B50E-9534-6AF651E22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 with Multi-Port 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5F6AD-5636-5999-9471-9D1743F62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Mutli</a:t>
            </a:r>
            <a:r>
              <a:rPr lang="en-US" dirty="0"/>
              <a:t>-port SRAMs in ASICs are expensive</a:t>
            </a:r>
          </a:p>
          <a:p>
            <a:r>
              <a:rPr lang="en-US" dirty="0"/>
              <a:t>Typically limited to small </a:t>
            </a:r>
            <a:r>
              <a:rPr lang="en-US" dirty="0" err="1"/>
              <a:t>memorys</a:t>
            </a:r>
            <a:endParaRPr lang="en-US" dirty="0"/>
          </a:p>
          <a:p>
            <a:r>
              <a:rPr lang="en-US" dirty="0"/>
              <a:t>Limited ports (e.g., 2R/2W)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4FBF13-AACC-FD4B-7430-3E65E1D7E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10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C3B153-DBB2-A15E-0F48-C4B23DFA5623}"/>
              </a:ext>
            </a:extLst>
          </p:cNvPr>
          <p:cNvSpPr/>
          <p:nvPr/>
        </p:nvSpPr>
        <p:spPr>
          <a:xfrm>
            <a:off x="10698521" y="2045743"/>
            <a:ext cx="914317" cy="26400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9BB559-B66A-1BB0-B08E-136C6FF2A6A9}"/>
              </a:ext>
            </a:extLst>
          </p:cNvPr>
          <p:cNvSpPr/>
          <p:nvPr/>
        </p:nvSpPr>
        <p:spPr>
          <a:xfrm>
            <a:off x="10708692" y="4329699"/>
            <a:ext cx="914317" cy="176231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AF4DD5B-8742-55B8-F623-B3AA9DA847A5}"/>
                  </a:ext>
                </a:extLst>
              </p:cNvPr>
              <p:cNvSpPr txBox="1"/>
              <p:nvPr/>
            </p:nvSpPr>
            <p:spPr>
              <a:xfrm>
                <a:off x="10986632" y="3210314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AF4DD5B-8742-55B8-F623-B3AA9DA847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86632" y="3210314"/>
                <a:ext cx="349775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FC34E2A-D329-5108-0782-084CF57F5788}"/>
              </a:ext>
            </a:extLst>
          </p:cNvPr>
          <p:cNvSpPr txBox="1"/>
          <p:nvPr/>
        </p:nvSpPr>
        <p:spPr>
          <a:xfrm>
            <a:off x="10698521" y="1616776"/>
            <a:ext cx="9006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Memory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CB5F44-8FDB-45F2-93A4-94ED654DA01E}"/>
              </a:ext>
            </a:extLst>
          </p:cNvPr>
          <p:cNvSpPr/>
          <p:nvPr/>
        </p:nvSpPr>
        <p:spPr>
          <a:xfrm>
            <a:off x="10698521" y="3852806"/>
            <a:ext cx="914317" cy="176231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FDA0E1-3F86-3C36-0D5B-5E46CFB47938}"/>
              </a:ext>
            </a:extLst>
          </p:cNvPr>
          <p:cNvSpPr/>
          <p:nvPr/>
        </p:nvSpPr>
        <p:spPr>
          <a:xfrm>
            <a:off x="9088406" y="2484171"/>
            <a:ext cx="914400" cy="9144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3B8278-F2E3-D854-1AFC-ADB23597292E}"/>
              </a:ext>
            </a:extLst>
          </p:cNvPr>
          <p:cNvSpPr/>
          <p:nvPr/>
        </p:nvSpPr>
        <p:spPr>
          <a:xfrm>
            <a:off x="9088406" y="3611034"/>
            <a:ext cx="914400" cy="914400"/>
          </a:xfrm>
          <a:prstGeom prst="rect">
            <a:avLst/>
          </a:prstGeom>
          <a:solidFill>
            <a:srgbClr val="CCFFCC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BA0771A-42CF-E3EA-AA84-C8D0D9FC87F3}"/>
              </a:ext>
            </a:extLst>
          </p:cNvPr>
          <p:cNvCxnSpPr>
            <a:stCxn id="12" idx="3"/>
            <a:endCxn id="10" idx="1"/>
          </p:cNvCxnSpPr>
          <p:nvPr/>
        </p:nvCxnSpPr>
        <p:spPr>
          <a:xfrm flipV="1">
            <a:off x="10002806" y="3940922"/>
            <a:ext cx="695715" cy="127312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4FB95FC-A484-8D98-E86C-A5FD4CC02E11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10002806" y="2941371"/>
            <a:ext cx="685950" cy="1438062"/>
          </a:xfrm>
          <a:prstGeom prst="straightConnector1">
            <a:avLst/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75B7F16-0565-4936-34C6-BF6D73908AEA}"/>
              </a:ext>
            </a:extLst>
          </p:cNvPr>
          <p:cNvCxnSpPr>
            <a:endCxn id="11" idx="1"/>
          </p:cNvCxnSpPr>
          <p:nvPr/>
        </p:nvCxnSpPr>
        <p:spPr>
          <a:xfrm>
            <a:off x="8468139" y="2941371"/>
            <a:ext cx="620267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21D045E-7543-B390-3021-7EF9C437AD30}"/>
              </a:ext>
            </a:extLst>
          </p:cNvPr>
          <p:cNvCxnSpPr/>
          <p:nvPr/>
        </p:nvCxnSpPr>
        <p:spPr>
          <a:xfrm>
            <a:off x="8468138" y="4068234"/>
            <a:ext cx="620267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869003A-FA05-D772-E392-D68EA34CFB55}"/>
              </a:ext>
            </a:extLst>
          </p:cNvPr>
          <p:cNvSpPr txBox="1"/>
          <p:nvPr/>
        </p:nvSpPr>
        <p:spPr>
          <a:xfrm>
            <a:off x="9053451" y="4525433"/>
            <a:ext cx="10405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</a:rPr>
              <a:t>Address</a:t>
            </a:r>
            <a:br>
              <a:rPr lang="en-US" sz="1600" dirty="0">
                <a:solidFill>
                  <a:srgbClr val="00B050"/>
                </a:solidFill>
              </a:rPr>
            </a:br>
            <a:r>
              <a:rPr lang="en-US" sz="1600" dirty="0">
                <a:solidFill>
                  <a:srgbClr val="00B050"/>
                </a:solidFill>
              </a:rPr>
              <a:t>Decoder 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D76675-0937-7526-7887-C13F2AAD00B5}"/>
              </a:ext>
            </a:extLst>
          </p:cNvPr>
          <p:cNvSpPr txBox="1"/>
          <p:nvPr/>
        </p:nvSpPr>
        <p:spPr>
          <a:xfrm>
            <a:off x="7770343" y="2602817"/>
            <a:ext cx="12831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Data1, Addr1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53B457B-193B-3B93-0FA0-0E98725D667E}"/>
              </a:ext>
            </a:extLst>
          </p:cNvPr>
          <p:cNvSpPr txBox="1"/>
          <p:nvPr/>
        </p:nvSpPr>
        <p:spPr>
          <a:xfrm>
            <a:off x="9025335" y="1924182"/>
            <a:ext cx="10405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Address</a:t>
            </a:r>
            <a:br>
              <a:rPr lang="en-US" sz="1600" dirty="0">
                <a:solidFill>
                  <a:schemeClr val="accent5">
                    <a:lumMod val="75000"/>
                  </a:schemeClr>
                </a:solidFill>
              </a:rPr>
            </a:br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Decoder 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424EB7-355A-26AA-432A-3824934EC3DD}"/>
              </a:ext>
            </a:extLst>
          </p:cNvPr>
          <p:cNvSpPr txBox="1"/>
          <p:nvPr/>
        </p:nvSpPr>
        <p:spPr>
          <a:xfrm>
            <a:off x="7760902" y="3729679"/>
            <a:ext cx="12831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</a:rPr>
              <a:t>Data2, Addr2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27A9D63-4F2E-CC39-85B4-DF5938E8AE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5024" y="3054227"/>
            <a:ext cx="5097928" cy="2903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1817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27374-92C4-589A-0378-23B200BC4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09679-13FC-DD1F-1414-67FA2FF72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EDC39-69FB-91B0-2D1A-78041587F9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6402070" cy="432981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Interconnect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Physical and logical infrastructure for data communication</a:t>
            </a:r>
          </a:p>
          <a:p>
            <a:pPr lvl="1"/>
            <a:r>
              <a:rPr lang="en-US" dirty="0"/>
              <a:t>Between two or more functional units </a:t>
            </a:r>
          </a:p>
          <a:p>
            <a:pPr lvl="1"/>
            <a:r>
              <a:rPr lang="en-US" dirty="0"/>
              <a:t>Cores, memory controllers, I/O.</a:t>
            </a:r>
          </a:p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Topology</a:t>
            </a:r>
            <a:r>
              <a:rPr lang="en-US" dirty="0"/>
              <a:t> (Physical):</a:t>
            </a:r>
          </a:p>
          <a:p>
            <a:pPr lvl="1"/>
            <a:r>
              <a:rPr lang="en-US" dirty="0"/>
              <a:t>Wire layout or links (bus, mesh, crossbar, ring)</a:t>
            </a:r>
          </a:p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Protocol</a:t>
            </a:r>
            <a:r>
              <a:rPr lang="en-US" dirty="0"/>
              <a:t> (Logical):</a:t>
            </a:r>
          </a:p>
          <a:p>
            <a:pPr lvl="1"/>
            <a:r>
              <a:rPr lang="en-US" dirty="0"/>
              <a:t>Signals and timing for access (e.g., AXI4, </a:t>
            </a:r>
            <a:r>
              <a:rPr lang="en-US" dirty="0" err="1"/>
              <a:t>TileLink</a:t>
            </a:r>
            <a:r>
              <a:rPr lang="en-US" dirty="0"/>
              <a:t>, …)</a:t>
            </a:r>
          </a:p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Arbitration</a:t>
            </a:r>
            <a:r>
              <a:rPr lang="en-US" dirty="0"/>
              <a:t> (Control):</a:t>
            </a:r>
          </a:p>
          <a:p>
            <a:pPr lvl="1"/>
            <a:r>
              <a:rPr lang="en-US" dirty="0"/>
              <a:t>Method to resolve contention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F9C249-702B-242A-6BEA-F3EAF9DB3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11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970014-6E00-6A19-0613-67E7276AF27D}"/>
              </a:ext>
            </a:extLst>
          </p:cNvPr>
          <p:cNvSpPr/>
          <p:nvPr/>
        </p:nvSpPr>
        <p:spPr>
          <a:xfrm>
            <a:off x="10002806" y="1940591"/>
            <a:ext cx="264209" cy="25622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EBC7DD-A05A-AA14-7D1D-57157E27CBFD}"/>
              </a:ext>
            </a:extLst>
          </p:cNvPr>
          <p:cNvSpPr/>
          <p:nvPr/>
        </p:nvSpPr>
        <p:spPr>
          <a:xfrm>
            <a:off x="8730438" y="2301025"/>
            <a:ext cx="723900" cy="490139"/>
          </a:xfrm>
          <a:prstGeom prst="rect">
            <a:avLst/>
          </a:prstGeom>
          <a:solidFill>
            <a:srgbClr val="CC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4C2C2E5-C4BE-80BA-0786-BC11218E89CB}"/>
              </a:ext>
            </a:extLst>
          </p:cNvPr>
          <p:cNvCxnSpPr>
            <a:cxnSpLocks/>
          </p:cNvCxnSpPr>
          <p:nvPr/>
        </p:nvCxnSpPr>
        <p:spPr>
          <a:xfrm>
            <a:off x="9454338" y="2535991"/>
            <a:ext cx="56711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34C5FE3-2DF9-BC26-11C9-2239DD258C87}"/>
              </a:ext>
            </a:extLst>
          </p:cNvPr>
          <p:cNvSpPr txBox="1"/>
          <p:nvPr/>
        </p:nvSpPr>
        <p:spPr>
          <a:xfrm>
            <a:off x="9470262" y="1527185"/>
            <a:ext cx="13801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Interconnect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851BDA-11A2-7240-FB4A-1B5AD92BAFAC}"/>
              </a:ext>
            </a:extLst>
          </p:cNvPr>
          <p:cNvSpPr txBox="1"/>
          <p:nvPr/>
        </p:nvSpPr>
        <p:spPr>
          <a:xfrm>
            <a:off x="10564969" y="2041668"/>
            <a:ext cx="988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0329EE-C24E-D31D-7891-6CC4115F284A}"/>
              </a:ext>
            </a:extLst>
          </p:cNvPr>
          <p:cNvSpPr/>
          <p:nvPr/>
        </p:nvSpPr>
        <p:spPr>
          <a:xfrm>
            <a:off x="10765200" y="2535283"/>
            <a:ext cx="588973" cy="13674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20FF3E-3E68-433A-46D4-17F0EB20A842}"/>
              </a:ext>
            </a:extLst>
          </p:cNvPr>
          <p:cNvSpPr/>
          <p:nvPr/>
        </p:nvSpPr>
        <p:spPr>
          <a:xfrm>
            <a:off x="8730438" y="3860794"/>
            <a:ext cx="723900" cy="490139"/>
          </a:xfrm>
          <a:prstGeom prst="rect">
            <a:avLst/>
          </a:prstGeom>
          <a:solidFill>
            <a:srgbClr val="CC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8C46909-A1CA-EC89-E907-381F7DB2EE78}"/>
              </a:ext>
            </a:extLst>
          </p:cNvPr>
          <p:cNvCxnSpPr>
            <a:cxnSpLocks/>
          </p:cNvCxnSpPr>
          <p:nvPr/>
        </p:nvCxnSpPr>
        <p:spPr>
          <a:xfrm>
            <a:off x="9454338" y="4095760"/>
            <a:ext cx="56711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DC29B61-A255-043F-F8EB-2DB9FB8897A3}"/>
              </a:ext>
            </a:extLst>
          </p:cNvPr>
          <p:cNvCxnSpPr>
            <a:cxnSpLocks/>
            <a:stCxn id="5" idx="3"/>
            <a:endCxn id="10" idx="1"/>
          </p:cNvCxnSpPr>
          <p:nvPr/>
        </p:nvCxnSpPr>
        <p:spPr>
          <a:xfrm flipV="1">
            <a:off x="10267015" y="3219006"/>
            <a:ext cx="498185" cy="2721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C357B1-208A-8FC0-C2B1-F61B5A0EEDAB}"/>
              </a:ext>
            </a:extLst>
          </p:cNvPr>
          <p:cNvSpPr txBox="1"/>
          <p:nvPr/>
        </p:nvSpPr>
        <p:spPr>
          <a:xfrm>
            <a:off x="8589686" y="1937432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Modules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DE630F-804B-6EF5-C02D-73C3C47F5D51}"/>
              </a:ext>
            </a:extLst>
          </p:cNvPr>
          <p:cNvSpPr/>
          <p:nvPr/>
        </p:nvSpPr>
        <p:spPr>
          <a:xfrm>
            <a:off x="9874261" y="4755395"/>
            <a:ext cx="588973" cy="6857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FA34F7-CEB6-B892-067B-933E48E7D0C8}"/>
              </a:ext>
            </a:extLst>
          </p:cNvPr>
          <p:cNvSpPr txBox="1"/>
          <p:nvPr/>
        </p:nvSpPr>
        <p:spPr>
          <a:xfrm>
            <a:off x="9638994" y="5470863"/>
            <a:ext cx="1126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Controller</a:t>
            </a:r>
          </a:p>
        </p:txBody>
      </p:sp>
    </p:spTree>
    <p:extLst>
      <p:ext uri="{BB962C8B-B14F-4D97-AF65-F5344CB8AC3E}">
        <p14:creationId xmlns:p14="http://schemas.microsoft.com/office/powerpoint/2010/main" val="7472841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5CB34-BA7D-D5B8-115E-8C9F9BF9F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5DFC5-53B3-D7E7-3D64-D9C48864B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Transactions, Master and Slaves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9A8ED-764F-B4DB-78EB-B7F482A9AC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6402070" cy="4329817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>
                <a:solidFill>
                  <a:schemeClr val="accent3"/>
                </a:solidFill>
              </a:rPr>
              <a:t>Transactions</a:t>
            </a:r>
            <a:r>
              <a:rPr lang="en-US" sz="2400" dirty="0">
                <a:solidFill>
                  <a:srgbClr val="00B050"/>
                </a:solidFill>
              </a:rPr>
              <a:t>:</a:t>
            </a:r>
          </a:p>
          <a:p>
            <a:pPr lvl="1"/>
            <a:r>
              <a:rPr lang="en-US" sz="2200" dirty="0">
                <a:solidFill>
                  <a:schemeClr val="tx1"/>
                </a:solidFill>
              </a:rPr>
              <a:t>A transfer of data over the interconnect</a:t>
            </a:r>
          </a:p>
          <a:p>
            <a:r>
              <a:rPr lang="en-US" sz="2400" dirty="0">
                <a:solidFill>
                  <a:srgbClr val="00B050"/>
                </a:solidFill>
              </a:rPr>
              <a:t>Masters</a:t>
            </a:r>
          </a:p>
          <a:p>
            <a:pPr lvl="1"/>
            <a:r>
              <a:rPr lang="en-US" sz="2000" dirty="0">
                <a:solidFill>
                  <a:srgbClr val="00B050"/>
                </a:solidFill>
              </a:rPr>
              <a:t>Request</a:t>
            </a:r>
            <a:r>
              <a:rPr lang="en-US" sz="2000" dirty="0">
                <a:solidFill>
                  <a:schemeClr val="tx1"/>
                </a:solidFill>
              </a:rPr>
              <a:t> transactions (reads or writes)</a:t>
            </a:r>
          </a:p>
          <a:p>
            <a:pPr lvl="1"/>
            <a:r>
              <a:rPr lang="en-US" sz="2000" dirty="0">
                <a:solidFill>
                  <a:schemeClr val="tx1"/>
                </a:solidFill>
              </a:rPr>
              <a:t>Ex:  processors</a:t>
            </a:r>
          </a:p>
          <a:p>
            <a:pPr lvl="1"/>
            <a:r>
              <a:rPr lang="en-US" sz="2000" dirty="0">
                <a:solidFill>
                  <a:schemeClr val="tx1"/>
                </a:solidFill>
              </a:rPr>
              <a:t>Kernels that need to access memory</a:t>
            </a:r>
          </a:p>
          <a:p>
            <a:r>
              <a:rPr lang="en-US" sz="2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Slaves</a:t>
            </a:r>
          </a:p>
          <a:p>
            <a:pPr lvl="1"/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Respond</a:t>
            </a:r>
            <a:r>
              <a:rPr lang="en-US" sz="2000" dirty="0">
                <a:solidFill>
                  <a:schemeClr val="tx1"/>
                </a:solidFill>
              </a:rPr>
              <a:t> to transactions (reads or writes)</a:t>
            </a:r>
          </a:p>
          <a:p>
            <a:pPr lvl="1"/>
            <a:r>
              <a:rPr lang="en-US" sz="2000" dirty="0">
                <a:solidFill>
                  <a:schemeClr val="tx1"/>
                </a:solidFill>
              </a:rPr>
              <a:t>Read transactions:  Provide data to a master</a:t>
            </a:r>
          </a:p>
          <a:p>
            <a:pPr lvl="1"/>
            <a:r>
              <a:rPr lang="en-US" sz="2000" dirty="0">
                <a:solidFill>
                  <a:schemeClr val="tx1"/>
                </a:solidFill>
              </a:rPr>
              <a:t>Write transactions:  Accept data from a master</a:t>
            </a:r>
          </a:p>
          <a:p>
            <a:r>
              <a:rPr lang="en-US" sz="2200" dirty="0">
                <a:solidFill>
                  <a:schemeClr val="accent5">
                    <a:lumMod val="75000"/>
                  </a:schemeClr>
                </a:solidFill>
              </a:rPr>
              <a:t>Arbiter</a:t>
            </a:r>
          </a:p>
          <a:p>
            <a:pPr lvl="1"/>
            <a:r>
              <a:rPr lang="en-US" sz="2000" dirty="0">
                <a:solidFill>
                  <a:schemeClr val="tx1"/>
                </a:solidFill>
              </a:rPr>
              <a:t>Determines which transaction is used in each cycle</a:t>
            </a:r>
          </a:p>
          <a:p>
            <a:endParaRPr lang="en-US" sz="2200" dirty="0">
              <a:solidFill>
                <a:schemeClr val="tx1"/>
              </a:solidFill>
            </a:endParaRPr>
          </a:p>
          <a:p>
            <a:pPr lvl="1"/>
            <a:endParaRPr lang="en-US" sz="2000" dirty="0">
              <a:solidFill>
                <a:schemeClr val="tx1"/>
              </a:solidFill>
            </a:endParaRP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A8E93C-29A6-B4F0-3A78-E5930CE08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12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03B36F-730C-4069-C32D-EA9C48461273}"/>
              </a:ext>
            </a:extLst>
          </p:cNvPr>
          <p:cNvSpPr/>
          <p:nvPr/>
        </p:nvSpPr>
        <p:spPr>
          <a:xfrm>
            <a:off x="10002806" y="1940591"/>
            <a:ext cx="264209" cy="25622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8DC048-6DDA-3DBE-EEDB-FEF2EC516317}"/>
              </a:ext>
            </a:extLst>
          </p:cNvPr>
          <p:cNvSpPr/>
          <p:nvPr/>
        </p:nvSpPr>
        <p:spPr>
          <a:xfrm>
            <a:off x="8730438" y="2301025"/>
            <a:ext cx="723900" cy="490139"/>
          </a:xfrm>
          <a:prstGeom prst="rect">
            <a:avLst/>
          </a:prstGeom>
          <a:solidFill>
            <a:srgbClr val="CC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B6EF761-A147-344F-E4CF-44AB19CF4639}"/>
              </a:ext>
            </a:extLst>
          </p:cNvPr>
          <p:cNvCxnSpPr>
            <a:cxnSpLocks/>
          </p:cNvCxnSpPr>
          <p:nvPr/>
        </p:nvCxnSpPr>
        <p:spPr>
          <a:xfrm>
            <a:off x="9454338" y="2535991"/>
            <a:ext cx="56711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8A3DA7F-5AD8-5990-155A-07CC4AE9277B}"/>
              </a:ext>
            </a:extLst>
          </p:cNvPr>
          <p:cNvSpPr txBox="1"/>
          <p:nvPr/>
        </p:nvSpPr>
        <p:spPr>
          <a:xfrm>
            <a:off x="9402586" y="1472502"/>
            <a:ext cx="13801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Interconnect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61FD13-4026-F9CB-7D16-402517A0A087}"/>
              </a:ext>
            </a:extLst>
          </p:cNvPr>
          <p:cNvSpPr txBox="1"/>
          <p:nvPr/>
        </p:nvSpPr>
        <p:spPr>
          <a:xfrm>
            <a:off x="10647796" y="1954868"/>
            <a:ext cx="837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Slave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200EDB-591E-395B-EEBC-41B48ECB8A3E}"/>
              </a:ext>
            </a:extLst>
          </p:cNvPr>
          <p:cNvSpPr/>
          <p:nvPr/>
        </p:nvSpPr>
        <p:spPr>
          <a:xfrm>
            <a:off x="10745350" y="2344305"/>
            <a:ext cx="588973" cy="70201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96D6B4F-F0BE-297C-014D-41B9DE3638C1}"/>
              </a:ext>
            </a:extLst>
          </p:cNvPr>
          <p:cNvSpPr/>
          <p:nvPr/>
        </p:nvSpPr>
        <p:spPr>
          <a:xfrm>
            <a:off x="8730438" y="3860794"/>
            <a:ext cx="723900" cy="490139"/>
          </a:xfrm>
          <a:prstGeom prst="rect">
            <a:avLst/>
          </a:prstGeom>
          <a:solidFill>
            <a:srgbClr val="CC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395A344-ECE7-7C40-07F4-9492AE887971}"/>
              </a:ext>
            </a:extLst>
          </p:cNvPr>
          <p:cNvCxnSpPr>
            <a:cxnSpLocks/>
          </p:cNvCxnSpPr>
          <p:nvPr/>
        </p:nvCxnSpPr>
        <p:spPr>
          <a:xfrm>
            <a:off x="9454338" y="4095760"/>
            <a:ext cx="56711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DA93B33-63D2-2A00-2B0E-4F484F585FE0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10267015" y="2695311"/>
            <a:ext cx="478335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C0B5BF2-642D-084A-3B98-C7CF2737119E}"/>
              </a:ext>
            </a:extLst>
          </p:cNvPr>
          <p:cNvSpPr txBox="1"/>
          <p:nvPr/>
        </p:nvSpPr>
        <p:spPr>
          <a:xfrm>
            <a:off x="8589686" y="1937432"/>
            <a:ext cx="1019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Master 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0751D17-9A7B-ED4F-0ACF-3F7A936063E7}"/>
              </a:ext>
            </a:extLst>
          </p:cNvPr>
          <p:cNvSpPr/>
          <p:nvPr/>
        </p:nvSpPr>
        <p:spPr>
          <a:xfrm>
            <a:off x="9806585" y="4745067"/>
            <a:ext cx="588973" cy="6857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101E41-BDE3-F63E-A7B8-95081E19DF1A}"/>
              </a:ext>
            </a:extLst>
          </p:cNvPr>
          <p:cNvSpPr txBox="1"/>
          <p:nvPr/>
        </p:nvSpPr>
        <p:spPr>
          <a:xfrm>
            <a:off x="9713608" y="5427450"/>
            <a:ext cx="842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Arbiter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D6722C0-FEEE-35F3-E96A-D0B09675FF31}"/>
                  </a:ext>
                </a:extLst>
              </p:cNvPr>
              <p:cNvSpPr txBox="1"/>
              <p:nvPr/>
            </p:nvSpPr>
            <p:spPr>
              <a:xfrm>
                <a:off x="8582601" y="3462734"/>
                <a:ext cx="11053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Master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D6722C0-FEEE-35F3-E96A-D0B09675FF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2601" y="3462734"/>
                <a:ext cx="1105367" cy="369332"/>
              </a:xfrm>
              <a:prstGeom prst="rect">
                <a:avLst/>
              </a:prstGeom>
              <a:blipFill>
                <a:blip r:embed="rId2"/>
                <a:stretch>
                  <a:fillRect l="-4972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CD17CD-D44A-7668-44A7-CAAE858B64B3}"/>
                  </a:ext>
                </a:extLst>
              </p:cNvPr>
              <p:cNvSpPr txBox="1"/>
              <p:nvPr/>
            </p:nvSpPr>
            <p:spPr>
              <a:xfrm>
                <a:off x="10619644" y="4287535"/>
                <a:ext cx="84670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Slave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CD17CD-D44A-7668-44A7-CAAE858B6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9644" y="4287535"/>
                <a:ext cx="846707" cy="369332"/>
              </a:xfrm>
              <a:prstGeom prst="rect">
                <a:avLst/>
              </a:prstGeom>
              <a:blipFill>
                <a:blip r:embed="rId3"/>
                <a:stretch>
                  <a:fillRect l="-5755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5A6BECDB-A0FD-C387-927A-3B027854EC52}"/>
              </a:ext>
            </a:extLst>
          </p:cNvPr>
          <p:cNvSpPr/>
          <p:nvPr/>
        </p:nvSpPr>
        <p:spPr>
          <a:xfrm>
            <a:off x="10745350" y="3539345"/>
            <a:ext cx="588973" cy="70201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10A00D9-666A-085D-4943-E59E4601EE07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10267015" y="3890351"/>
            <a:ext cx="478335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82833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A22D8-273C-8219-2821-E3FC88A5B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 Topology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EBEB2-C338-0CD5-E778-0CF10FDE89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6189345" cy="4329817"/>
          </a:xfrm>
        </p:spPr>
        <p:txBody>
          <a:bodyPr/>
          <a:lstStyle/>
          <a:p>
            <a:r>
              <a:rPr lang="en-US" dirty="0"/>
              <a:t>One data path</a:t>
            </a:r>
          </a:p>
          <a:p>
            <a:r>
              <a:rPr lang="en-US" dirty="0"/>
              <a:t>Only one master-pair link in each cycle</a:t>
            </a:r>
          </a:p>
          <a:p>
            <a:r>
              <a:rPr lang="en-US" dirty="0"/>
              <a:t>Ex:  ARM AHB (Advanced High-Performance Bus)</a:t>
            </a:r>
          </a:p>
          <a:p>
            <a:pPr lvl="1"/>
            <a:r>
              <a:rPr lang="en-US" dirty="0"/>
              <a:t>Pre-cursor to AXI</a:t>
            </a:r>
          </a:p>
          <a:p>
            <a:pPr lvl="1"/>
            <a:r>
              <a:rPr lang="en-US" dirty="0"/>
              <a:t>Traditional shared medium</a:t>
            </a:r>
          </a:p>
          <a:p>
            <a:pPr lvl="1"/>
            <a:r>
              <a:rPr lang="en-US" dirty="0"/>
              <a:t>Each master has dedicated side channel to arbiter</a:t>
            </a:r>
          </a:p>
          <a:p>
            <a:pPr lvl="1"/>
            <a:r>
              <a:rPr lang="en-US" dirty="0"/>
              <a:t>Arbiter selects a master and slave based on requests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9B444-D17A-6D5C-2FF5-F5763EACB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13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D9ED671-EAB6-6916-AEA9-90C8EF7AD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2678" y="1489337"/>
            <a:ext cx="4402984" cy="4329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7085641-4ED8-7FBE-0CAE-7B5E250D2FBF}"/>
              </a:ext>
            </a:extLst>
          </p:cNvPr>
          <p:cNvSpPr txBox="1"/>
          <p:nvPr/>
        </p:nvSpPr>
        <p:spPr>
          <a:xfrm>
            <a:off x="503698" y="5272703"/>
            <a:ext cx="7468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Figure from </a:t>
            </a:r>
            <a:r>
              <a:rPr lang="en-US" b="1" dirty="0">
                <a:hlinkClick r:id="rId3"/>
              </a:rPr>
              <a:t>The Advanced Microcontroller Bus Architecture: An Introduction</a:t>
            </a:r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8790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DDB24-C18F-2390-273F-2556ACB6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80683-FBC9-A4DF-4FCB-410E92252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Crossbar Topology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5563AD-5C4D-6B1D-C371-1B237F7330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402070" cy="4329817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Connects: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masters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slaves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Supports parallel master-slave transfers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Each master and slave can be involved in up to one transfer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Up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min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transfers simultaneously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Enables massive aggregate throughput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Masters have separate request lines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Common example:  AXI4-MM protocol 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See section later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5563AD-5C4D-6B1D-C371-1B237F7330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402070" cy="4329817"/>
              </a:xfrm>
              <a:blipFill>
                <a:blip r:embed="rId2"/>
                <a:stretch>
                  <a:fillRect l="-2286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2B825-5F9A-EEC1-EDE8-419349075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14</a:t>
            </a:fld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C2E8E54-1F54-B82C-DEC1-ABDFC27ADE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6860" y="971423"/>
            <a:ext cx="3810196" cy="4915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6731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BF560-F5F3-2E55-05CD-D139B7205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Topologies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757DD6-1450-1859-0B6A-1CBEC1420E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4374833" cy="4329817"/>
          </a:xfrm>
        </p:spPr>
        <p:txBody>
          <a:bodyPr/>
          <a:lstStyle/>
          <a:p>
            <a:r>
              <a:rPr lang="en-US" dirty="0"/>
              <a:t>Ring, Mesh, NoC</a:t>
            </a:r>
          </a:p>
          <a:p>
            <a:r>
              <a:rPr lang="en-US" dirty="0"/>
              <a:t>Widely-used in large Systems on Chips</a:t>
            </a:r>
          </a:p>
          <a:p>
            <a:r>
              <a:rPr lang="en-US" dirty="0"/>
              <a:t>Advanced topic beyond this class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714E13-2EFD-14C3-A367-D49A8C38D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15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0959BC-0866-AB96-23BB-404CF4F9EC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6798"/>
          <a:stretch>
            <a:fillRect/>
          </a:stretch>
        </p:blipFill>
        <p:spPr>
          <a:xfrm>
            <a:off x="7674292" y="1918146"/>
            <a:ext cx="3481388" cy="357207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052294F-9AC4-66F4-5B5F-27AFCD684218}"/>
              </a:ext>
            </a:extLst>
          </p:cNvPr>
          <p:cNvSpPr txBox="1"/>
          <p:nvPr/>
        </p:nvSpPr>
        <p:spPr>
          <a:xfrm>
            <a:off x="1252537" y="4021379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Figure from Chatterjee, </a:t>
            </a:r>
            <a:r>
              <a:rPr lang="en-US" dirty="0" err="1"/>
              <a:t>Navonil</a:t>
            </a:r>
            <a:r>
              <a:rPr lang="en-US" dirty="0"/>
              <a:t>, Suraj Paul, and Santanu Chattopadhyay. "Fault-tolerant dynamic task mapping and scheduling for network-on-chip-based multicore platform." </a:t>
            </a:r>
            <a:r>
              <a:rPr lang="en-US" i="1" dirty="0"/>
              <a:t>ACM Transactions on Embedded Computing Systems (TECS)</a:t>
            </a:r>
            <a:r>
              <a:rPr lang="en-US" dirty="0"/>
              <a:t> 16.4 (2017): 1-24. </a:t>
            </a:r>
          </a:p>
        </p:txBody>
      </p:sp>
    </p:spTree>
    <p:extLst>
      <p:ext uri="{BB962C8B-B14F-4D97-AF65-F5344CB8AC3E}">
        <p14:creationId xmlns:p14="http://schemas.microsoft.com/office/powerpoint/2010/main" val="10005848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D94AC-7BD0-4293-DE5E-78C635170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BC9D8-2AAD-2726-9E12-AD8DFB5EC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2F91F5-FEEB-2082-716A-FEB486CB0A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Shared Memory and Interconnects</a:t>
            </a:r>
          </a:p>
          <a:p>
            <a:r>
              <a:rPr lang="en-US" sz="2400" dirty="0"/>
              <a:t>Implementing Simple Transactions over Shared Memory</a:t>
            </a:r>
          </a:p>
          <a:p>
            <a:r>
              <a:rPr lang="en-US" sz="2400" dirty="0"/>
              <a:t>AXI4-Memory Mapped Protocol</a:t>
            </a:r>
          </a:p>
          <a:p>
            <a:r>
              <a:rPr lang="en-US" sz="2400" dirty="0"/>
              <a:t>Implementing Shared Memory in Vitis HLS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7120A8-16EA-7672-C676-C4EFDC137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16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0FB6562B-2840-C155-B9B6-3A2CA89E0616}"/>
              </a:ext>
            </a:extLst>
          </p:cNvPr>
          <p:cNvSpPr/>
          <p:nvPr/>
        </p:nvSpPr>
        <p:spPr>
          <a:xfrm>
            <a:off x="416235" y="1975801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0899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B0B5A-A736-D927-F5E7-D89136D53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2636"/>
            <a:ext cx="10058400" cy="1040211"/>
          </a:xfrm>
        </p:spPr>
        <p:txBody>
          <a:bodyPr/>
          <a:lstStyle/>
          <a:p>
            <a:r>
              <a:rPr lang="en-US" dirty="0"/>
              <a:t>Stream vs. Shared Memory Transactions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AFCE59-5370-B51C-0465-098403CCCF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8"/>
            <a:ext cx="4070033" cy="76566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Dedicated stream transactions (Unit 5)</a:t>
            </a:r>
          </a:p>
          <a:p>
            <a:pPr marL="0" indent="0">
              <a:buNone/>
            </a:pPr>
            <a:r>
              <a:rPr lang="en-US" dirty="0"/>
              <a:t>Send data &amp; control on stream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93051-6CF4-2C92-95CC-6736E4A11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17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532EE7-07DA-117D-3A6E-B41FDE426B6A}"/>
              </a:ext>
            </a:extLst>
          </p:cNvPr>
          <p:cNvSpPr/>
          <p:nvPr/>
        </p:nvSpPr>
        <p:spPr>
          <a:xfrm>
            <a:off x="975986" y="3887543"/>
            <a:ext cx="723900" cy="1253053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107C7F-60B1-47FC-F752-DB2CC5F0F53B}"/>
              </a:ext>
            </a:extLst>
          </p:cNvPr>
          <p:cNvSpPr/>
          <p:nvPr/>
        </p:nvSpPr>
        <p:spPr>
          <a:xfrm>
            <a:off x="3913564" y="3943114"/>
            <a:ext cx="723900" cy="1259286"/>
          </a:xfrm>
          <a:prstGeom prst="rect">
            <a:avLst/>
          </a:prstGeom>
          <a:solidFill>
            <a:srgbClr val="CC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D4F54F9-15E9-3D0B-F362-9A4296B6763D}"/>
              </a:ext>
            </a:extLst>
          </p:cNvPr>
          <p:cNvCxnSpPr>
            <a:cxnSpLocks/>
          </p:cNvCxnSpPr>
          <p:nvPr/>
        </p:nvCxnSpPr>
        <p:spPr>
          <a:xfrm>
            <a:off x="1699886" y="4052756"/>
            <a:ext cx="2213678" cy="0"/>
          </a:xfrm>
          <a:prstGeom prst="straightConnector1">
            <a:avLst/>
          </a:prstGeom>
          <a:ln w="2222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1499BC5-2DE7-96A3-1CEA-CC34EC811FD3}"/>
              </a:ext>
            </a:extLst>
          </p:cNvPr>
          <p:cNvCxnSpPr>
            <a:cxnSpLocks/>
          </p:cNvCxnSpPr>
          <p:nvPr/>
        </p:nvCxnSpPr>
        <p:spPr>
          <a:xfrm flipH="1">
            <a:off x="1699886" y="4972031"/>
            <a:ext cx="2165212" cy="0"/>
          </a:xfrm>
          <a:prstGeom prst="straightConnector1">
            <a:avLst/>
          </a:prstGeom>
          <a:ln w="222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91AE17E-EC31-6668-2AC6-8DBD84AC4693}"/>
              </a:ext>
            </a:extLst>
          </p:cNvPr>
          <p:cNvSpPr txBox="1"/>
          <p:nvPr/>
        </p:nvSpPr>
        <p:spPr>
          <a:xfrm>
            <a:off x="1051171" y="3211661"/>
            <a:ext cx="4363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PS</a:t>
            </a:r>
            <a:endParaRPr lang="en-US" sz="16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9B6119-1940-A551-588D-4F19547941C5}"/>
              </a:ext>
            </a:extLst>
          </p:cNvPr>
          <p:cNvSpPr txBox="1"/>
          <p:nvPr/>
        </p:nvSpPr>
        <p:spPr>
          <a:xfrm>
            <a:off x="3922301" y="3255181"/>
            <a:ext cx="85331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B050"/>
                </a:solidFill>
              </a:rPr>
              <a:t>Kernel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475E08-0F3C-FADF-EBDA-CB701599C6FE}"/>
              </a:ext>
            </a:extLst>
          </p:cNvPr>
          <p:cNvSpPr txBox="1"/>
          <p:nvPr/>
        </p:nvSpPr>
        <p:spPr>
          <a:xfrm>
            <a:off x="1824672" y="3332126"/>
            <a:ext cx="2062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Command stream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US" dirty="0"/>
              <a:t>Control + input data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9111B4-2F46-E627-6E78-77112276FF2E}"/>
              </a:ext>
            </a:extLst>
          </p:cNvPr>
          <p:cNvSpPr txBox="1"/>
          <p:nvPr/>
        </p:nvSpPr>
        <p:spPr>
          <a:xfrm>
            <a:off x="1885152" y="5048350"/>
            <a:ext cx="178606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Response stream</a:t>
            </a:r>
            <a:endParaRPr lang="en-US" sz="1400" dirty="0">
              <a:solidFill>
                <a:srgbClr val="00B050"/>
              </a:solidFill>
            </a:endParaRPr>
          </a:p>
          <a:p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+ output data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413C554-14F4-076F-2A95-66EC2437A45D}"/>
              </a:ext>
            </a:extLst>
          </p:cNvPr>
          <p:cNvSpPr/>
          <p:nvPr/>
        </p:nvSpPr>
        <p:spPr>
          <a:xfrm>
            <a:off x="9295195" y="3591399"/>
            <a:ext cx="187603" cy="21344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B1FCC8-489F-3AC2-BD48-7939FFAE2029}"/>
              </a:ext>
            </a:extLst>
          </p:cNvPr>
          <p:cNvSpPr/>
          <p:nvPr/>
        </p:nvSpPr>
        <p:spPr>
          <a:xfrm>
            <a:off x="7468540" y="3485399"/>
            <a:ext cx="723900" cy="49013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A705F49-D162-02E4-769C-CCE0F002109E}"/>
              </a:ext>
            </a:extLst>
          </p:cNvPr>
          <p:cNvCxnSpPr>
            <a:cxnSpLocks/>
          </p:cNvCxnSpPr>
          <p:nvPr/>
        </p:nvCxnSpPr>
        <p:spPr>
          <a:xfrm>
            <a:off x="8192440" y="3720365"/>
            <a:ext cx="1066025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B19D61C-4D4D-7E69-C8E2-3CAC66527C4F}"/>
              </a:ext>
            </a:extLst>
          </p:cNvPr>
          <p:cNvSpPr txBox="1"/>
          <p:nvPr/>
        </p:nvSpPr>
        <p:spPr>
          <a:xfrm>
            <a:off x="9128347" y="3105320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2EACCD5-2385-2A33-4C4E-848ACAFD3081}"/>
              </a:ext>
            </a:extLst>
          </p:cNvPr>
          <p:cNvSpPr/>
          <p:nvPr/>
        </p:nvSpPr>
        <p:spPr>
          <a:xfrm>
            <a:off x="9960961" y="4346171"/>
            <a:ext cx="588973" cy="70201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D97B346-7BDD-6526-128D-ECCE2ED13B60}"/>
              </a:ext>
            </a:extLst>
          </p:cNvPr>
          <p:cNvSpPr/>
          <p:nvPr/>
        </p:nvSpPr>
        <p:spPr>
          <a:xfrm>
            <a:off x="7375039" y="5124104"/>
            <a:ext cx="723900" cy="490139"/>
          </a:xfrm>
          <a:prstGeom prst="rect">
            <a:avLst/>
          </a:prstGeom>
          <a:solidFill>
            <a:srgbClr val="CC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BA1EC9D-C6A8-10B5-3CD0-C5D120BC5330}"/>
              </a:ext>
            </a:extLst>
          </p:cNvPr>
          <p:cNvCxnSpPr>
            <a:cxnSpLocks/>
          </p:cNvCxnSpPr>
          <p:nvPr/>
        </p:nvCxnSpPr>
        <p:spPr>
          <a:xfrm>
            <a:off x="8098939" y="5431991"/>
            <a:ext cx="1135379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F9CE4A9-C924-5CF6-6573-A0CD7CDD45DE}"/>
              </a:ext>
            </a:extLst>
          </p:cNvPr>
          <p:cNvCxnSpPr>
            <a:cxnSpLocks/>
          </p:cNvCxnSpPr>
          <p:nvPr/>
        </p:nvCxnSpPr>
        <p:spPr>
          <a:xfrm>
            <a:off x="9489188" y="4697177"/>
            <a:ext cx="478335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52314F6D-CA1F-851A-DD87-A8DE06E6F665}"/>
              </a:ext>
            </a:extLst>
          </p:cNvPr>
          <p:cNvSpPr txBox="1"/>
          <p:nvPr/>
        </p:nvSpPr>
        <p:spPr>
          <a:xfrm>
            <a:off x="7205916" y="5662431"/>
            <a:ext cx="996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IP kernel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343CF3-3E81-DB36-647B-5B9B47E137CF}"/>
              </a:ext>
            </a:extLst>
          </p:cNvPr>
          <p:cNvSpPr txBox="1"/>
          <p:nvPr/>
        </p:nvSpPr>
        <p:spPr>
          <a:xfrm>
            <a:off x="7468540" y="3116702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PS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51BDDF9-90BE-BD44-4150-6CB7731749AB}"/>
              </a:ext>
            </a:extLst>
          </p:cNvPr>
          <p:cNvCxnSpPr>
            <a:cxnSpLocks/>
          </p:cNvCxnSpPr>
          <p:nvPr/>
        </p:nvCxnSpPr>
        <p:spPr>
          <a:xfrm>
            <a:off x="8010356" y="4017851"/>
            <a:ext cx="0" cy="1056068"/>
          </a:xfrm>
          <a:prstGeom prst="straightConnector1">
            <a:avLst/>
          </a:prstGeom>
          <a:ln w="2222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DCCC697-454A-BA54-0D38-0EF6A51AFFC1}"/>
              </a:ext>
            </a:extLst>
          </p:cNvPr>
          <p:cNvCxnSpPr>
            <a:cxnSpLocks/>
          </p:cNvCxnSpPr>
          <p:nvPr/>
        </p:nvCxnSpPr>
        <p:spPr>
          <a:xfrm flipV="1">
            <a:off x="7600979" y="3985492"/>
            <a:ext cx="0" cy="1079057"/>
          </a:xfrm>
          <a:prstGeom prst="straightConnector1">
            <a:avLst/>
          </a:prstGeom>
          <a:ln w="222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CEF7071-9F05-C951-5900-5CF0B42E5D04}"/>
              </a:ext>
            </a:extLst>
          </p:cNvPr>
          <p:cNvSpPr txBox="1"/>
          <p:nvPr/>
        </p:nvSpPr>
        <p:spPr>
          <a:xfrm>
            <a:off x="6549617" y="3974481"/>
            <a:ext cx="9825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Response</a:t>
            </a:r>
            <a:br>
              <a:rPr lang="en-US" sz="1600" dirty="0"/>
            </a:br>
            <a:r>
              <a:rPr lang="en-US" sz="1600" dirty="0"/>
              <a:t>stream</a:t>
            </a:r>
          </a:p>
          <a:p>
            <a:r>
              <a:rPr lang="en-US" sz="1600" dirty="0"/>
              <a:t>control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8A0956B-D7D6-D392-7E7D-9784114DDF27}"/>
              </a:ext>
            </a:extLst>
          </p:cNvPr>
          <p:cNvSpPr txBox="1"/>
          <p:nvPr/>
        </p:nvSpPr>
        <p:spPr>
          <a:xfrm>
            <a:off x="8016919" y="3985492"/>
            <a:ext cx="104227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Command</a:t>
            </a:r>
            <a:br>
              <a:rPr lang="en-US" sz="1600" dirty="0"/>
            </a:br>
            <a:r>
              <a:rPr lang="en-US" sz="1600" dirty="0"/>
              <a:t>stream</a:t>
            </a:r>
          </a:p>
          <a:p>
            <a:r>
              <a:rPr lang="en-US" sz="1600" dirty="0"/>
              <a:t>control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A8AA3F6-2C75-30C0-3A7A-5734F2F7B60E}"/>
              </a:ext>
            </a:extLst>
          </p:cNvPr>
          <p:cNvSpPr txBox="1"/>
          <p:nvPr/>
        </p:nvSpPr>
        <p:spPr>
          <a:xfrm>
            <a:off x="8439764" y="3381811"/>
            <a:ext cx="5713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Data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4561AA0-6663-A349-A07E-6B511B35F693}"/>
              </a:ext>
            </a:extLst>
          </p:cNvPr>
          <p:cNvSpPr txBox="1"/>
          <p:nvPr/>
        </p:nvSpPr>
        <p:spPr>
          <a:xfrm>
            <a:off x="8380941" y="5039381"/>
            <a:ext cx="5713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Data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882C94-0C72-04E3-9434-179A617C316B}"/>
              </a:ext>
            </a:extLst>
          </p:cNvPr>
          <p:cNvSpPr txBox="1"/>
          <p:nvPr/>
        </p:nvSpPr>
        <p:spPr>
          <a:xfrm>
            <a:off x="9758168" y="3976839"/>
            <a:ext cx="988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E5BCDC1D-CB4F-3F21-9320-668EDFC38401}"/>
              </a:ext>
            </a:extLst>
          </p:cNvPr>
          <p:cNvSpPr txBox="1">
            <a:spLocks/>
          </p:cNvSpPr>
          <p:nvPr/>
        </p:nvSpPr>
        <p:spPr>
          <a:xfrm>
            <a:off x="6838010" y="1504753"/>
            <a:ext cx="4256710" cy="1266846"/>
          </a:xfrm>
          <a:prstGeom prst="rect">
            <a:avLst/>
          </a:prstGeom>
        </p:spPr>
        <p:txBody>
          <a:bodyPr vert="horz" lIns="0" tIns="45720" rIns="0" bIns="45720" rtlCol="0">
            <a:normAutofit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Shared memory transaction (This unit)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US" dirty="0"/>
              <a:t>Send control on dedicated stream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US" dirty="0"/>
              <a:t>Transfer data via shared memory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dirty="0"/>
          </a:p>
          <a:p>
            <a:pPr marL="0" indent="0">
              <a:buFont typeface="Wingdings" panose="05000000000000000000" pitchFamily="2" charset="2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84542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455B9-3C5E-3C20-2D14-661F27FDF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Transfer (Unit 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A5DEE5-4D97-17B9-B03F-0E4EF54DF3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1150" y="1539277"/>
            <a:ext cx="5764530" cy="4329817"/>
          </a:xfrm>
        </p:spPr>
        <p:txBody>
          <a:bodyPr>
            <a:normAutofit/>
          </a:bodyPr>
          <a:lstStyle/>
          <a:p>
            <a:r>
              <a:rPr lang="en-US" dirty="0"/>
              <a:t>Consider processing system (PS) sending job to kernel</a:t>
            </a:r>
          </a:p>
          <a:p>
            <a:r>
              <a:rPr lang="en-US" dirty="0"/>
              <a:t>Use two streams</a:t>
            </a:r>
          </a:p>
          <a:p>
            <a:r>
              <a:rPr lang="en-US" dirty="0"/>
              <a:t>Command stream:  PS is master and sends to kernel</a:t>
            </a:r>
          </a:p>
          <a:p>
            <a:pPr lvl="1"/>
            <a:r>
              <a:rPr lang="en-US" dirty="0"/>
              <a:t>Command message descriptor</a:t>
            </a:r>
          </a:p>
          <a:p>
            <a:pPr lvl="1"/>
            <a:r>
              <a:rPr lang="en-US" dirty="0"/>
              <a:t>Input data to process</a:t>
            </a:r>
          </a:p>
          <a:p>
            <a:r>
              <a:rPr lang="en-US" dirty="0"/>
              <a:t>Response stream:  Kernel is master and sends to PS</a:t>
            </a:r>
          </a:p>
          <a:p>
            <a:pPr lvl="1"/>
            <a:r>
              <a:rPr lang="en-US" dirty="0"/>
              <a:t>Processed output data</a:t>
            </a:r>
          </a:p>
          <a:p>
            <a:pPr lvl="1"/>
            <a:r>
              <a:rPr lang="en-US" dirty="0"/>
              <a:t>Response descriptor (e.g., error codes, …)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BE3104-9891-3BFA-4735-C48B3F2C4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18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4F92E8-A8D9-92B6-6E48-F02EFE3FCF27}"/>
              </a:ext>
            </a:extLst>
          </p:cNvPr>
          <p:cNvSpPr/>
          <p:nvPr/>
        </p:nvSpPr>
        <p:spPr>
          <a:xfrm>
            <a:off x="702813" y="2961844"/>
            <a:ext cx="723900" cy="18498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602475-6232-C8CD-6FD5-1526B22542C8}"/>
              </a:ext>
            </a:extLst>
          </p:cNvPr>
          <p:cNvSpPr/>
          <p:nvPr/>
        </p:nvSpPr>
        <p:spPr>
          <a:xfrm>
            <a:off x="3640391" y="3017415"/>
            <a:ext cx="723900" cy="1794274"/>
          </a:xfrm>
          <a:prstGeom prst="rect">
            <a:avLst/>
          </a:prstGeom>
          <a:solidFill>
            <a:srgbClr val="CC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86FD38D-690C-87B5-2145-4302773D149C}"/>
              </a:ext>
            </a:extLst>
          </p:cNvPr>
          <p:cNvCxnSpPr>
            <a:cxnSpLocks/>
          </p:cNvCxnSpPr>
          <p:nvPr/>
        </p:nvCxnSpPr>
        <p:spPr>
          <a:xfrm>
            <a:off x="1426713" y="3127057"/>
            <a:ext cx="2213678" cy="0"/>
          </a:xfrm>
          <a:prstGeom prst="straightConnector1">
            <a:avLst/>
          </a:prstGeom>
          <a:ln w="2222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44552EE-EAD6-7F4D-9121-A16E8C8D6746}"/>
              </a:ext>
            </a:extLst>
          </p:cNvPr>
          <p:cNvCxnSpPr>
            <a:cxnSpLocks/>
          </p:cNvCxnSpPr>
          <p:nvPr/>
        </p:nvCxnSpPr>
        <p:spPr>
          <a:xfrm flipH="1">
            <a:off x="1426713" y="4522469"/>
            <a:ext cx="2165212" cy="0"/>
          </a:xfrm>
          <a:prstGeom prst="straightConnector1">
            <a:avLst/>
          </a:prstGeom>
          <a:ln w="222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4ADE3C7-83B2-164C-7300-C0406776B657}"/>
              </a:ext>
            </a:extLst>
          </p:cNvPr>
          <p:cNvSpPr txBox="1"/>
          <p:nvPr/>
        </p:nvSpPr>
        <p:spPr>
          <a:xfrm>
            <a:off x="777998" y="2285962"/>
            <a:ext cx="4363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PS</a:t>
            </a:r>
            <a:endParaRPr lang="en-US" sz="16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DE5BF1-775A-F720-B9B1-B0160758CE1B}"/>
              </a:ext>
            </a:extLst>
          </p:cNvPr>
          <p:cNvSpPr txBox="1"/>
          <p:nvPr/>
        </p:nvSpPr>
        <p:spPr>
          <a:xfrm>
            <a:off x="3649128" y="2329482"/>
            <a:ext cx="85331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B050"/>
                </a:solidFill>
              </a:rPr>
              <a:t>Kernel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110941-81A8-1567-F81B-1588CEDDD8D4}"/>
              </a:ext>
            </a:extLst>
          </p:cNvPr>
          <p:cNvSpPr txBox="1"/>
          <p:nvPr/>
        </p:nvSpPr>
        <p:spPr>
          <a:xfrm>
            <a:off x="1551499" y="2406427"/>
            <a:ext cx="2062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Command stream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US" dirty="0"/>
              <a:t>Control + input data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B5ABB4-E0DB-7FF9-E129-39417621A75A}"/>
              </a:ext>
            </a:extLst>
          </p:cNvPr>
          <p:cNvSpPr txBox="1"/>
          <p:nvPr/>
        </p:nvSpPr>
        <p:spPr>
          <a:xfrm>
            <a:off x="1524856" y="4604135"/>
            <a:ext cx="178606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Response stream</a:t>
            </a:r>
            <a:endParaRPr lang="en-US" sz="1400" dirty="0">
              <a:solidFill>
                <a:srgbClr val="00B050"/>
              </a:solidFill>
            </a:endParaRPr>
          </a:p>
          <a:p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+ output data</a:t>
            </a:r>
          </a:p>
        </p:txBody>
      </p:sp>
    </p:spTree>
    <p:extLst>
      <p:ext uri="{BB962C8B-B14F-4D97-AF65-F5344CB8AC3E}">
        <p14:creationId xmlns:p14="http://schemas.microsoft.com/office/powerpoint/2010/main" val="7880484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B8894-BE8D-2626-7FA1-E9AE1D2BE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Shared Memory Transaction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5EE74C-6BDC-D4D1-9C2C-AD4B5F0FE2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67770" y="1539277"/>
                <a:ext cx="6087909" cy="4329817"/>
              </a:xfrm>
            </p:spPr>
            <p:txBody>
              <a:bodyPr/>
              <a:lstStyle/>
              <a:p>
                <a:r>
                  <a:rPr lang="en-US" dirty="0"/>
                  <a:t>PS and IP kernel both masters on a shared bus</a:t>
                </a:r>
              </a:p>
              <a:p>
                <a:r>
                  <a:rPr lang="en-US" dirty="0"/>
                  <a:t>Memory is a slave</a:t>
                </a:r>
              </a:p>
              <a:p>
                <a:r>
                  <a:rPr lang="en-US" dirty="0"/>
                  <a:t>Dedicated streams</a:t>
                </a:r>
              </a:p>
              <a:p>
                <a:pPr lvl="1"/>
                <a:r>
                  <a:rPr lang="en-US" dirty="0"/>
                  <a:t>Command stream:  PS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kernel</a:t>
                </a:r>
              </a:p>
              <a:p>
                <a:pPr lvl="1"/>
                <a:r>
                  <a:rPr lang="en-US" dirty="0"/>
                  <a:t>Response stream:   Kernel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PS</a:t>
                </a:r>
              </a:p>
              <a:p>
                <a:r>
                  <a:rPr lang="en-US" dirty="0"/>
                  <a:t>Streams are used for control</a:t>
                </a:r>
              </a:p>
              <a:p>
                <a:r>
                  <a:rPr lang="en-US" dirty="0"/>
                  <a:t>Right now, streams implemented on separate channels</a:t>
                </a:r>
              </a:p>
              <a:p>
                <a:pPr lvl="1"/>
                <a:r>
                  <a:rPr lang="en-US" dirty="0"/>
                  <a:t>Ex:  AXI4-Stream</a:t>
                </a:r>
              </a:p>
              <a:p>
                <a:pPr lvl="1"/>
                <a:r>
                  <a:rPr lang="en-US" dirty="0"/>
                  <a:t>Later, we will show to map these into memory</a:t>
                </a:r>
              </a:p>
              <a:p>
                <a:r>
                  <a:rPr lang="en-US" dirty="0"/>
                  <a:t>Memory and bus are used for data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5EE74C-6BDC-D4D1-9C2C-AD4B5F0FE2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67770" y="1539277"/>
                <a:ext cx="6087909" cy="4329817"/>
              </a:xfrm>
              <a:blipFill>
                <a:blip r:embed="rId2"/>
                <a:stretch>
                  <a:fillRect l="-2402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30AB9F-9375-B625-4026-56131D1FC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19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A01995-9B20-6218-A46D-7F5F43C45E86}"/>
              </a:ext>
            </a:extLst>
          </p:cNvPr>
          <p:cNvSpPr/>
          <p:nvPr/>
        </p:nvSpPr>
        <p:spPr>
          <a:xfrm>
            <a:off x="2956477" y="2286507"/>
            <a:ext cx="232666" cy="27421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3EB885A-CECF-CDBA-1E1A-EB4AADBF59C8}"/>
              </a:ext>
            </a:extLst>
          </p:cNvPr>
          <p:cNvSpPr/>
          <p:nvPr/>
        </p:nvSpPr>
        <p:spPr>
          <a:xfrm>
            <a:off x="1105675" y="2339549"/>
            <a:ext cx="723900" cy="49013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C45C684-98F9-68CD-5D97-DD47EB279691}"/>
              </a:ext>
            </a:extLst>
          </p:cNvPr>
          <p:cNvCxnSpPr>
            <a:cxnSpLocks/>
          </p:cNvCxnSpPr>
          <p:nvPr/>
        </p:nvCxnSpPr>
        <p:spPr>
          <a:xfrm>
            <a:off x="1829575" y="2574515"/>
            <a:ext cx="1066025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87A136B-033C-C961-AB66-66E4460E08C8}"/>
              </a:ext>
            </a:extLst>
          </p:cNvPr>
          <p:cNvSpPr txBox="1"/>
          <p:nvPr/>
        </p:nvSpPr>
        <p:spPr>
          <a:xfrm>
            <a:off x="2812161" y="1851240"/>
            <a:ext cx="13801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Interconnect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FFE481-FB76-C1B1-0463-EEEF7EF8E096}"/>
              </a:ext>
            </a:extLst>
          </p:cNvPr>
          <p:cNvSpPr txBox="1"/>
          <p:nvPr/>
        </p:nvSpPr>
        <p:spPr>
          <a:xfrm>
            <a:off x="3547783" y="2384480"/>
            <a:ext cx="10418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 </a:t>
            </a:r>
            <a:br>
              <a:rPr lang="en-US" dirty="0"/>
            </a:br>
            <a:r>
              <a:rPr lang="en-US" dirty="0"/>
              <a:t>slave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BC0544-5CD3-A79C-F906-5CDB4EDBC700}"/>
              </a:ext>
            </a:extLst>
          </p:cNvPr>
          <p:cNvSpPr/>
          <p:nvPr/>
        </p:nvSpPr>
        <p:spPr>
          <a:xfrm>
            <a:off x="3667306" y="2969664"/>
            <a:ext cx="588973" cy="70201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C6B9357-885E-A4B7-ABE4-62BD7C45F9B7}"/>
              </a:ext>
            </a:extLst>
          </p:cNvPr>
          <p:cNvSpPr/>
          <p:nvPr/>
        </p:nvSpPr>
        <p:spPr>
          <a:xfrm>
            <a:off x="1036321" y="4426923"/>
            <a:ext cx="723900" cy="490139"/>
          </a:xfrm>
          <a:prstGeom prst="rect">
            <a:avLst/>
          </a:prstGeom>
          <a:solidFill>
            <a:srgbClr val="CC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9F742FC-E5C7-7D49-24A8-D93B172081C3}"/>
              </a:ext>
            </a:extLst>
          </p:cNvPr>
          <p:cNvCxnSpPr>
            <a:cxnSpLocks/>
          </p:cNvCxnSpPr>
          <p:nvPr/>
        </p:nvCxnSpPr>
        <p:spPr>
          <a:xfrm>
            <a:off x="1760221" y="4734810"/>
            <a:ext cx="1135379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DBC975-671C-8D75-8A79-3EDF91EDA857}"/>
              </a:ext>
            </a:extLst>
          </p:cNvPr>
          <p:cNvCxnSpPr>
            <a:cxnSpLocks/>
          </p:cNvCxnSpPr>
          <p:nvPr/>
        </p:nvCxnSpPr>
        <p:spPr>
          <a:xfrm>
            <a:off x="3195533" y="3320670"/>
            <a:ext cx="478335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F6CE05B-2FC2-DF35-5031-50D5A68DF666}"/>
              </a:ext>
            </a:extLst>
          </p:cNvPr>
          <p:cNvSpPr txBox="1"/>
          <p:nvPr/>
        </p:nvSpPr>
        <p:spPr>
          <a:xfrm>
            <a:off x="867198" y="4965250"/>
            <a:ext cx="996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IP kernel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61DD47-3FF2-74EF-D1AA-269441174EE0}"/>
              </a:ext>
            </a:extLst>
          </p:cNvPr>
          <p:cNvSpPr txBox="1"/>
          <p:nvPr/>
        </p:nvSpPr>
        <p:spPr>
          <a:xfrm>
            <a:off x="1158439" y="1932725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1A4D3B0-B7BC-D041-94FD-F2574D1821AA}"/>
              </a:ext>
            </a:extLst>
          </p:cNvPr>
          <p:cNvCxnSpPr>
            <a:cxnSpLocks/>
          </p:cNvCxnSpPr>
          <p:nvPr/>
        </p:nvCxnSpPr>
        <p:spPr>
          <a:xfrm>
            <a:off x="1671638" y="2876550"/>
            <a:ext cx="0" cy="1500188"/>
          </a:xfrm>
          <a:prstGeom prst="straightConnector1">
            <a:avLst/>
          </a:prstGeom>
          <a:ln w="2222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5CCBD5-C753-5E8B-FD4C-FA2D97AB5C8E}"/>
              </a:ext>
            </a:extLst>
          </p:cNvPr>
          <p:cNvCxnSpPr>
            <a:cxnSpLocks/>
          </p:cNvCxnSpPr>
          <p:nvPr/>
        </p:nvCxnSpPr>
        <p:spPr>
          <a:xfrm flipV="1">
            <a:off x="1262261" y="2867180"/>
            <a:ext cx="0" cy="1500188"/>
          </a:xfrm>
          <a:prstGeom prst="straightConnector1">
            <a:avLst/>
          </a:prstGeom>
          <a:ln w="222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71C55A7A-90BB-B19B-7CFB-DE6F1F8F7331}"/>
              </a:ext>
            </a:extLst>
          </p:cNvPr>
          <p:cNvSpPr txBox="1"/>
          <p:nvPr/>
        </p:nvSpPr>
        <p:spPr>
          <a:xfrm>
            <a:off x="210899" y="3277300"/>
            <a:ext cx="9825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Response</a:t>
            </a:r>
            <a:br>
              <a:rPr lang="en-US" sz="1600" dirty="0"/>
            </a:br>
            <a:r>
              <a:rPr lang="en-US" sz="1600" dirty="0"/>
              <a:t>stream</a:t>
            </a:r>
          </a:p>
          <a:p>
            <a:r>
              <a:rPr lang="en-US" sz="1600" dirty="0"/>
              <a:t>control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D70603-BD71-3D84-20A4-27CE0EA9A7F6}"/>
              </a:ext>
            </a:extLst>
          </p:cNvPr>
          <p:cNvSpPr txBox="1"/>
          <p:nvPr/>
        </p:nvSpPr>
        <p:spPr>
          <a:xfrm>
            <a:off x="1678201" y="3288311"/>
            <a:ext cx="104227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Command</a:t>
            </a:r>
            <a:br>
              <a:rPr lang="en-US" sz="1600" dirty="0"/>
            </a:br>
            <a:r>
              <a:rPr lang="en-US" sz="1600" dirty="0"/>
              <a:t>stream</a:t>
            </a:r>
          </a:p>
          <a:p>
            <a:r>
              <a:rPr lang="en-US" sz="1600" dirty="0"/>
              <a:t>control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73DFF74-54C2-491B-AA8F-2E3674D5C1D2}"/>
              </a:ext>
            </a:extLst>
          </p:cNvPr>
          <p:cNvSpPr txBox="1"/>
          <p:nvPr/>
        </p:nvSpPr>
        <p:spPr>
          <a:xfrm>
            <a:off x="2076899" y="2235961"/>
            <a:ext cx="5713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Data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CD3CE82-BB85-C69B-7118-4BCC09B4154B}"/>
              </a:ext>
            </a:extLst>
          </p:cNvPr>
          <p:cNvSpPr txBox="1"/>
          <p:nvPr/>
        </p:nvSpPr>
        <p:spPr>
          <a:xfrm>
            <a:off x="2042223" y="4342200"/>
            <a:ext cx="5713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Data</a:t>
            </a:r>
          </a:p>
        </p:txBody>
      </p:sp>
    </p:spTree>
    <p:extLst>
      <p:ext uri="{BB962C8B-B14F-4D97-AF65-F5344CB8AC3E}">
        <p14:creationId xmlns:p14="http://schemas.microsoft.com/office/powerpoint/2010/main" val="18099275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E264E-4BFE-967C-47BB-880C491D8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75889-E990-C07B-6F93-2346DFD04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Shared Mem Transaction:  Command Phase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4BA4C-4B0E-5C64-4B0F-E99CF91F43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6980" y="1932726"/>
            <a:ext cx="5189345" cy="3644610"/>
          </a:xfrm>
        </p:spPr>
        <p:txBody>
          <a:bodyPr>
            <a:normAutofit/>
          </a:bodyPr>
          <a:lstStyle/>
          <a:p>
            <a:r>
              <a:rPr lang="en-US" sz="2400" dirty="0"/>
              <a:t>PS writes </a:t>
            </a: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input data </a:t>
            </a:r>
            <a:r>
              <a:rPr lang="en-US" sz="2400" dirty="0"/>
              <a:t>into memory</a:t>
            </a:r>
          </a:p>
          <a:p>
            <a:pPr lvl="1"/>
            <a:r>
              <a:rPr lang="en-US" sz="2000" dirty="0"/>
              <a:t>Data to be processed</a:t>
            </a:r>
          </a:p>
          <a:p>
            <a:endParaRPr lang="en-US" sz="2400" dirty="0"/>
          </a:p>
          <a:p>
            <a:r>
              <a:rPr lang="en-US" sz="2400" dirty="0"/>
              <a:t>PS sends </a:t>
            </a: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input command </a:t>
            </a:r>
            <a:r>
              <a:rPr lang="en-US" sz="2400" dirty="0"/>
              <a:t>to kernel</a:t>
            </a:r>
          </a:p>
          <a:p>
            <a:pPr lvl="1"/>
            <a:r>
              <a:rPr lang="en-US" sz="2000" dirty="0"/>
              <a:t>Input address:  Where data resides</a:t>
            </a:r>
          </a:p>
          <a:p>
            <a:pPr lvl="1"/>
            <a:r>
              <a:rPr lang="en-US" sz="2000" dirty="0"/>
              <a:t>Output address:  Where output should reside</a:t>
            </a:r>
          </a:p>
          <a:p>
            <a:pPr lvl="1"/>
            <a:r>
              <a:rPr lang="en-US" sz="2000" dirty="0"/>
              <a:t>Command info:  What to do with data</a:t>
            </a:r>
          </a:p>
          <a:p>
            <a:pPr lvl="1"/>
            <a:endParaRPr lang="en-US" sz="2000" dirty="0"/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F3CC88-8D44-0E6F-2143-A9D8F3BA5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20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006771-8997-AFDD-E6AC-1F2DA3BC6D54}"/>
              </a:ext>
            </a:extLst>
          </p:cNvPr>
          <p:cNvSpPr/>
          <p:nvPr/>
        </p:nvSpPr>
        <p:spPr>
          <a:xfrm>
            <a:off x="2956477" y="2286507"/>
            <a:ext cx="232666" cy="2742183"/>
          </a:xfrm>
          <a:prstGeom prst="rect">
            <a:avLst/>
          </a:prstGeom>
          <a:solidFill>
            <a:srgbClr val="EAEB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3BCDD7-8592-D116-88EA-4AB094F2A843}"/>
              </a:ext>
            </a:extLst>
          </p:cNvPr>
          <p:cNvSpPr/>
          <p:nvPr/>
        </p:nvSpPr>
        <p:spPr>
          <a:xfrm>
            <a:off x="1105675" y="2339549"/>
            <a:ext cx="723900" cy="49013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CACA002-D323-AB1A-3800-5669253E6D83}"/>
              </a:ext>
            </a:extLst>
          </p:cNvPr>
          <p:cNvCxnSpPr>
            <a:cxnSpLocks/>
          </p:cNvCxnSpPr>
          <p:nvPr/>
        </p:nvCxnSpPr>
        <p:spPr>
          <a:xfrm>
            <a:off x="1829575" y="2574515"/>
            <a:ext cx="1066025" cy="0"/>
          </a:xfrm>
          <a:prstGeom prst="straightConnector1">
            <a:avLst/>
          </a:prstGeom>
          <a:ln w="3175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BA4D661-880C-D0A9-AAE0-84D6DF1E2392}"/>
              </a:ext>
            </a:extLst>
          </p:cNvPr>
          <p:cNvSpPr txBox="1"/>
          <p:nvPr/>
        </p:nvSpPr>
        <p:spPr>
          <a:xfrm>
            <a:off x="2812161" y="1851240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CE46A63-3A86-8A93-2E67-E4813CA1EEA5}"/>
              </a:ext>
            </a:extLst>
          </p:cNvPr>
          <p:cNvSpPr/>
          <p:nvPr/>
        </p:nvSpPr>
        <p:spPr>
          <a:xfrm>
            <a:off x="3667306" y="2286508"/>
            <a:ext cx="1056252" cy="274218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78ADF3-BE64-75B9-13D0-0A588F5675AF}"/>
              </a:ext>
            </a:extLst>
          </p:cNvPr>
          <p:cNvSpPr/>
          <p:nvPr/>
        </p:nvSpPr>
        <p:spPr>
          <a:xfrm>
            <a:off x="1036321" y="4426923"/>
            <a:ext cx="723900" cy="490139"/>
          </a:xfrm>
          <a:prstGeom prst="rect">
            <a:avLst/>
          </a:prstGeom>
          <a:solidFill>
            <a:srgbClr val="CC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C3C6BB-9C95-9888-5E23-AEEB39D4388B}"/>
              </a:ext>
            </a:extLst>
          </p:cNvPr>
          <p:cNvSpPr txBox="1"/>
          <p:nvPr/>
        </p:nvSpPr>
        <p:spPr>
          <a:xfrm>
            <a:off x="867198" y="4965250"/>
            <a:ext cx="996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IP kernel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35CE63-F8CF-E3DE-891E-49F124799D3F}"/>
              </a:ext>
            </a:extLst>
          </p:cNvPr>
          <p:cNvSpPr txBox="1"/>
          <p:nvPr/>
        </p:nvSpPr>
        <p:spPr>
          <a:xfrm>
            <a:off x="1158439" y="1932725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9B88957-34F1-A8FC-A992-198D5BD9C601}"/>
              </a:ext>
            </a:extLst>
          </p:cNvPr>
          <p:cNvCxnSpPr>
            <a:cxnSpLocks/>
          </p:cNvCxnSpPr>
          <p:nvPr/>
        </p:nvCxnSpPr>
        <p:spPr>
          <a:xfrm>
            <a:off x="1671638" y="2876550"/>
            <a:ext cx="0" cy="1500188"/>
          </a:xfrm>
          <a:prstGeom prst="straightConnector1">
            <a:avLst/>
          </a:prstGeom>
          <a:ln w="3492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F62177B-D631-D46B-1065-1ECA3CA1B08E}"/>
              </a:ext>
            </a:extLst>
          </p:cNvPr>
          <p:cNvCxnSpPr>
            <a:cxnSpLocks/>
          </p:cNvCxnSpPr>
          <p:nvPr/>
        </p:nvCxnSpPr>
        <p:spPr>
          <a:xfrm flipV="1">
            <a:off x="1262261" y="2867180"/>
            <a:ext cx="0" cy="1500188"/>
          </a:xfrm>
          <a:prstGeom prst="straightConnector1">
            <a:avLst/>
          </a:prstGeom>
          <a:ln w="12700">
            <a:solidFill>
              <a:srgbClr val="00B05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DD1E3479-53FE-B3C0-FE42-142A70434168}"/>
              </a:ext>
            </a:extLst>
          </p:cNvPr>
          <p:cNvSpPr txBox="1"/>
          <p:nvPr/>
        </p:nvSpPr>
        <p:spPr>
          <a:xfrm>
            <a:off x="1678201" y="3288311"/>
            <a:ext cx="10180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Input </a:t>
            </a:r>
            <a:br>
              <a:rPr lang="en-US" sz="1600" dirty="0">
                <a:solidFill>
                  <a:schemeClr val="accent5">
                    <a:lumMod val="75000"/>
                  </a:schemeClr>
                </a:solidFill>
              </a:rPr>
            </a:br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command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7DDC42A-361B-8896-240E-CBA50C1253A6}"/>
              </a:ext>
            </a:extLst>
          </p:cNvPr>
          <p:cNvSpPr/>
          <p:nvPr/>
        </p:nvSpPr>
        <p:spPr>
          <a:xfrm>
            <a:off x="3796460" y="2728045"/>
            <a:ext cx="797944" cy="5241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871501A-F503-3EB8-32F5-6219C18BE3C8}"/>
              </a:ext>
            </a:extLst>
          </p:cNvPr>
          <p:cNvCxnSpPr>
            <a:cxnSpLocks/>
          </p:cNvCxnSpPr>
          <p:nvPr/>
        </p:nvCxnSpPr>
        <p:spPr>
          <a:xfrm>
            <a:off x="1829574" y="4747689"/>
            <a:ext cx="1066025" cy="0"/>
          </a:xfrm>
          <a:prstGeom prst="straightConnector1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922F7B5-6B0E-EA8F-C4D6-3F047D4BB614}"/>
              </a:ext>
            </a:extLst>
          </p:cNvPr>
          <p:cNvCxnSpPr>
            <a:cxnSpLocks/>
          </p:cNvCxnSpPr>
          <p:nvPr/>
        </p:nvCxnSpPr>
        <p:spPr>
          <a:xfrm>
            <a:off x="3189143" y="2930122"/>
            <a:ext cx="607317" cy="0"/>
          </a:xfrm>
          <a:prstGeom prst="straightConnector1">
            <a:avLst/>
          </a:prstGeom>
          <a:ln w="3175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3E2EF24-B662-DE47-8252-3933A0F15D5F}"/>
              </a:ext>
            </a:extLst>
          </p:cNvPr>
          <p:cNvSpPr txBox="1"/>
          <p:nvPr/>
        </p:nvSpPr>
        <p:spPr>
          <a:xfrm>
            <a:off x="4762507" y="2745456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Input</a:t>
            </a:r>
            <a:br>
              <a:rPr lang="en-US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data</a:t>
            </a:r>
          </a:p>
        </p:txBody>
      </p:sp>
    </p:spTree>
    <p:extLst>
      <p:ext uri="{BB962C8B-B14F-4D97-AF65-F5344CB8AC3E}">
        <p14:creationId xmlns:p14="http://schemas.microsoft.com/office/powerpoint/2010/main" val="33272075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4BE61-BA64-0089-B116-D1551BCB9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1FE36-9170-DBF6-69A8-A697304E5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Shared Mem Transaction:  Compute Phase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B8C66D-86DB-F4C6-4D06-767B7ACDD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6980" y="1932726"/>
            <a:ext cx="5189345" cy="3644610"/>
          </a:xfrm>
        </p:spPr>
        <p:txBody>
          <a:bodyPr>
            <a:normAutofit/>
          </a:bodyPr>
          <a:lstStyle/>
          <a:p>
            <a:r>
              <a:rPr lang="en-US" sz="2400" dirty="0"/>
              <a:t>Kernel reads </a:t>
            </a:r>
            <a:r>
              <a:rPr lang="en-US" sz="2400" dirty="0">
                <a:solidFill>
                  <a:schemeClr val="accent1"/>
                </a:solidFill>
              </a:rPr>
              <a:t>input data </a:t>
            </a:r>
            <a:r>
              <a:rPr lang="en-US" sz="2400" dirty="0"/>
              <a:t>from memory</a:t>
            </a:r>
          </a:p>
          <a:p>
            <a:pPr lvl="1"/>
            <a:r>
              <a:rPr lang="en-US" sz="2000" dirty="0"/>
              <a:t>Uses input address sent in command</a:t>
            </a:r>
          </a:p>
          <a:p>
            <a:endParaRPr lang="en-US" sz="2400" dirty="0"/>
          </a:p>
          <a:p>
            <a:r>
              <a:rPr lang="en-US" sz="2400" dirty="0"/>
              <a:t>Kernel processes input data</a:t>
            </a:r>
            <a:endParaRPr lang="en-US" sz="2000" dirty="0"/>
          </a:p>
          <a:p>
            <a:pPr lvl="1"/>
            <a:endParaRPr lang="en-US" sz="2000" dirty="0"/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599649-7254-BD2F-F317-A63D5CE03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21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708C99-E3FB-D8BB-D550-758EE132C2AA}"/>
              </a:ext>
            </a:extLst>
          </p:cNvPr>
          <p:cNvSpPr/>
          <p:nvPr/>
        </p:nvSpPr>
        <p:spPr>
          <a:xfrm>
            <a:off x="2956477" y="2286507"/>
            <a:ext cx="232666" cy="2742183"/>
          </a:xfrm>
          <a:prstGeom prst="rect">
            <a:avLst/>
          </a:prstGeom>
          <a:solidFill>
            <a:srgbClr val="EAEB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3D9764-499F-B527-62D1-3F0B93A66C86}"/>
              </a:ext>
            </a:extLst>
          </p:cNvPr>
          <p:cNvSpPr/>
          <p:nvPr/>
        </p:nvSpPr>
        <p:spPr>
          <a:xfrm>
            <a:off x="1351756" y="2339549"/>
            <a:ext cx="723900" cy="49013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205813C-EF00-06EF-0017-7560F6CC20A7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2006302" y="4671993"/>
            <a:ext cx="823032" cy="0"/>
          </a:xfrm>
          <a:prstGeom prst="straightConnector1">
            <a:avLst/>
          </a:prstGeom>
          <a:ln w="3175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D2B19E1-2C89-064D-4FA1-367E90BD9A8B}"/>
              </a:ext>
            </a:extLst>
          </p:cNvPr>
          <p:cNvSpPr txBox="1"/>
          <p:nvPr/>
        </p:nvSpPr>
        <p:spPr>
          <a:xfrm>
            <a:off x="2812161" y="1851240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0D2C01-155C-363D-9B1F-C87A2FF35EF6}"/>
              </a:ext>
            </a:extLst>
          </p:cNvPr>
          <p:cNvSpPr/>
          <p:nvPr/>
        </p:nvSpPr>
        <p:spPr>
          <a:xfrm>
            <a:off x="3667306" y="2286508"/>
            <a:ext cx="1056252" cy="274218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9FA082A-9BDE-DA27-FA11-A7DB32D6234E}"/>
              </a:ext>
            </a:extLst>
          </p:cNvPr>
          <p:cNvSpPr/>
          <p:nvPr/>
        </p:nvSpPr>
        <p:spPr>
          <a:xfrm>
            <a:off x="1282402" y="4426923"/>
            <a:ext cx="723900" cy="490139"/>
          </a:xfrm>
          <a:prstGeom prst="rect">
            <a:avLst/>
          </a:prstGeom>
          <a:solidFill>
            <a:srgbClr val="CC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9C8B8D-5291-E734-C9EA-D20B3286F16C}"/>
              </a:ext>
            </a:extLst>
          </p:cNvPr>
          <p:cNvSpPr txBox="1"/>
          <p:nvPr/>
        </p:nvSpPr>
        <p:spPr>
          <a:xfrm>
            <a:off x="1137082" y="4990978"/>
            <a:ext cx="996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IP kernel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05EDB0-3047-22DD-D5FF-0ADB7E60D131}"/>
              </a:ext>
            </a:extLst>
          </p:cNvPr>
          <p:cNvSpPr txBox="1"/>
          <p:nvPr/>
        </p:nvSpPr>
        <p:spPr>
          <a:xfrm>
            <a:off x="1404520" y="1932725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F6A4DA-96DF-CE50-814D-3AAAE6799DAA}"/>
              </a:ext>
            </a:extLst>
          </p:cNvPr>
          <p:cNvCxnSpPr>
            <a:cxnSpLocks/>
          </p:cNvCxnSpPr>
          <p:nvPr/>
        </p:nvCxnSpPr>
        <p:spPr>
          <a:xfrm>
            <a:off x="1917719" y="2876550"/>
            <a:ext cx="0" cy="1500188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5F0D578-B9B1-A84B-F155-7A5A84DBBAD7}"/>
              </a:ext>
            </a:extLst>
          </p:cNvPr>
          <p:cNvCxnSpPr>
            <a:cxnSpLocks/>
          </p:cNvCxnSpPr>
          <p:nvPr/>
        </p:nvCxnSpPr>
        <p:spPr>
          <a:xfrm flipV="1">
            <a:off x="1508342" y="2867180"/>
            <a:ext cx="0" cy="1500188"/>
          </a:xfrm>
          <a:prstGeom prst="straightConnector1">
            <a:avLst/>
          </a:prstGeom>
          <a:ln w="12700">
            <a:solidFill>
              <a:srgbClr val="00B05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E75FBD75-AFAD-085F-4B42-55DAA4D788BC}"/>
              </a:ext>
            </a:extLst>
          </p:cNvPr>
          <p:cNvSpPr/>
          <p:nvPr/>
        </p:nvSpPr>
        <p:spPr>
          <a:xfrm>
            <a:off x="3796460" y="2728045"/>
            <a:ext cx="797944" cy="5241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86723DC-7BA4-913F-BD95-2691D46A0649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075656" y="2584619"/>
            <a:ext cx="880821" cy="0"/>
          </a:xfrm>
          <a:prstGeom prst="straightConnector1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E87901C-2F99-02AE-0D95-676AF955A248}"/>
              </a:ext>
            </a:extLst>
          </p:cNvPr>
          <p:cNvSpPr txBox="1"/>
          <p:nvPr/>
        </p:nvSpPr>
        <p:spPr>
          <a:xfrm>
            <a:off x="4762507" y="2745456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Input</a:t>
            </a:r>
            <a:br>
              <a:rPr lang="en-US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data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AC7A1A3-A6A6-4E51-326D-B8282F94E169}"/>
              </a:ext>
            </a:extLst>
          </p:cNvPr>
          <p:cNvCxnSpPr>
            <a:cxnSpLocks/>
          </p:cNvCxnSpPr>
          <p:nvPr/>
        </p:nvCxnSpPr>
        <p:spPr>
          <a:xfrm flipH="1">
            <a:off x="3189143" y="2990114"/>
            <a:ext cx="600073" cy="0"/>
          </a:xfrm>
          <a:prstGeom prst="straightConnector1">
            <a:avLst/>
          </a:prstGeom>
          <a:ln w="3175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D81578A5-6281-AC4D-FF4F-3B5586A4CD72}"/>
              </a:ext>
            </a:extLst>
          </p:cNvPr>
          <p:cNvSpPr txBox="1"/>
          <p:nvPr/>
        </p:nvSpPr>
        <p:spPr>
          <a:xfrm>
            <a:off x="167797" y="4367368"/>
            <a:ext cx="11904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Computes </a:t>
            </a:r>
          </a:p>
          <a:p>
            <a:r>
              <a:rPr lang="en-US" dirty="0">
                <a:solidFill>
                  <a:srgbClr val="00B050"/>
                </a:solidFill>
              </a:rPr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4294371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30BD6-E9E8-AF2B-CDF9-03EF88DDB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4F458-F811-BC71-2552-440BE5EFF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Shared Mem Transaction:  Response Phase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2DBED7-B221-FD24-E81F-957CB7C90A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6980" y="1932726"/>
            <a:ext cx="5189345" cy="3644610"/>
          </a:xfrm>
        </p:spPr>
        <p:txBody>
          <a:bodyPr>
            <a:normAutofit/>
          </a:bodyPr>
          <a:lstStyle/>
          <a:p>
            <a:r>
              <a:rPr lang="en-US" sz="2400" dirty="0"/>
              <a:t>Kernel writes </a:t>
            </a:r>
            <a:r>
              <a:rPr lang="en-US" sz="2400" dirty="0">
                <a:solidFill>
                  <a:schemeClr val="accent3">
                    <a:lumMod val="75000"/>
                  </a:schemeClr>
                </a:solidFill>
              </a:rPr>
              <a:t>output data </a:t>
            </a:r>
            <a:r>
              <a:rPr lang="en-US" sz="2400" dirty="0"/>
              <a:t>to memory</a:t>
            </a:r>
          </a:p>
          <a:p>
            <a:pPr lvl="1"/>
            <a:r>
              <a:rPr lang="en-US" sz="2000" dirty="0"/>
              <a:t>Uses output address sent in command</a:t>
            </a:r>
          </a:p>
          <a:p>
            <a:endParaRPr lang="en-US" sz="2400" dirty="0"/>
          </a:p>
          <a:p>
            <a:r>
              <a:rPr lang="en-US" sz="2400" dirty="0"/>
              <a:t>Kernel sends </a:t>
            </a:r>
            <a:endParaRPr lang="en-US" sz="2000" dirty="0"/>
          </a:p>
          <a:p>
            <a:pPr lvl="1"/>
            <a:endParaRPr lang="en-US" sz="2000" dirty="0"/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7AF8F2-716D-2485-92C0-0CA3EC274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22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3202A7-DB4F-2A2C-29DF-DA27CFED8645}"/>
              </a:ext>
            </a:extLst>
          </p:cNvPr>
          <p:cNvSpPr/>
          <p:nvPr/>
        </p:nvSpPr>
        <p:spPr>
          <a:xfrm>
            <a:off x="2956477" y="2286507"/>
            <a:ext cx="232666" cy="2742183"/>
          </a:xfrm>
          <a:prstGeom prst="rect">
            <a:avLst/>
          </a:prstGeom>
          <a:solidFill>
            <a:srgbClr val="EAEB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C78D752-0879-88E5-948A-D7F8F30712F3}"/>
              </a:ext>
            </a:extLst>
          </p:cNvPr>
          <p:cNvSpPr/>
          <p:nvPr/>
        </p:nvSpPr>
        <p:spPr>
          <a:xfrm>
            <a:off x="1351756" y="2339549"/>
            <a:ext cx="723900" cy="49013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6624F2A-6A7F-39B5-09E8-DD2E3C1B746C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2006302" y="4671993"/>
            <a:ext cx="823032" cy="0"/>
          </a:xfrm>
          <a:prstGeom prst="straightConnector1">
            <a:avLst/>
          </a:prstGeom>
          <a:ln w="317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198F038-0877-8F12-D69A-8D36A599879D}"/>
              </a:ext>
            </a:extLst>
          </p:cNvPr>
          <p:cNvSpPr txBox="1"/>
          <p:nvPr/>
        </p:nvSpPr>
        <p:spPr>
          <a:xfrm>
            <a:off x="2812161" y="1851240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C30E58-FC60-3A62-42F0-85E4E81ACF31}"/>
              </a:ext>
            </a:extLst>
          </p:cNvPr>
          <p:cNvSpPr/>
          <p:nvPr/>
        </p:nvSpPr>
        <p:spPr>
          <a:xfrm>
            <a:off x="3667306" y="2286508"/>
            <a:ext cx="1056252" cy="274218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8AF90F-D814-82A6-C01C-9B341D72476E}"/>
              </a:ext>
            </a:extLst>
          </p:cNvPr>
          <p:cNvSpPr/>
          <p:nvPr/>
        </p:nvSpPr>
        <p:spPr>
          <a:xfrm>
            <a:off x="1282402" y="4426923"/>
            <a:ext cx="723900" cy="490139"/>
          </a:xfrm>
          <a:prstGeom prst="rect">
            <a:avLst/>
          </a:prstGeom>
          <a:solidFill>
            <a:srgbClr val="CC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0A4CDD-6DEE-7E60-33A5-8B6C90EF64A2}"/>
              </a:ext>
            </a:extLst>
          </p:cNvPr>
          <p:cNvSpPr txBox="1"/>
          <p:nvPr/>
        </p:nvSpPr>
        <p:spPr>
          <a:xfrm>
            <a:off x="1137082" y="4990978"/>
            <a:ext cx="996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IP kernel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86A155-8865-37DF-9C24-E970DDB0195C}"/>
              </a:ext>
            </a:extLst>
          </p:cNvPr>
          <p:cNvSpPr txBox="1"/>
          <p:nvPr/>
        </p:nvSpPr>
        <p:spPr>
          <a:xfrm>
            <a:off x="1404520" y="1932725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C5AFB13-F09C-44B5-5329-EEC5482C07D8}"/>
              </a:ext>
            </a:extLst>
          </p:cNvPr>
          <p:cNvCxnSpPr>
            <a:cxnSpLocks/>
          </p:cNvCxnSpPr>
          <p:nvPr/>
        </p:nvCxnSpPr>
        <p:spPr>
          <a:xfrm>
            <a:off x="1917719" y="2876550"/>
            <a:ext cx="0" cy="1500188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F37827C-19B7-B981-274E-91095BA5CB6D}"/>
              </a:ext>
            </a:extLst>
          </p:cNvPr>
          <p:cNvCxnSpPr>
            <a:cxnSpLocks/>
          </p:cNvCxnSpPr>
          <p:nvPr/>
        </p:nvCxnSpPr>
        <p:spPr>
          <a:xfrm flipV="1">
            <a:off x="1508342" y="2867180"/>
            <a:ext cx="0" cy="1500188"/>
          </a:xfrm>
          <a:prstGeom prst="straightConnector1">
            <a:avLst/>
          </a:prstGeom>
          <a:ln w="317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B53B447C-B695-F541-8EA8-18E4CC0B347D}"/>
              </a:ext>
            </a:extLst>
          </p:cNvPr>
          <p:cNvSpPr/>
          <p:nvPr/>
        </p:nvSpPr>
        <p:spPr>
          <a:xfrm>
            <a:off x="3796460" y="2728045"/>
            <a:ext cx="797944" cy="5241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457E98D-BAC9-5ED9-A5A7-A1D7AC16DEE4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075656" y="2584619"/>
            <a:ext cx="880821" cy="0"/>
          </a:xfrm>
          <a:prstGeom prst="straightConnector1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4964D50-A891-2D50-1AE7-CAA8B684FC43}"/>
              </a:ext>
            </a:extLst>
          </p:cNvPr>
          <p:cNvSpPr txBox="1"/>
          <p:nvPr/>
        </p:nvSpPr>
        <p:spPr>
          <a:xfrm>
            <a:off x="4734116" y="3956033"/>
            <a:ext cx="856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Output</a:t>
            </a:r>
            <a:br>
              <a:rPr lang="en-US" dirty="0">
                <a:solidFill>
                  <a:schemeClr val="accent3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data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CDC5CF4-4A2A-4FC3-10E9-1E16EA1C8FA5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3222106" y="4279199"/>
            <a:ext cx="567110" cy="0"/>
          </a:xfrm>
          <a:prstGeom prst="straightConnector1">
            <a:avLst/>
          </a:prstGeom>
          <a:ln w="3175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71DBA68-0544-7310-73F0-7EF3FF7B5E2D}"/>
              </a:ext>
            </a:extLst>
          </p:cNvPr>
          <p:cNvSpPr txBox="1"/>
          <p:nvPr/>
        </p:nvSpPr>
        <p:spPr>
          <a:xfrm>
            <a:off x="351400" y="3196092"/>
            <a:ext cx="108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Response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DDC04FD-D23F-75DA-A68E-95197BD58543}"/>
              </a:ext>
            </a:extLst>
          </p:cNvPr>
          <p:cNvSpPr/>
          <p:nvPr/>
        </p:nvSpPr>
        <p:spPr>
          <a:xfrm>
            <a:off x="3789216" y="4017130"/>
            <a:ext cx="797944" cy="52413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CF2525-912A-4811-3238-CA2A8A0425DE}"/>
              </a:ext>
            </a:extLst>
          </p:cNvPr>
          <p:cNvSpPr txBox="1"/>
          <p:nvPr/>
        </p:nvSpPr>
        <p:spPr>
          <a:xfrm>
            <a:off x="4773456" y="2699733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Input</a:t>
            </a:r>
            <a:br>
              <a:rPr lang="en-US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data</a:t>
            </a:r>
          </a:p>
        </p:txBody>
      </p:sp>
    </p:spTree>
    <p:extLst>
      <p:ext uri="{BB962C8B-B14F-4D97-AF65-F5344CB8AC3E}">
        <p14:creationId xmlns:p14="http://schemas.microsoft.com/office/powerpoint/2010/main" val="35284961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E25BC-81EC-FE87-B597-A660503B0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Streaming vs. Shared Memory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805E18F-4AA5-DCBA-6BF7-C89F6EDD4E6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68362498"/>
              </p:ext>
            </p:extLst>
          </p:nvPr>
        </p:nvGraphicFramePr>
        <p:xfrm>
          <a:off x="1096962" y="1539874"/>
          <a:ext cx="8751888" cy="447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7296">
                  <a:extLst>
                    <a:ext uri="{9D8B030D-6E8A-4147-A177-3AD203B41FA5}">
                      <a16:colId xmlns:a16="http://schemas.microsoft.com/office/drawing/2014/main" val="68860847"/>
                    </a:ext>
                  </a:extLst>
                </a:gridCol>
                <a:gridCol w="2917296">
                  <a:extLst>
                    <a:ext uri="{9D8B030D-6E8A-4147-A177-3AD203B41FA5}">
                      <a16:colId xmlns:a16="http://schemas.microsoft.com/office/drawing/2014/main" val="3050458547"/>
                    </a:ext>
                  </a:extLst>
                </a:gridCol>
                <a:gridCol w="2917296">
                  <a:extLst>
                    <a:ext uri="{9D8B030D-6E8A-4147-A177-3AD203B41FA5}">
                      <a16:colId xmlns:a16="http://schemas.microsoft.com/office/drawing/2014/main" val="1839521343"/>
                    </a:ext>
                  </a:extLst>
                </a:gridCol>
              </a:tblGrid>
              <a:tr h="571236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Streaming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147871"/>
                  </a:ext>
                </a:extLst>
              </a:tr>
              <a:tr h="571236">
                <a:tc>
                  <a:txBody>
                    <a:bodyPr/>
                    <a:lstStyle/>
                    <a:p>
                      <a:r>
                        <a:rPr lang="en-US" dirty="0"/>
                        <a:t>Access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Sequential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Random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304431"/>
                  </a:ext>
                </a:extLst>
              </a:tr>
              <a:tr h="571236">
                <a:tc>
                  <a:txBody>
                    <a:bodyPr/>
                    <a:lstStyle/>
                    <a:p>
                      <a:r>
                        <a:rPr lang="en-US" dirty="0"/>
                        <a:t>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Producer pushes data when available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Consumer pulls data when needed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5074253"/>
                  </a:ext>
                </a:extLst>
              </a:tr>
              <a:tr h="571236">
                <a:tc>
                  <a:txBody>
                    <a:bodyPr/>
                    <a:lstStyle/>
                    <a:p>
                      <a:r>
                        <a:rPr lang="en-US" dirty="0"/>
                        <a:t>Latency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Deterministic; minimal variation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Variable; depends on arbitration and usage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6688383"/>
                  </a:ext>
                </a:extLst>
              </a:tr>
              <a:tr h="571236">
                <a:tc>
                  <a:txBody>
                    <a:bodyPr/>
                    <a:lstStyle/>
                    <a:p>
                      <a:r>
                        <a:rPr lang="en-US" dirty="0"/>
                        <a:t>Arbitration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None if point-to-point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Required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9814698"/>
                  </a:ext>
                </a:extLst>
              </a:tr>
              <a:tr h="571236">
                <a:tc>
                  <a:txBody>
                    <a:bodyPr/>
                    <a:lstStyle/>
                    <a:p>
                      <a:r>
                        <a:rPr lang="en-US" dirty="0"/>
                        <a:t>Complexity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Simple design but adds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439561"/>
                  </a:ext>
                </a:extLst>
              </a:tr>
              <a:tr h="571236">
                <a:tc>
                  <a:txBody>
                    <a:bodyPr/>
                    <a:lstStyle/>
                    <a:p>
                      <a:r>
                        <a:rPr lang="en-US" dirty="0"/>
                        <a:t>Resources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Dedicated resources per link, no statistical multiplexing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Shared resources, enables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520549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EB01C-6B5F-A0B7-5353-EDDA00DDD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67043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9350-0D93-1C84-3CA7-1B4807647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Streaming Example:  Simple Video 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4D9BE3-A7A4-C67B-B75A-D5530CAB51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4212908" cy="4329817"/>
          </a:xfrm>
        </p:spPr>
        <p:txBody>
          <a:bodyPr/>
          <a:lstStyle/>
          <a:p>
            <a:r>
              <a:rPr lang="en-US" dirty="0"/>
              <a:t>Deterministic sequential flow</a:t>
            </a:r>
          </a:p>
          <a:p>
            <a:r>
              <a:rPr lang="en-US" dirty="0"/>
              <a:t>Need dedicated high-speed links</a:t>
            </a:r>
          </a:p>
          <a:p>
            <a:r>
              <a:rPr lang="en-US" dirty="0"/>
              <a:t>Buffering is memory intensive</a:t>
            </a:r>
          </a:p>
          <a:p>
            <a:r>
              <a:rPr lang="en-US" dirty="0"/>
              <a:t>Need minimal reconfiguration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7C670F-A047-E82A-2E1C-D74CEAFAA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24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A1A24E-9360-8205-24A8-F2E255C127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9572" y="1730974"/>
            <a:ext cx="5154966" cy="394642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EEBC2F0-64AE-746B-FC80-409D78EE1E7C}"/>
              </a:ext>
            </a:extLst>
          </p:cNvPr>
          <p:cNvSpPr txBox="1"/>
          <p:nvPr/>
        </p:nvSpPr>
        <p:spPr>
          <a:xfrm>
            <a:off x="233362" y="4843374"/>
            <a:ext cx="609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Tran, Van-Huan, and Xuan-Tu Tran. "An efficient architecture design for VGA monitor controller."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2011 International Conference on Consumer Electronics, Communications and Networks (</a:t>
            </a:r>
            <a:r>
              <a:rPr lang="en-US" sz="1400" b="0" i="1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CECNet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 IEEE, 2011.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682860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69DC7-252E-2E19-6F88-24137DA1E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Shared Memory Ex:  Mobile SoC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9C8F9C-FF37-2578-F9FD-FFE31E533F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Example:  </a:t>
            </a:r>
          </a:p>
          <a:p>
            <a:pPr lvl="1"/>
            <a:r>
              <a:rPr lang="en-US" dirty="0"/>
              <a:t>Qualcomm Snapdragon, Apple MacBook M3</a:t>
            </a:r>
          </a:p>
          <a:p>
            <a:r>
              <a:rPr lang="en-US" dirty="0"/>
              <a:t>NPU, CPU, GPU have access to common DDR memory</a:t>
            </a:r>
          </a:p>
          <a:p>
            <a:r>
              <a:rPr lang="en-US" dirty="0"/>
              <a:t>CPU can write address to NPU, GPU</a:t>
            </a:r>
          </a:p>
          <a:p>
            <a:r>
              <a:rPr lang="en-US" dirty="0"/>
              <a:t>NPU, GPU stores / retrieves data from memory</a:t>
            </a:r>
          </a:p>
          <a:p>
            <a:r>
              <a:rPr lang="en-US" dirty="0"/>
              <a:t>Widely-used in virtually all SoC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2E9733-6BB6-06E7-8B8E-0E7702E07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25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45B966B-2E6D-8008-F5C7-DAB1B36D5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557" y="1856386"/>
            <a:ext cx="3916163" cy="34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9164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A9D95-5A35-789E-0DF3-7454AF2B8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2218E-17E4-50E1-8534-2A9028890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Shared Memory Ex:  Nvidia DGX H100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FA6671-C9B9-5F53-E7D3-FF282C790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539277"/>
            <a:ext cx="5399241" cy="4329817"/>
          </a:xfrm>
        </p:spPr>
        <p:txBody>
          <a:bodyPr/>
          <a:lstStyle/>
          <a:p>
            <a:r>
              <a:rPr lang="en-US" dirty="0"/>
              <a:t>LLMs stored in massive shared memory</a:t>
            </a:r>
          </a:p>
          <a:p>
            <a:r>
              <a:rPr lang="en-US" dirty="0"/>
              <a:t>H100 GPUs fetch data as need</a:t>
            </a:r>
          </a:p>
          <a:p>
            <a:r>
              <a:rPr lang="en-US" dirty="0"/>
              <a:t>Use high throughput </a:t>
            </a:r>
            <a:r>
              <a:rPr lang="en-US" dirty="0" err="1"/>
              <a:t>NvLink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F47D2-BA6A-7906-0CEF-A05905105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26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0F5B72C-58F9-A711-0229-80E35A6B55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6129" y="2562367"/>
            <a:ext cx="7239372" cy="3438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6815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D547C-ABD2-C81F-38BA-41678A807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1A093-8A23-C630-86AA-ABC08D63D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BD306-A5C3-571A-D2B9-638096178E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Shared Memory and Interconnects</a:t>
            </a:r>
          </a:p>
          <a:p>
            <a:r>
              <a:rPr lang="en-US" sz="2400" dirty="0"/>
              <a:t>Implementing Simple Transactions over Shared Memory</a:t>
            </a:r>
          </a:p>
          <a:p>
            <a:r>
              <a:rPr lang="en-US" sz="2400" dirty="0"/>
              <a:t>AXI4-Memory Mapped Protocol</a:t>
            </a:r>
          </a:p>
          <a:p>
            <a:r>
              <a:rPr lang="en-US" sz="2400" dirty="0"/>
              <a:t>Implementing Shared Memory in Vitis HLS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8E37E4-7B2A-FB1E-45FC-8B2FBA13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27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7C7DF8CC-35AC-1FBB-70A1-5F88AE2E0F1D}"/>
              </a:ext>
            </a:extLst>
          </p:cNvPr>
          <p:cNvSpPr/>
          <p:nvPr/>
        </p:nvSpPr>
        <p:spPr>
          <a:xfrm>
            <a:off x="390835" y="2471101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9021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2E5CD-9D53-B662-5456-3433DFE16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 Family of Protocols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C5ABF5-CD70-578D-1D25-78F7719B68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AXI4-Stream </a:t>
            </a:r>
            <a:r>
              <a:rPr lang="en-US" dirty="0"/>
              <a:t> (Covered in Unit 5)</a:t>
            </a:r>
          </a:p>
          <a:p>
            <a:pPr lvl="1"/>
            <a:r>
              <a:rPr lang="en-US" dirty="0"/>
              <a:t>Point-to-point link, flow control with TVALID / TREADY</a:t>
            </a:r>
          </a:p>
          <a:p>
            <a:pPr lvl="1"/>
            <a:r>
              <a:rPr lang="en-US" dirty="0"/>
              <a:t>1 read/ write per clock cycle</a:t>
            </a:r>
          </a:p>
          <a:p>
            <a:pPr lvl="1"/>
            <a:r>
              <a:rPr lang="en-US" dirty="0"/>
              <a:t>Optional framing with TLAST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AXI4-Lite </a:t>
            </a:r>
            <a:r>
              <a:rPr lang="en-US" dirty="0"/>
              <a:t>(Covered in Unit 4)</a:t>
            </a:r>
          </a:p>
          <a:p>
            <a:pPr lvl="1"/>
            <a:r>
              <a:rPr lang="en-US" dirty="0"/>
              <a:t>Simple memory mapped protocol.  Ideal for control registers</a:t>
            </a:r>
          </a:p>
          <a:p>
            <a:pPr lvl="1"/>
            <a:r>
              <a:rPr lang="en-US" dirty="0"/>
              <a:t>1 read / 1 write per 3-5 clock cycles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AXI4-Full</a:t>
            </a:r>
            <a:r>
              <a:rPr lang="en-US" dirty="0"/>
              <a:t> (This unit).  </a:t>
            </a:r>
          </a:p>
          <a:p>
            <a:pPr lvl="1"/>
            <a:r>
              <a:rPr lang="en-US" dirty="0"/>
              <a:t>Officially called AXI4 in AMD, but we use AXI4 for the family of protocols in this class</a:t>
            </a:r>
          </a:p>
          <a:p>
            <a:pPr lvl="1"/>
            <a:r>
              <a:rPr lang="en-US" dirty="0"/>
              <a:t>Builds on AXI4-Lite memory mapped</a:t>
            </a:r>
          </a:p>
          <a:p>
            <a:pPr lvl="1"/>
            <a:r>
              <a:rPr lang="en-US" dirty="0"/>
              <a:t>Handshaking signals to enable high throughput 1 read / write per clock cycle</a:t>
            </a:r>
          </a:p>
          <a:p>
            <a:r>
              <a:rPr lang="en-US" dirty="0"/>
              <a:t>Terminology:  We will use AXI-MM to mean both AXI4-Lite and AXI4-Full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BB82D4-F9B7-F3F4-75AA-8A4B27D47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095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4ACAC-A6BA-EC9C-0C26-DC708C7ED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AXI4 Memory Mapped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CCCE8-D299-A478-A2C4-850BC57F5A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widely-used interconnect fabric in industry</a:t>
            </a:r>
          </a:p>
          <a:p>
            <a:r>
              <a:rPr lang="en-US" dirty="0"/>
              <a:t>Multiple outstanding requests</a:t>
            </a:r>
          </a:p>
          <a:p>
            <a:pPr lvl="1"/>
            <a:r>
              <a:rPr lang="en-US" dirty="0"/>
              <a:t>Master can issue several requests while others are ongoing</a:t>
            </a:r>
          </a:p>
          <a:p>
            <a:r>
              <a:rPr lang="en-US" dirty="0"/>
              <a:t>Full-duplex with independent read and write channels</a:t>
            </a:r>
          </a:p>
          <a:p>
            <a:r>
              <a:rPr lang="en-US" dirty="0"/>
              <a:t>Handshaking:  </a:t>
            </a:r>
          </a:p>
          <a:p>
            <a:pPr lvl="1"/>
            <a:r>
              <a:rPr lang="en-US" dirty="0"/>
              <a:t>Independent VALID/READY for requests and data and read and write.  </a:t>
            </a:r>
          </a:p>
          <a:p>
            <a:pPr lvl="1"/>
            <a:r>
              <a:rPr lang="en-US" dirty="0"/>
              <a:t>Provides flow control and modular design.  </a:t>
            </a:r>
          </a:p>
          <a:p>
            <a:r>
              <a:rPr lang="en-US" dirty="0"/>
              <a:t>Out of order protocols:</a:t>
            </a:r>
          </a:p>
          <a:p>
            <a:pPr lvl="1"/>
            <a:r>
              <a:rPr lang="en-US" dirty="0"/>
              <a:t>Flows marked with an ID.  Order is preserved within an ID.</a:t>
            </a:r>
          </a:p>
          <a:p>
            <a:pPr lvl="1"/>
            <a:r>
              <a:rPr lang="en-US" dirty="0"/>
              <a:t>But controller may rearrange packet order for different IDs enabling prioritization</a:t>
            </a:r>
          </a:p>
          <a:p>
            <a:r>
              <a:rPr lang="en-US" dirty="0"/>
              <a:t>Support for massive memories:  DDR, HBM, not just on-chip RAM</a:t>
            </a:r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C13A1-86CF-584B-D26A-7DE92AA41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99312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85F42-75F1-0F2A-449A-6FA3C1A1B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AXI4-MM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7F1B6-DE56-926C-0871-BA973BAC3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Interconnect is a </a:t>
            </a:r>
            <a:r>
              <a:rPr lang="en-US" dirty="0">
                <a:solidFill>
                  <a:schemeClr val="accent1"/>
                </a:solidFill>
              </a:rPr>
              <a:t>crossbar</a:t>
            </a:r>
          </a:p>
          <a:p>
            <a:r>
              <a:rPr lang="en-US" dirty="0">
                <a:solidFill>
                  <a:schemeClr val="tx1"/>
                </a:solidFill>
              </a:rPr>
              <a:t>Configurable number of masters and slaves</a:t>
            </a:r>
          </a:p>
          <a:p>
            <a:r>
              <a:rPr lang="en-US" dirty="0">
                <a:solidFill>
                  <a:schemeClr val="tx1"/>
                </a:solidFill>
              </a:rPr>
              <a:t>Each master places transaction request</a:t>
            </a:r>
          </a:p>
          <a:p>
            <a:r>
              <a:rPr lang="en-US" dirty="0">
                <a:solidFill>
                  <a:schemeClr val="tx1"/>
                </a:solidFill>
              </a:rPr>
              <a:t>Crossbar typically queues requests for each slave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9903D-1535-0D10-B3AC-AD632F0D9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30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3DB436-6726-7FD7-8184-3902EE377D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6860" y="1988127"/>
            <a:ext cx="3022053" cy="3898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2072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564D3-3DAB-783A-BEAB-ED07ADB0E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Cost of Crossbars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9648E-8F59-B0B4-1E6A-954291FC6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31</a:t>
            </a:fld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744B63D-4B7E-3B60-95E8-1CD8B5FD7E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4691943"/>
              </p:ext>
            </p:extLst>
          </p:nvPr>
        </p:nvGraphicFramePr>
        <p:xfrm>
          <a:off x="6737349" y="1498938"/>
          <a:ext cx="5002530" cy="238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7510">
                  <a:extLst>
                    <a:ext uri="{9D8B030D-6E8A-4147-A177-3AD203B41FA5}">
                      <a16:colId xmlns:a16="http://schemas.microsoft.com/office/drawing/2014/main" val="2111581171"/>
                    </a:ext>
                  </a:extLst>
                </a:gridCol>
                <a:gridCol w="1667510">
                  <a:extLst>
                    <a:ext uri="{9D8B030D-6E8A-4147-A177-3AD203B41FA5}">
                      <a16:colId xmlns:a16="http://schemas.microsoft.com/office/drawing/2014/main" val="2652745989"/>
                    </a:ext>
                  </a:extLst>
                </a:gridCol>
                <a:gridCol w="1667510">
                  <a:extLst>
                    <a:ext uri="{9D8B030D-6E8A-4147-A177-3AD203B41FA5}">
                      <a16:colId xmlns:a16="http://schemas.microsoft.com/office/drawing/2014/main" val="18476113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Configuration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R="38100" marT="50800" marB="508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Est. Area (16nm)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R="38100" marT="50800" marB="508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Est. Gate Count</a:t>
                      </a:r>
                      <a:b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</a:b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 (NAND2 </a:t>
                      </a:r>
                      <a:r>
                        <a:rPr lang="en-US" sz="1400" b="1" dirty="0" err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equiv</a:t>
                      </a: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)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T="50800" marB="50800" anchor="ctr"/>
                </a:tc>
                <a:extLst>
                  <a:ext uri="{0D108BD9-81ED-4DB2-BD59-A6C34878D82A}">
                    <a16:rowId xmlns:a16="http://schemas.microsoft.com/office/drawing/2014/main" val="35257016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2 x 2</a:t>
                      </a:r>
                      <a:endParaRPr lang="en-US" sz="14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38100" marT="50800" marB="508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~0.008 mm²</a:t>
                      </a:r>
                    </a:p>
                  </a:txBody>
                  <a:tcPr marR="38100" marT="50800" marB="508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~25k - 35k</a:t>
                      </a:r>
                    </a:p>
                  </a:txBody>
                  <a:tcPr marT="50800" marB="50800" anchor="ctr"/>
                </a:tc>
                <a:extLst>
                  <a:ext uri="{0D108BD9-81ED-4DB2-BD59-A6C34878D82A}">
                    <a16:rowId xmlns:a16="http://schemas.microsoft.com/office/drawing/2014/main" val="23135936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4 x 4</a:t>
                      </a:r>
                      <a:endParaRPr lang="en-US" sz="14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38100" marT="50800" marB="508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~0.035 mm²</a:t>
                      </a:r>
                      <a:endParaRPr lang="en-US" sz="14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38100" marT="50800" marB="508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~100k - 140k</a:t>
                      </a:r>
                    </a:p>
                  </a:txBody>
                  <a:tcPr marT="50800" marB="50800" anchor="ctr"/>
                </a:tc>
                <a:extLst>
                  <a:ext uri="{0D108BD9-81ED-4DB2-BD59-A6C34878D82A}">
                    <a16:rowId xmlns:a16="http://schemas.microsoft.com/office/drawing/2014/main" val="3082576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8 x 8</a:t>
                      </a:r>
                      <a:endParaRPr lang="en-US" sz="14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38100" marT="50800" marB="508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~0.140 mm²</a:t>
                      </a:r>
                    </a:p>
                  </a:txBody>
                  <a:tcPr marR="38100" marT="50800" marB="508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~450k - 550k</a:t>
                      </a:r>
                    </a:p>
                  </a:txBody>
                  <a:tcPr marT="50800" marB="50800" anchor="ctr"/>
                </a:tc>
                <a:extLst>
                  <a:ext uri="{0D108BD9-81ED-4DB2-BD59-A6C34878D82A}">
                    <a16:rowId xmlns:a16="http://schemas.microsoft.com/office/drawing/2014/main" val="2999547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16 x 16</a:t>
                      </a:r>
                      <a:endParaRPr lang="en-US" sz="14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38100" marT="50800" marB="508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~0.600 mm²</a:t>
                      </a:r>
                    </a:p>
                  </a:txBody>
                  <a:tcPr marR="38100" marT="50800" marB="508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~2M+</a:t>
                      </a:r>
                      <a:br>
                        <a:rPr lang="en-US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</a:br>
                      <a:r>
                        <a:rPr lang="en-US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(Serious congestion)</a:t>
                      </a:r>
                    </a:p>
                  </a:txBody>
                  <a:tcPr marT="50800" marB="50800" anchor="ctr"/>
                </a:tc>
                <a:extLst>
                  <a:ext uri="{0D108BD9-81ED-4DB2-BD59-A6C34878D82A}">
                    <a16:rowId xmlns:a16="http://schemas.microsoft.com/office/drawing/2014/main" val="4280767578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C6241AFB-4F45-C36B-B048-00CEA0357A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03300" y="1619251"/>
                <a:ext cx="5238750" cy="2819400"/>
              </a:xfrm>
            </p:spPr>
            <p:txBody>
              <a:bodyPr/>
              <a:lstStyle/>
              <a:p>
                <a:r>
                  <a:rPr lang="en-US" dirty="0"/>
                  <a:t>Logic cost:  </a:t>
                </a:r>
              </a:p>
              <a:p>
                <a:pPr lvl="1"/>
                <a:r>
                  <a:rPr lang="en-US" dirty="0"/>
                  <a:t>Grows with product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𝑀𝑆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But manageable relative to a large SoC</a:t>
                </a:r>
              </a:p>
              <a:p>
                <a:r>
                  <a:rPr lang="en-US" dirty="0"/>
                  <a:t>Challenge in wiring</a:t>
                </a:r>
              </a:p>
              <a:p>
                <a:pPr lvl="1"/>
                <a:r>
                  <a:rPr lang="en-US" dirty="0"/>
                  <a:t>Wiring becomes dominant component of latency</a:t>
                </a:r>
              </a:p>
              <a:p>
                <a:pPr lvl="1"/>
                <a:r>
                  <a:rPr lang="en-US" dirty="0"/>
                  <a:t>Metal layer exhaustion</a:t>
                </a:r>
              </a:p>
              <a:p>
                <a:r>
                  <a:rPr lang="en-US" dirty="0"/>
                  <a:t>Interconnects often 30-40% area in large SoCs</a:t>
                </a: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C6241AFB-4F45-C36B-B048-00CEA0357A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03300" y="1619251"/>
                <a:ext cx="5238750" cy="2819400"/>
              </a:xfrm>
              <a:blipFill>
                <a:blip r:embed="rId2"/>
                <a:stretch>
                  <a:fillRect l="-2794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44FAB338-2605-50CF-F6C7-E50155D2AE03}"/>
              </a:ext>
            </a:extLst>
          </p:cNvPr>
          <p:cNvSpPr txBox="1"/>
          <p:nvPr/>
        </p:nvSpPr>
        <p:spPr>
          <a:xfrm>
            <a:off x="6737349" y="4053582"/>
            <a:ext cx="3859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Logic estimates for AXI crossbar</a:t>
            </a:r>
          </a:p>
          <a:p>
            <a:r>
              <a:rPr lang="en-US" dirty="0"/>
              <a:t>64-bit address and data in TSMC 16 nm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0C35C2-EA3D-52AD-E651-59151E2E5E37}"/>
              </a:ext>
            </a:extLst>
          </p:cNvPr>
          <p:cNvSpPr/>
          <p:nvPr/>
        </p:nvSpPr>
        <p:spPr>
          <a:xfrm>
            <a:off x="857250" y="4324349"/>
            <a:ext cx="5238750" cy="9144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>
                <a:solidFill>
                  <a:schemeClr val="accent3">
                    <a:lumMod val="75000"/>
                  </a:schemeClr>
                </a:solidFill>
              </a:rPr>
              <a:t>How data flows is key to high throughput design</a:t>
            </a:r>
          </a:p>
        </p:txBody>
      </p:sp>
    </p:spTree>
    <p:extLst>
      <p:ext uri="{BB962C8B-B14F-4D97-AF65-F5344CB8AC3E}">
        <p14:creationId xmlns:p14="http://schemas.microsoft.com/office/powerpoint/2010/main" val="6170666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21FD-8C52-CBA4-8FA1-0E9389702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Review:  AXI4-Lite Write Protocol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96A1B7-2FAD-A3B6-51C6-225A856D47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101726" cy="4329817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Suppose </a:t>
                </a:r>
                <a:r>
                  <a:rPr lang="en-US" dirty="0">
                    <a:solidFill>
                      <a:schemeClr val="accent6"/>
                    </a:solidFill>
                  </a:rPr>
                  <a:t>master</a:t>
                </a:r>
                <a:r>
                  <a:rPr lang="en-US" dirty="0"/>
                  <a:t> wants to write data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to address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AWADDR=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AWVALID=1 </a:t>
                </a:r>
              </a:p>
              <a:p>
                <a:pPr lvl="1"/>
                <a:r>
                  <a:rPr lang="en-US" dirty="0"/>
                  <a:t>WDATA=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and WVALID=1</a:t>
                </a:r>
              </a:p>
              <a:p>
                <a:pPr lvl="1"/>
                <a:r>
                  <a:rPr lang="en-US" dirty="0"/>
                  <a:t>Both can occur in independent clock cycles</a:t>
                </a:r>
              </a:p>
              <a:p>
                <a:r>
                  <a:rPr lang="en-US" dirty="0"/>
                  <a:t>When </a:t>
                </a:r>
                <a:r>
                  <a:rPr lang="en-US" dirty="0">
                    <a:solidFill>
                      <a:srgbClr val="7030A0"/>
                    </a:solidFill>
                  </a:rPr>
                  <a:t>slave</a:t>
                </a:r>
                <a:r>
                  <a:rPr lang="en-US" dirty="0"/>
                  <a:t> is ready for address or data it sets:</a:t>
                </a:r>
              </a:p>
              <a:p>
                <a:pPr lvl="1"/>
                <a:r>
                  <a:rPr lang="en-US" dirty="0"/>
                  <a:t>AWREADY=1 and WREADY=1</a:t>
                </a:r>
              </a:p>
              <a:p>
                <a:pPr lvl="1"/>
                <a:r>
                  <a:rPr lang="en-US" dirty="0"/>
                  <a:t>Slave can set these independently and any time it is ready</a:t>
                </a:r>
              </a:p>
              <a:p>
                <a:r>
                  <a:rPr lang="en-US" dirty="0"/>
                  <a:t>Transfer:</a:t>
                </a:r>
              </a:p>
              <a:p>
                <a:pPr lvl="1"/>
                <a:r>
                  <a:rPr lang="en-US" dirty="0"/>
                  <a:t>When AWREADY=AWVALID=1 together address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is transferred</a:t>
                </a:r>
              </a:p>
              <a:p>
                <a:pPr lvl="1"/>
                <a:r>
                  <a:rPr lang="en-US" dirty="0"/>
                  <a:t>When WREADY=WVALID=1 together data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is transferred</a:t>
                </a:r>
              </a:p>
              <a:p>
                <a:r>
                  <a:rPr lang="en-US" dirty="0"/>
                  <a:t>Handshake:</a:t>
                </a:r>
              </a:p>
              <a:p>
                <a:pPr lvl="1"/>
                <a:r>
                  <a:rPr lang="en-US" dirty="0"/>
                  <a:t>After both are transferred, slave set BREADY=1</a:t>
                </a:r>
              </a:p>
              <a:p>
                <a:pPr lvl="1"/>
                <a:r>
                  <a:rPr lang="en-US" dirty="0"/>
                  <a:t>Master sets BVALID=1 to acknowledge</a:t>
                </a:r>
              </a:p>
              <a:p>
                <a:pPr lvl="1"/>
                <a:r>
                  <a:rPr lang="en-US" dirty="0"/>
                  <a:t>Can start next transaction in same clock cycle as BVALID=1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96A1B7-2FAD-A3B6-51C6-225A856D47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101726" cy="4329817"/>
              </a:xfrm>
              <a:blipFill>
                <a:blip r:embed="rId2"/>
                <a:stretch>
                  <a:fillRect l="-2198" t="-23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29212-6EC2-EAF1-54ED-AC7824216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32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C51ABD-E695-844B-27AC-06C0BA11448C}"/>
              </a:ext>
            </a:extLst>
          </p:cNvPr>
          <p:cNvSpPr/>
          <p:nvPr/>
        </p:nvSpPr>
        <p:spPr>
          <a:xfrm>
            <a:off x="10531359" y="1985409"/>
            <a:ext cx="906219" cy="36070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A13EFA-1CAF-7C8F-378A-DD0F2760BBA8}"/>
              </a:ext>
            </a:extLst>
          </p:cNvPr>
          <p:cNvSpPr/>
          <p:nvPr/>
        </p:nvSpPr>
        <p:spPr>
          <a:xfrm>
            <a:off x="7272862" y="1924786"/>
            <a:ext cx="906219" cy="366770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A953260-0679-7010-69F7-3FE9282B2384}"/>
              </a:ext>
            </a:extLst>
          </p:cNvPr>
          <p:cNvCxnSpPr>
            <a:cxnSpLocks/>
          </p:cNvCxnSpPr>
          <p:nvPr/>
        </p:nvCxnSpPr>
        <p:spPr>
          <a:xfrm>
            <a:off x="8234652" y="2207695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B703EFF-B4A1-54F8-432D-3B4DEF9EDEB0}"/>
              </a:ext>
            </a:extLst>
          </p:cNvPr>
          <p:cNvSpPr txBox="1"/>
          <p:nvPr/>
        </p:nvSpPr>
        <p:spPr>
          <a:xfrm>
            <a:off x="8870701" y="2360095"/>
            <a:ext cx="1132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AWREADY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3312953-0367-7FBC-7D3B-ABB51086EE16}"/>
              </a:ext>
            </a:extLst>
          </p:cNvPr>
          <p:cNvCxnSpPr>
            <a:cxnSpLocks/>
          </p:cNvCxnSpPr>
          <p:nvPr/>
        </p:nvCxnSpPr>
        <p:spPr>
          <a:xfrm flipH="1">
            <a:off x="8252937" y="2698574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C411B80-1B70-B4DF-3BAF-88F5700F376F}"/>
              </a:ext>
            </a:extLst>
          </p:cNvPr>
          <p:cNvSpPr txBox="1"/>
          <p:nvPr/>
        </p:nvSpPr>
        <p:spPr>
          <a:xfrm>
            <a:off x="8419060" y="1838363"/>
            <a:ext cx="2038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AWADDR, AWVALID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CF8C958-6655-E647-8866-35F6BE472984}"/>
              </a:ext>
            </a:extLst>
          </p:cNvPr>
          <p:cNvCxnSpPr>
            <a:cxnSpLocks/>
          </p:cNvCxnSpPr>
          <p:nvPr/>
        </p:nvCxnSpPr>
        <p:spPr>
          <a:xfrm>
            <a:off x="8234652" y="3406386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7A1B314-E9B6-DC2F-C400-B00B30E30FF6}"/>
              </a:ext>
            </a:extLst>
          </p:cNvPr>
          <p:cNvSpPr txBox="1"/>
          <p:nvPr/>
        </p:nvSpPr>
        <p:spPr>
          <a:xfrm>
            <a:off x="9007404" y="4217568"/>
            <a:ext cx="858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BVALID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A2886CB-CF5B-4093-5FD5-ECA01038E7C0}"/>
              </a:ext>
            </a:extLst>
          </p:cNvPr>
          <p:cNvCxnSpPr>
            <a:cxnSpLocks/>
          </p:cNvCxnSpPr>
          <p:nvPr/>
        </p:nvCxnSpPr>
        <p:spPr>
          <a:xfrm flipH="1">
            <a:off x="8252937" y="3897265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6A052BC-9C1A-5654-683D-A6A5020CEDF0}"/>
              </a:ext>
            </a:extLst>
          </p:cNvPr>
          <p:cNvSpPr txBox="1"/>
          <p:nvPr/>
        </p:nvSpPr>
        <p:spPr>
          <a:xfrm>
            <a:off x="8419060" y="3037054"/>
            <a:ext cx="1740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WDATA, WVALID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C2C7A94-FF0F-C37D-53E2-D10A91ECD914}"/>
              </a:ext>
            </a:extLst>
          </p:cNvPr>
          <p:cNvCxnSpPr>
            <a:cxnSpLocks/>
          </p:cNvCxnSpPr>
          <p:nvPr/>
        </p:nvCxnSpPr>
        <p:spPr>
          <a:xfrm flipH="1">
            <a:off x="8252937" y="4570015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C55AC03-FD8D-71E0-B038-2A47BCB6594F}"/>
              </a:ext>
            </a:extLst>
          </p:cNvPr>
          <p:cNvSpPr txBox="1"/>
          <p:nvPr/>
        </p:nvSpPr>
        <p:spPr>
          <a:xfrm>
            <a:off x="8870701" y="3542024"/>
            <a:ext cx="1008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WREADY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B796F23-4048-4397-A021-B497D878C910}"/>
              </a:ext>
            </a:extLst>
          </p:cNvPr>
          <p:cNvCxnSpPr>
            <a:cxnSpLocks/>
          </p:cNvCxnSpPr>
          <p:nvPr/>
        </p:nvCxnSpPr>
        <p:spPr>
          <a:xfrm>
            <a:off x="8285322" y="5228675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0F4AD49-3511-2FA3-BBE3-5B8F8DCD6A7F}"/>
              </a:ext>
            </a:extLst>
          </p:cNvPr>
          <p:cNvSpPr txBox="1"/>
          <p:nvPr/>
        </p:nvSpPr>
        <p:spPr>
          <a:xfrm>
            <a:off x="8950851" y="4812282"/>
            <a:ext cx="927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BREADY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09AA2E-AA7D-9CAA-B1BA-0C97439A7B6C}"/>
              </a:ext>
            </a:extLst>
          </p:cNvPr>
          <p:cNvSpPr txBox="1"/>
          <p:nvPr/>
        </p:nvSpPr>
        <p:spPr>
          <a:xfrm>
            <a:off x="7199006" y="1453717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MASTER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3846A0-4C34-3391-0EDE-34D4750D84D5}"/>
              </a:ext>
            </a:extLst>
          </p:cNvPr>
          <p:cNvSpPr txBox="1"/>
          <p:nvPr/>
        </p:nvSpPr>
        <p:spPr>
          <a:xfrm>
            <a:off x="10609902" y="1499958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SLAVE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64418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722D5-E095-A0A3-113B-A8893ECB5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AXI4-Full Burst Signals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66B86-572F-0EFC-CA9A-22BDFEB168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684520" cy="4329817"/>
          </a:xfrm>
        </p:spPr>
        <p:txBody>
          <a:bodyPr/>
          <a:lstStyle/>
          <a:p>
            <a:r>
              <a:rPr lang="en-US" dirty="0"/>
              <a:t>AXI4-Full supports bursts of data</a:t>
            </a:r>
          </a:p>
          <a:p>
            <a:pPr lvl="1"/>
            <a:r>
              <a:rPr lang="en-US" dirty="0"/>
              <a:t>1 cycle per read / write</a:t>
            </a:r>
          </a:p>
          <a:p>
            <a:pPr lvl="1"/>
            <a:r>
              <a:rPr lang="en-US" dirty="0"/>
              <a:t>Much faster than AXI4-Lite (typically 3-5 cycles)</a:t>
            </a:r>
          </a:p>
          <a:p>
            <a:r>
              <a:rPr lang="en-US" dirty="0"/>
              <a:t>Additional signals sent on request:</a:t>
            </a:r>
          </a:p>
          <a:p>
            <a:pPr lvl="1"/>
            <a:r>
              <a:rPr lang="en-US" dirty="0" err="1"/>
              <a:t>AxLEN</a:t>
            </a:r>
            <a:r>
              <a:rPr lang="en-US" dirty="0"/>
              <a:t>:  Number of “beats” to transfer</a:t>
            </a:r>
          </a:p>
          <a:p>
            <a:pPr lvl="1"/>
            <a:r>
              <a:rPr lang="en-US" dirty="0" err="1"/>
              <a:t>AxSIZE</a:t>
            </a:r>
            <a:r>
              <a:rPr lang="en-US" dirty="0"/>
              <a:t>:  Width of transfer (for downward compatibility)</a:t>
            </a:r>
          </a:p>
          <a:p>
            <a:pPr lvl="1"/>
            <a:r>
              <a:rPr lang="en-US" dirty="0" err="1"/>
              <a:t>AxBURST</a:t>
            </a:r>
            <a:r>
              <a:rPr lang="en-US" dirty="0"/>
              <a:t>:  Type of burst (fixed or increment address)</a:t>
            </a:r>
          </a:p>
          <a:p>
            <a:r>
              <a:rPr lang="en-US" dirty="0"/>
              <a:t>Transfer stage:  Unchanged</a:t>
            </a:r>
          </a:p>
          <a:p>
            <a:pPr lvl="1"/>
            <a:r>
              <a:rPr lang="en-US" dirty="0"/>
              <a:t>Same WDATA, WVALID, WREADY</a:t>
            </a:r>
          </a:p>
          <a:p>
            <a:r>
              <a:rPr lang="en-US" dirty="0"/>
              <a:t>Termination:  Add WLAST</a:t>
            </a:r>
          </a:p>
          <a:p>
            <a:pPr lvl="1"/>
            <a:r>
              <a:rPr lang="en-US" dirty="0"/>
              <a:t>Indicates final beat (can terminate for AWLEN)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265768-E729-D5AC-25B1-EAD7D4781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33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3EE943-1D12-FB1A-FA59-BA4CAC5E7B22}"/>
              </a:ext>
            </a:extLst>
          </p:cNvPr>
          <p:cNvSpPr/>
          <p:nvPr/>
        </p:nvSpPr>
        <p:spPr>
          <a:xfrm>
            <a:off x="10531359" y="1985409"/>
            <a:ext cx="906219" cy="36070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976BFC-19CC-E2FA-3783-72A215B913AE}"/>
              </a:ext>
            </a:extLst>
          </p:cNvPr>
          <p:cNvSpPr/>
          <p:nvPr/>
        </p:nvSpPr>
        <p:spPr>
          <a:xfrm>
            <a:off x="7272862" y="1924786"/>
            <a:ext cx="906219" cy="366770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6F917F4-546D-BEE1-28B2-71B8D5B700FA}"/>
              </a:ext>
            </a:extLst>
          </p:cNvPr>
          <p:cNvCxnSpPr>
            <a:cxnSpLocks/>
          </p:cNvCxnSpPr>
          <p:nvPr/>
        </p:nvCxnSpPr>
        <p:spPr>
          <a:xfrm>
            <a:off x="8234652" y="2207695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E0C97FA-D23E-C042-2E37-EEC754695D7C}"/>
              </a:ext>
            </a:extLst>
          </p:cNvPr>
          <p:cNvSpPr txBox="1"/>
          <p:nvPr/>
        </p:nvSpPr>
        <p:spPr>
          <a:xfrm>
            <a:off x="8735478" y="2736539"/>
            <a:ext cx="9257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AWREADY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263B742-7719-939C-13D1-9F45F4744910}"/>
              </a:ext>
            </a:extLst>
          </p:cNvPr>
          <p:cNvCxnSpPr>
            <a:cxnSpLocks/>
          </p:cNvCxnSpPr>
          <p:nvPr/>
        </p:nvCxnSpPr>
        <p:spPr>
          <a:xfrm flipH="1">
            <a:off x="8221335" y="3044316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1973667-E079-84DC-3A3A-2CD6A1596D71}"/>
              </a:ext>
            </a:extLst>
          </p:cNvPr>
          <p:cNvSpPr txBox="1"/>
          <p:nvPr/>
        </p:nvSpPr>
        <p:spPr>
          <a:xfrm>
            <a:off x="8419060" y="1838363"/>
            <a:ext cx="16289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AWADDR, AWVALID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A2B0E1C-BDAD-921B-C3C4-5D112AA467C3}"/>
              </a:ext>
            </a:extLst>
          </p:cNvPr>
          <p:cNvCxnSpPr>
            <a:cxnSpLocks/>
          </p:cNvCxnSpPr>
          <p:nvPr/>
        </p:nvCxnSpPr>
        <p:spPr>
          <a:xfrm>
            <a:off x="8243794" y="3610840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54F8AA0-603D-87F0-5A32-68AA864088D7}"/>
              </a:ext>
            </a:extLst>
          </p:cNvPr>
          <p:cNvSpPr txBox="1"/>
          <p:nvPr/>
        </p:nvSpPr>
        <p:spPr>
          <a:xfrm>
            <a:off x="9007404" y="4798191"/>
            <a:ext cx="7094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BVALID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4FD5DF4-EF53-68EB-3D45-DD696EA88F84}"/>
              </a:ext>
            </a:extLst>
          </p:cNvPr>
          <p:cNvCxnSpPr>
            <a:cxnSpLocks/>
          </p:cNvCxnSpPr>
          <p:nvPr/>
        </p:nvCxnSpPr>
        <p:spPr>
          <a:xfrm flipH="1">
            <a:off x="8211661" y="4063587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2407174-C916-86F1-F2B9-EBF4703ED381}"/>
              </a:ext>
            </a:extLst>
          </p:cNvPr>
          <p:cNvSpPr txBox="1"/>
          <p:nvPr/>
        </p:nvSpPr>
        <p:spPr>
          <a:xfrm>
            <a:off x="8542502" y="3256971"/>
            <a:ext cx="13972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WDATA, WVALID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6F16B8F-7FAD-0DCC-BBC0-46D40E9422A7}"/>
              </a:ext>
            </a:extLst>
          </p:cNvPr>
          <p:cNvCxnSpPr>
            <a:cxnSpLocks/>
          </p:cNvCxnSpPr>
          <p:nvPr/>
        </p:nvCxnSpPr>
        <p:spPr>
          <a:xfrm flipH="1">
            <a:off x="8252937" y="5150638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5631D10-BD06-BE34-123C-796DC0F63D45}"/>
              </a:ext>
            </a:extLst>
          </p:cNvPr>
          <p:cNvSpPr txBox="1"/>
          <p:nvPr/>
        </p:nvSpPr>
        <p:spPr>
          <a:xfrm>
            <a:off x="8884996" y="3716987"/>
            <a:ext cx="8285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WREADY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A9C9F3F-CD2C-5B6C-C071-0C264ACCB277}"/>
              </a:ext>
            </a:extLst>
          </p:cNvPr>
          <p:cNvCxnSpPr>
            <a:cxnSpLocks/>
          </p:cNvCxnSpPr>
          <p:nvPr/>
        </p:nvCxnSpPr>
        <p:spPr>
          <a:xfrm>
            <a:off x="8308508" y="5471918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36198A3-7B8D-3CFF-1153-5DA25DC666AD}"/>
              </a:ext>
            </a:extLst>
          </p:cNvPr>
          <p:cNvSpPr txBox="1"/>
          <p:nvPr/>
        </p:nvSpPr>
        <p:spPr>
          <a:xfrm>
            <a:off x="8979127" y="5223114"/>
            <a:ext cx="7660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BREADY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3153DC-2705-398A-9F40-AEFBB5728A85}"/>
              </a:ext>
            </a:extLst>
          </p:cNvPr>
          <p:cNvSpPr txBox="1"/>
          <p:nvPr/>
        </p:nvSpPr>
        <p:spPr>
          <a:xfrm>
            <a:off x="7199006" y="1453717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MASTER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6D2210-242E-2D10-7021-673D38CD6081}"/>
              </a:ext>
            </a:extLst>
          </p:cNvPr>
          <p:cNvSpPr txBox="1"/>
          <p:nvPr/>
        </p:nvSpPr>
        <p:spPr>
          <a:xfrm>
            <a:off x="10609902" y="1499958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SLAVE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4D161DA-50DE-6C27-9B3B-7AF46965F83A}"/>
              </a:ext>
            </a:extLst>
          </p:cNvPr>
          <p:cNvCxnSpPr>
            <a:cxnSpLocks/>
          </p:cNvCxnSpPr>
          <p:nvPr/>
        </p:nvCxnSpPr>
        <p:spPr>
          <a:xfrm>
            <a:off x="8234652" y="2621619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CAE6278-A550-6FCD-603F-AD1B9DD126D6}"/>
              </a:ext>
            </a:extLst>
          </p:cNvPr>
          <p:cNvSpPr txBox="1"/>
          <p:nvPr/>
        </p:nvSpPr>
        <p:spPr>
          <a:xfrm>
            <a:off x="8221335" y="2259323"/>
            <a:ext cx="22320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AWLEN, AWSIZE, AWBURST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189C861-9BEA-08A1-A8DF-5DB3170CB937}"/>
              </a:ext>
            </a:extLst>
          </p:cNvPr>
          <p:cNvCxnSpPr>
            <a:cxnSpLocks/>
          </p:cNvCxnSpPr>
          <p:nvPr/>
        </p:nvCxnSpPr>
        <p:spPr>
          <a:xfrm>
            <a:off x="8284539" y="4719805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DF188D8-F181-6182-0264-46061212CFA0}"/>
              </a:ext>
            </a:extLst>
          </p:cNvPr>
          <p:cNvSpPr txBox="1"/>
          <p:nvPr/>
        </p:nvSpPr>
        <p:spPr>
          <a:xfrm>
            <a:off x="8955158" y="4471001"/>
            <a:ext cx="6932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WLAST</a:t>
            </a:r>
          </a:p>
        </p:txBody>
      </p:sp>
    </p:spTree>
    <p:extLst>
      <p:ext uri="{BB962C8B-B14F-4D97-AF65-F5344CB8AC3E}">
        <p14:creationId xmlns:p14="http://schemas.microsoft.com/office/powerpoint/2010/main" val="27420550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19675-E41D-67B5-1EBD-791EA03DE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AXI4 Write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1EC39-5BD8-188A-DF29-AFA0DBE087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3677920" cy="4329817"/>
          </a:xfrm>
        </p:spPr>
        <p:txBody>
          <a:bodyPr/>
          <a:lstStyle/>
          <a:p>
            <a:r>
              <a:rPr lang="en-US" dirty="0"/>
              <a:t>Two write burst requests</a:t>
            </a:r>
          </a:p>
          <a:p>
            <a:pPr lvl="1"/>
            <a:r>
              <a:rPr lang="en-US" dirty="0"/>
              <a:t>Burst 0:  AWLEN=0</a:t>
            </a:r>
          </a:p>
          <a:p>
            <a:pPr lvl="1"/>
            <a:r>
              <a:rPr lang="en-US" dirty="0"/>
              <a:t>Burst 1:  AWLEN=5</a:t>
            </a:r>
          </a:p>
          <a:p>
            <a:r>
              <a:rPr lang="en-US" dirty="0"/>
              <a:t>Request 1 early</a:t>
            </a:r>
          </a:p>
          <a:p>
            <a:pPr lvl="1"/>
            <a:r>
              <a:rPr lang="en-US" dirty="0"/>
              <a:t>Before write burst 0 completed</a:t>
            </a:r>
          </a:p>
          <a:p>
            <a:r>
              <a:rPr lang="en-US" dirty="0"/>
              <a:t>WLAST at end of each burst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CA6339-B38A-623C-FA2F-B5BC76636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34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0941C41-9B4F-50E0-9C20-9FF74CEF5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0869" y="1846810"/>
            <a:ext cx="6981825" cy="371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9192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1F166-0B5E-777C-793C-6541F82CE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AXI4 Indexing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7B035-0490-B631-209A-C4103444C3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4929447" cy="4329817"/>
          </a:xfrm>
        </p:spPr>
        <p:txBody>
          <a:bodyPr/>
          <a:lstStyle/>
          <a:p>
            <a:r>
              <a:rPr lang="en-US" dirty="0"/>
              <a:t>Each transaction associated with an index</a:t>
            </a:r>
          </a:p>
          <a:p>
            <a:r>
              <a:rPr lang="en-US" dirty="0"/>
              <a:t>Index is not unique</a:t>
            </a:r>
          </a:p>
          <a:p>
            <a:r>
              <a:rPr lang="en-US" dirty="0"/>
              <a:t>Typical design:</a:t>
            </a:r>
          </a:p>
          <a:p>
            <a:pPr lvl="1"/>
            <a:r>
              <a:rPr lang="en-US" dirty="0"/>
              <a:t>Each master has a unique ID; or</a:t>
            </a:r>
          </a:p>
          <a:p>
            <a:pPr lvl="1"/>
            <a:r>
              <a:rPr lang="en-US" dirty="0"/>
              <a:t>One ID for priority class</a:t>
            </a:r>
          </a:p>
          <a:p>
            <a:r>
              <a:rPr lang="en-US" dirty="0"/>
              <a:t>Crossbar will maintain order within an ID</a:t>
            </a:r>
          </a:p>
          <a:p>
            <a:r>
              <a:rPr lang="en-US" dirty="0"/>
              <a:t>But may re-order between IDs</a:t>
            </a:r>
          </a:p>
          <a:p>
            <a:r>
              <a:rPr lang="en-US" dirty="0"/>
              <a:t>Can be used for prioritization</a:t>
            </a:r>
          </a:p>
          <a:p>
            <a:r>
              <a:rPr lang="en-US" dirty="0"/>
              <a:t>Advanced topic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5E270-C8CA-2BEA-8E85-34386E195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89C2E2-D346-FD6B-372B-2803AD165A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6860" y="1988127"/>
            <a:ext cx="3022053" cy="3898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205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DC3ED-EB0D-65BC-B89F-535E4725F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B3E45-4FA1-0D43-ADD7-5B760054B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95501-315B-8A87-2A2D-87E927AA72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Shared Memory and Interconnects</a:t>
            </a:r>
          </a:p>
          <a:p>
            <a:r>
              <a:rPr lang="en-US" sz="2400" dirty="0"/>
              <a:t>Implementing Simple Transactions over Shared Memory</a:t>
            </a:r>
          </a:p>
          <a:p>
            <a:r>
              <a:rPr lang="en-US" sz="2400" dirty="0"/>
              <a:t>AXI4-Memory Mapped Protocol</a:t>
            </a:r>
          </a:p>
          <a:p>
            <a:r>
              <a:rPr lang="en-US" sz="2400" dirty="0"/>
              <a:t>Implementing Shared Memory in Vitis HLS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9EFB4D-C86A-FA52-C3EA-1939C0188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36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3BE5DA56-234B-3618-114E-EEDF92601769}"/>
              </a:ext>
            </a:extLst>
          </p:cNvPr>
          <p:cNvSpPr/>
          <p:nvPr/>
        </p:nvSpPr>
        <p:spPr>
          <a:xfrm>
            <a:off x="384485" y="3010851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3014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7F936-D919-0CA5-E741-947428217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Memory Interfaces in Vitis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BA36EB-BB6B-6D48-64E8-758A40B1EF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Native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Typically used for direct connection to internal memories</a:t>
            </a:r>
          </a:p>
          <a:p>
            <a:pPr lvl="1"/>
            <a:r>
              <a:rPr lang="en-US" dirty="0"/>
              <a:t>Synthesized with a simple address decoder </a:t>
            </a:r>
          </a:p>
          <a:p>
            <a:pPr lvl="1"/>
            <a:r>
              <a:rPr lang="en-US" dirty="0"/>
              <a:t>Word indexed</a:t>
            </a:r>
          </a:p>
          <a:p>
            <a:pPr lvl="1"/>
            <a:r>
              <a:rPr lang="en-US" dirty="0"/>
              <a:t>Supported in </a:t>
            </a:r>
            <a:r>
              <a:rPr lang="en-US" dirty="0" err="1"/>
              <a:t>Vivado</a:t>
            </a:r>
            <a:r>
              <a:rPr lang="en-US" dirty="0"/>
              <a:t> with BRAM</a:t>
            </a:r>
          </a:p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AXI4-MM</a:t>
            </a:r>
          </a:p>
          <a:p>
            <a:pPr lvl="1"/>
            <a:r>
              <a:rPr lang="en-US" dirty="0"/>
              <a:t>Typically used for DRAM or BRAM on a bus</a:t>
            </a:r>
          </a:p>
          <a:p>
            <a:pPr lvl="1"/>
            <a:r>
              <a:rPr lang="en-US" dirty="0"/>
              <a:t>Kernel connects to AXI4 memory controller (a block in </a:t>
            </a:r>
            <a:r>
              <a:rPr lang="en-US" dirty="0" err="1"/>
              <a:t>Vivado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AXI4-MM is always byte addressed</a:t>
            </a:r>
          </a:p>
          <a:p>
            <a:pPr marL="201168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A78B69-D7F5-3210-75BC-F9B95DAE1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44051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43221-E178-68F6-E755-0D7698B7A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97659-C103-59BD-C758-3814A9B45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4058920" cy="4329817"/>
          </a:xfrm>
        </p:spPr>
        <p:txBody>
          <a:bodyPr/>
          <a:lstStyle/>
          <a:p>
            <a:r>
              <a:rPr lang="en-US" dirty="0"/>
              <a:t>Creates native interface to BRAM</a:t>
            </a:r>
          </a:p>
          <a:p>
            <a:r>
              <a:rPr lang="en-US" dirty="0"/>
              <a:t>AXI4-Lite</a:t>
            </a:r>
          </a:p>
          <a:p>
            <a:pPr lvl="1"/>
            <a:r>
              <a:rPr lang="en-US" dirty="0"/>
              <a:t>Read and write pointer</a:t>
            </a:r>
          </a:p>
          <a:p>
            <a:pPr lvl="1"/>
            <a:r>
              <a:rPr lang="en-US" dirty="0"/>
              <a:t>Length n</a:t>
            </a:r>
          </a:p>
          <a:p>
            <a:r>
              <a:rPr lang="en-US" dirty="0"/>
              <a:t>Can read from memory in kernel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7F16F7-FFB5-AB63-8936-A7E9D52D1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38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A862A67-2D75-C27C-D9A9-E874E89549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948" y="720383"/>
            <a:ext cx="6115904" cy="4896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74956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A6489-95B2-1C25-1C49-62E86AD6C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CF359-95A0-E292-651D-311EEFBAB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BRAM TB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5D11F-33B3-BEFA-84D2-A0280F6462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4058920" cy="4329817"/>
          </a:xfrm>
        </p:spPr>
        <p:txBody>
          <a:bodyPr/>
          <a:lstStyle/>
          <a:p>
            <a:r>
              <a:rPr lang="en-US" dirty="0"/>
              <a:t>Creates BRAM emulation</a:t>
            </a:r>
          </a:p>
          <a:p>
            <a:pPr lvl="1"/>
            <a:r>
              <a:rPr lang="en-US" dirty="0"/>
              <a:t>Or actual memory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1D8769-FCB4-F067-DE5F-D4F2A2561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39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65B442-3EC0-015F-734C-9C8629CB07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012" y="912563"/>
            <a:ext cx="5201376" cy="357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9474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500A5-B8C2-6C0F-EBA5-2990726D5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AXI4 Histogram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2EB5A2-787F-194C-2EC1-E5643B89B6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4735402" cy="4329817"/>
              </a:xfrm>
            </p:spPr>
            <p:txBody>
              <a:bodyPr/>
              <a:lstStyle/>
              <a:p>
                <a:r>
                  <a:rPr lang="en-US" dirty="0"/>
                  <a:t>Non-uniform histogram</a:t>
                </a:r>
              </a:p>
              <a:p>
                <a:r>
                  <a:rPr lang="en-US" dirty="0"/>
                  <a:t>Given:</a:t>
                </a:r>
              </a:p>
              <a:p>
                <a:pPr lvl="1"/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data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𝑑𝑎𝑡𝑎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bin edges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𝑏𝑖𝑛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𝑒𝑑𝑔𝑒𝑠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Compute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𝑐𝑜𝑢𝑛𝑡𝑠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, 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=0,…,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Includes underflow and overflow values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2EB5A2-787F-194C-2EC1-E5643B89B6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4735402" cy="4329817"/>
              </a:xfrm>
              <a:blipFill>
                <a:blip r:embed="rId2"/>
                <a:stretch>
                  <a:fillRect l="-3089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0931E-5357-91D7-F833-1D1508D39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425525A-39E3-92EA-F055-3B86E7676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2682" y="1885612"/>
            <a:ext cx="5438775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4234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49D2D-814F-B153-79AD-4BE8EC7B0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 Command Input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D1F14-6C48-0375-B12E-F7F61338D4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4535208" cy="4329817"/>
          </a:xfrm>
        </p:spPr>
        <p:txBody>
          <a:bodyPr/>
          <a:lstStyle/>
          <a:p>
            <a:r>
              <a:rPr lang="en-US" dirty="0"/>
              <a:t>Gives input addresses:</a:t>
            </a:r>
          </a:p>
          <a:p>
            <a:pPr lvl="1"/>
            <a:r>
              <a:rPr lang="en-US" dirty="0"/>
              <a:t>Data</a:t>
            </a:r>
          </a:p>
          <a:p>
            <a:pPr lvl="1"/>
            <a:r>
              <a:rPr lang="en-US" dirty="0"/>
              <a:t>Bin edges</a:t>
            </a:r>
          </a:p>
          <a:p>
            <a:r>
              <a:rPr lang="en-US" dirty="0"/>
              <a:t>Output addresses</a:t>
            </a:r>
          </a:p>
          <a:p>
            <a:pPr lvl="1"/>
            <a:r>
              <a:rPr lang="en-US" dirty="0"/>
              <a:t>Counts</a:t>
            </a:r>
          </a:p>
          <a:p>
            <a:r>
              <a:rPr lang="en-US" dirty="0"/>
              <a:t>Transaction IDs and lengths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F47A0F-D882-28AD-149C-CAAA21704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F7404DE-06C6-202C-AB85-FEB811CB2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6842" y="1499034"/>
            <a:ext cx="4667490" cy="4410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6900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98F1A-57FC-4C8A-B044-4D98BE0BD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 Interface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25120E-878A-E167-06B5-1DFEC87410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4816561" cy="4329817"/>
          </a:xfrm>
        </p:spPr>
        <p:txBody>
          <a:bodyPr/>
          <a:lstStyle/>
          <a:p>
            <a:r>
              <a:rPr lang="en-US" dirty="0"/>
              <a:t>AXI4 streams</a:t>
            </a:r>
          </a:p>
          <a:p>
            <a:pPr lvl="1"/>
            <a:r>
              <a:rPr lang="en-US" dirty="0"/>
              <a:t>For command and response</a:t>
            </a:r>
          </a:p>
          <a:p>
            <a:pPr lvl="1"/>
            <a:r>
              <a:rPr lang="en-US" dirty="0"/>
              <a:t>These could have been memory-mapped</a:t>
            </a:r>
          </a:p>
          <a:p>
            <a:r>
              <a:rPr lang="en-US" dirty="0"/>
              <a:t>AXI4-Full access to memory</a:t>
            </a:r>
          </a:p>
          <a:p>
            <a:r>
              <a:rPr lang="en-US" dirty="0"/>
              <a:t>Read command from AXI4 stream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1F1ECF-C18F-92F4-0643-BF35F93DC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A28CD1-2CF9-5F1D-29E9-6AD085AB51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970" y="1418609"/>
            <a:ext cx="6056349" cy="432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81057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15AF9-AA3D-5F80-6DCC-212A868BB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9EE57-1A67-DFFC-CE1A-2F6759972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 Read Phase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0DEE58-AAFC-1DAE-2E6C-850C6E1D2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4816561" cy="4329817"/>
          </a:xfrm>
        </p:spPr>
        <p:txBody>
          <a:bodyPr/>
          <a:lstStyle/>
          <a:p>
            <a:r>
              <a:rPr lang="en-US" dirty="0"/>
              <a:t>Read data and bin edges to a local buffer</a:t>
            </a:r>
          </a:p>
          <a:p>
            <a:r>
              <a:rPr lang="en-US" dirty="0"/>
              <a:t>Local buffer is not strictly needed for data</a:t>
            </a:r>
          </a:p>
          <a:p>
            <a:pPr lvl="1"/>
            <a:r>
              <a:rPr lang="en-US" dirty="0"/>
              <a:t>Easy to illustrate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F5614-C1AD-C732-2851-625C09D39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43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FCBF22-C3C0-225C-A2C3-D663C0DB2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283" y="2925990"/>
            <a:ext cx="7907602" cy="2771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19828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69B64-4970-ECEB-85D0-2FAE22AD3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Histogram 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11F6A-BC3C-E2CB-EFC1-CA53D9F05E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4827383" cy="4329817"/>
          </a:xfrm>
        </p:spPr>
        <p:txBody>
          <a:bodyPr/>
          <a:lstStyle/>
          <a:p>
            <a:r>
              <a:rPr lang="en-US" dirty="0"/>
              <a:t>Nested loop</a:t>
            </a:r>
          </a:p>
          <a:p>
            <a:r>
              <a:rPr lang="en-US" dirty="0"/>
              <a:t>Outer loop is not pipelined</a:t>
            </a:r>
          </a:p>
          <a:p>
            <a:r>
              <a:rPr lang="en-US" dirty="0"/>
              <a:t>Must be careful of inner loop pipelining</a:t>
            </a:r>
          </a:p>
          <a:p>
            <a:endParaRPr lang="en-US" dirty="0"/>
          </a:p>
          <a:p>
            <a:r>
              <a:rPr lang="en-US" dirty="0"/>
              <a:t>Will show synthesis reports in class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6EA171-F30F-8CBD-26BF-3BC62FEE6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46B564-012A-5453-B5C6-CA3CCC7A30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279" y="2057171"/>
            <a:ext cx="5712061" cy="3385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2763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02469-7862-1705-5AF6-B46540FF5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Testbench Memory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EFD92-215B-DAAC-C427-010253DB4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5028" y="1539277"/>
            <a:ext cx="3593754" cy="4329817"/>
          </a:xfrm>
        </p:spPr>
        <p:txBody>
          <a:bodyPr/>
          <a:lstStyle/>
          <a:p>
            <a:r>
              <a:rPr lang="en-US" dirty="0"/>
              <a:t>Testbench creates memory</a:t>
            </a:r>
          </a:p>
          <a:p>
            <a:r>
              <a:rPr lang="en-US" dirty="0"/>
              <a:t>Allocates blocks in memory</a:t>
            </a:r>
          </a:p>
          <a:p>
            <a:r>
              <a:rPr lang="en-US" dirty="0"/>
              <a:t>Computes byte addresses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FDA94-2EA5-088C-0D76-3F0F9E804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B665E0C-1999-D0CC-2297-26AAD769A7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2571" y="2423212"/>
            <a:ext cx="7834401" cy="3595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03958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4732E-852F-308D-FC75-71BF2573F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Testbench Command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4517C-7BBB-5D58-C9CF-BE023E989D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Writes addresses in command</a:t>
            </a:r>
          </a:p>
          <a:p>
            <a:r>
              <a:rPr lang="en-US" dirty="0"/>
              <a:t>Upon receipt of response</a:t>
            </a:r>
          </a:p>
          <a:p>
            <a:pPr lvl="1"/>
            <a:r>
              <a:rPr lang="en-US" dirty="0" err="1"/>
              <a:t>Retieves</a:t>
            </a:r>
            <a:r>
              <a:rPr lang="en-US" dirty="0"/>
              <a:t> data</a:t>
            </a:r>
          </a:p>
          <a:p>
            <a:pPr lvl="1"/>
            <a:r>
              <a:rPr lang="en-US" dirty="0"/>
              <a:t>Compares against test vectors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59AC64-4432-E661-F683-3CC714B68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87EADE9-F33F-8CAF-782C-AE29BAE07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3254" y="2155052"/>
            <a:ext cx="5715181" cy="2936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19413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BD633-618D-FC99-14E9-E106A4877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Timing:  Read Phases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FF7C5D-EDDF-D311-F24A-ECB28F06E1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parameters</a:t>
            </a:r>
          </a:p>
          <a:p>
            <a:pPr lvl="1"/>
            <a:r>
              <a:rPr lang="en-US" dirty="0"/>
              <a:t>7 bins</a:t>
            </a:r>
          </a:p>
          <a:p>
            <a:pPr lvl="1"/>
            <a:r>
              <a:rPr lang="en-US" dirty="0"/>
              <a:t>37 data points</a:t>
            </a:r>
          </a:p>
          <a:p>
            <a:r>
              <a:rPr lang="en-US" dirty="0"/>
              <a:t>Partitioning</a:t>
            </a:r>
          </a:p>
          <a:p>
            <a:pPr lvl="1"/>
            <a:r>
              <a:rPr lang="en-US" dirty="0"/>
              <a:t>Data broken into three busts</a:t>
            </a:r>
          </a:p>
          <a:p>
            <a:pPr lvl="1"/>
            <a:r>
              <a:rPr lang="en-US" dirty="0"/>
              <a:t>16, 16, and 5</a:t>
            </a:r>
          </a:p>
          <a:p>
            <a:pPr lvl="1"/>
            <a:r>
              <a:rPr lang="en-US" dirty="0"/>
              <a:t>Requests given at beginning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02DFCE-FBBD-C07F-12E6-3FBBF5837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60410C1-E000-903E-38D9-434FE66A6E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9039"/>
          <a:stretch>
            <a:fillRect/>
          </a:stretch>
        </p:blipFill>
        <p:spPr>
          <a:xfrm>
            <a:off x="4537282" y="1874791"/>
            <a:ext cx="7128456" cy="3698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991469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18700</TotalTime>
  <Words>2432</Words>
  <Application>Microsoft Office PowerPoint</Application>
  <PresentationFormat>Widescreen</PresentationFormat>
  <Paragraphs>573</Paragraphs>
  <Slides>47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3" baseType="lpstr">
      <vt:lpstr>Arial</vt:lpstr>
      <vt:lpstr>Calibri</vt:lpstr>
      <vt:lpstr>Cambria Math</vt:lpstr>
      <vt:lpstr>Google Sans Text</vt:lpstr>
      <vt:lpstr>Wingdings</vt:lpstr>
      <vt:lpstr>Retrospect</vt:lpstr>
      <vt:lpstr>Unit 8  Shared Memory Transactions</vt:lpstr>
      <vt:lpstr>Learning Objectives</vt:lpstr>
      <vt:lpstr>Outline</vt:lpstr>
      <vt:lpstr>Addressable Memory</vt:lpstr>
      <vt:lpstr>Typical RAM Architecture</vt:lpstr>
      <vt:lpstr>Dedicated vs Shared Memory</vt:lpstr>
      <vt:lpstr>Why Share Memory?</vt:lpstr>
      <vt:lpstr>How to Build Shared Memory</vt:lpstr>
      <vt:lpstr>Single and Multi-Port Memories</vt:lpstr>
      <vt:lpstr>Problems with Multi-Port RAMs</vt:lpstr>
      <vt:lpstr>Interconnect</vt:lpstr>
      <vt:lpstr>Transactions, Master and Slaves</vt:lpstr>
      <vt:lpstr>Bus Topology</vt:lpstr>
      <vt:lpstr>Crossbar Topology</vt:lpstr>
      <vt:lpstr>Other Topologies</vt:lpstr>
      <vt:lpstr>Outline</vt:lpstr>
      <vt:lpstr>Stream vs. Shared Memory Transactions</vt:lpstr>
      <vt:lpstr>Stream Transfer (Unit 5)</vt:lpstr>
      <vt:lpstr>Shared Memory Transaction</vt:lpstr>
      <vt:lpstr>Shared Mem Transaction:  Command Phase</vt:lpstr>
      <vt:lpstr>Shared Mem Transaction:  Compute Phase</vt:lpstr>
      <vt:lpstr>Shared Mem Transaction:  Response Phase</vt:lpstr>
      <vt:lpstr>Streaming vs. Shared Memory</vt:lpstr>
      <vt:lpstr>Streaming Example:  Simple Video Processing</vt:lpstr>
      <vt:lpstr>Shared Memory Ex:  Mobile SoC</vt:lpstr>
      <vt:lpstr>Shared Memory Ex:  Nvidia DGX H100</vt:lpstr>
      <vt:lpstr>Outline</vt:lpstr>
      <vt:lpstr>AXI Family of Protocols</vt:lpstr>
      <vt:lpstr>AXI4 Memory Mapped Features</vt:lpstr>
      <vt:lpstr>AXI4-MM Architecture</vt:lpstr>
      <vt:lpstr>Cost of Crossbars</vt:lpstr>
      <vt:lpstr>Review:  AXI4-Lite Write Protocol</vt:lpstr>
      <vt:lpstr>AXI4-Full Burst Signals </vt:lpstr>
      <vt:lpstr>AXI4 Write Example</vt:lpstr>
      <vt:lpstr>AXI4 Indexing</vt:lpstr>
      <vt:lpstr>Outline</vt:lpstr>
      <vt:lpstr>Two Memory Interfaces in Vitis</vt:lpstr>
      <vt:lpstr>BRAM</vt:lpstr>
      <vt:lpstr>BRAM TB</vt:lpstr>
      <vt:lpstr>AXI4 Histogram Example</vt:lpstr>
      <vt:lpstr>Histogram Command Input</vt:lpstr>
      <vt:lpstr>Histogram Interface</vt:lpstr>
      <vt:lpstr>Histogram Read Phase</vt:lpstr>
      <vt:lpstr>Core Histogram Loop</vt:lpstr>
      <vt:lpstr>Testbench Memory Allocation</vt:lpstr>
      <vt:lpstr>Testbench Command</vt:lpstr>
      <vt:lpstr>Timing:  Read Phases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Sundeep Rangan</dc:creator>
  <cp:lastModifiedBy>Sundeep Rangan</cp:lastModifiedBy>
  <cp:revision>608</cp:revision>
  <cp:lastPrinted>2018-09-04T19:00:14Z</cp:lastPrinted>
  <dcterms:created xsi:type="dcterms:W3CDTF">2015-03-22T11:15:32Z</dcterms:created>
  <dcterms:modified xsi:type="dcterms:W3CDTF">2026-04-14T17:57:11Z</dcterms:modified>
</cp:coreProperties>
</file>